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64538fb7-0a3f-d64c-79eb-aaaad36e3f3c}">
          <p14:sldIdLst>
            <p14:sldId id="256"/>
            <p14:sldId id="257"/>
            <p14:sldId id="258"/>
          </p14:sldIdLst>
        </p14:section>
        <p14:section name="01 Tổng quan" id="{6d0893c6-5e3d-7caa-ebcf-ae776fa63da8}">
          <p14:sldIdLst>
            <p14:sldId id="259"/>
            <p14:sldId id="260"/>
            <p14:sldId id="261"/>
            <p14:sldId id="262"/>
            <p14:sldId id="263"/>
          </p14:sldIdLst>
        </p14:section>
        <p14:section name="02 Điện nước công trình" id="{8238293b-adcd-cbb5-2aef-12842f56cf9d}">
          <p14:sldIdLst>
            <p14:sldId id="264"/>
            <p14:sldId id="265"/>
            <p14:sldId id="266"/>
          </p14:sldIdLst>
        </p14:section>
        <p14:section name="03 Hút sương dầu nhà xưởng" id="{86fe865f-9474-5215-4dea-5d0400c6a036}">
          <p14:sldIdLst>
            <p14:sldId id="267"/>
            <p14:sldId id="268"/>
            <p14:sldId id="269"/>
          </p14:sldIdLst>
        </p14:section>
        <p14:section name="04 Bơm &amp; xử lý nước" id="{323fd865-b6ae-7e2c-fce1-1ae88a165718}">
          <p14:sldIdLst>
            <p14:sldId id="270"/>
          </p14:sldIdLst>
        </p14:section>
        <p14:section name="05 Quản trị dự án" id="{db4b06bd-85af-9d18-cc3e-1e08a7a7e7fc}">
          <p14:sldIdLst>
            <p14:sldId id="271"/>
            <p14:sldId id="272"/>
            <p14:sldId id="273"/>
          </p14:sldIdLst>
        </p14:section>
        <p14:section name="06 Nguồn lực" id="{198ffc21-b3f2-0fae-8468-83561346dc7d}">
          <p14:sldIdLst>
            <p14:sldId id="274"/>
            <p14:sldId id="275"/>
          </p14:sldIdLst>
        </p14:section>
        <p14:section name="07 Công trình tiêu biểu" id="{e491d38a-24a9-98cb-a3ac-a460ff363f23}">
          <p14:sldIdLst>
            <p14:sldId id="276"/>
            <p14:sldId id="277"/>
            <p14:sldId id="278"/>
            <p14:sldId id="279"/>
          </p14:sldIdLst>
        </p14:section>
        <p14:section name="08 Cam kết &amp; liên hệ" id="{2c6b1f7b-787e-f47d-9cb2-c234e401173f}">
          <p14:sldIdLst>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502920" y="10232136"/>
            <a:ext cx="5486400" cy="228600"/>
          </a:xfrm>
          <a:prstGeom prst="rect">
            <a:avLst/>
          </a:prstGeom>
          <a:noFill/>
          <a:ln/>
        </p:spPr>
        <p:txBody>
          <a:bodyPr wrap="square" lIns="0" tIns="0" rIns="0" bIns="0" rtlCol="0" anchor="ctr"/>
          <a:lstStyle/>
          <a:p>
            <a:pPr indent="0" marL="0">
              <a:buNone/>
            </a:pPr>
            <a:r>
              <a:rPr lang="en-US" sz="750" spc="100" kern="0" dirty="0">
                <a:solidFill>
                  <a:schemeClr val="accent3"/>
                </a:solidFill>
              </a:rPr>
              <a:t>CÔNG TY TNHH KỸ THUẬT CÔNG TRÌNH BLT  |  0984 586 089</a:t>
            </a:r>
            <a:endParaRPr lang="en-US" sz="750" dirty="0"/>
          </a:p>
        </p:txBody>
      </p:sp>
      <p:pic>
        <p:nvPicPr>
          <p:cNvPr id="3" name="Image 0" descr="preencoded.png">    </p:cNvPr>
          <p:cNvPicPr>
            <a:picLocks noChangeAspect="1"/>
          </p:cNvPicPr>
          <p:nvPr/>
        </p:nvPicPr>
        <p:blipFill>
          <a:blip r:embed="rId1"/>
          <a:stretch>
            <a:fillRect/>
          </a:stretch>
        </p:blipFill>
        <p:spPr>
          <a:xfrm>
            <a:off x="6556248" y="365760"/>
            <a:ext cx="502920" cy="502920"/>
          </a:xfrm>
          <a:prstGeom prst="rect">
            <a:avLst/>
          </a:prstGeom>
        </p:spPr>
      </p:pic>
      <p:sp>
        <p:nvSpPr>
          <p:cNvPr id="4" name="Text 1"/>
          <p:cNvSpPr/>
          <p:nvPr>
            <p:ph idx="102" type="body" hasCustomPrompt="1"/>
          </p:nvPr>
        </p:nvSpPr>
        <p:spPr>
          <a:xfrm>
            <a:off x="502920" y="384048"/>
            <a:ext cx="5120640" cy="228600"/>
          </a:xfrm>
          <a:prstGeom prst="rect">
            <a:avLst/>
          </a:prstGeom>
          <a:noFill/>
          <a:ln/>
        </p:spPr>
        <p:txBody>
          <a:bodyPr wrap="square" rtlCol="0"/>
          <a:lstStyle>
            <a:lvl1pPr algn="l" indent="0" marL="0">
              <a:buNone/>
              <a:defRPr lang="en-US" sz="900" b="1" spc="200" kern="0" dirty="0">
                <a:solidFill>
                  <a:schemeClr val="accent1"/>
                </a:solidFill>
              </a:defRPr>
            </a:lvl1pPr>
          </a:lstStyle>
          <a:p>
            <a:pPr algn="l" indent="0" marL="0">
              <a:buNone/>
            </a:pPr>
            <a:endParaRPr lang="en-US" sz="900" dirty="0"/>
          </a:p>
        </p:txBody>
      </p:sp>
      <p:sp>
        <p:nvSpPr>
          <p:cNvPr id="5" name="Text 1"/>
          <p:cNvSpPr/>
          <p:nvPr>
            <p:ph idx="103" type="title" hasCustomPrompt="1"/>
          </p:nvPr>
        </p:nvSpPr>
        <p:spPr>
          <a:xfrm>
            <a:off x="502920" y="621792"/>
            <a:ext cx="5852160" cy="502920"/>
          </a:xfrm>
          <a:prstGeom prst="rect">
            <a:avLst/>
          </a:prstGeom>
          <a:noFill/>
          <a:ln/>
        </p:spPr>
        <p:txBody>
          <a:bodyPr wrap="square" rtlCol="0"/>
          <a:lstStyle>
            <a:lvl1pPr algn="l" indent="0" marL="0">
              <a:buNone/>
              <a:defRPr lang="en-US" sz="2200" b="1" dirty="0">
                <a:solidFill>
                  <a:schemeClr val="tx2"/>
                </a:solidFill>
              </a:defRPr>
            </a:lvl1pPr>
          </a:lstStyle>
          <a:p>
            <a:pPr algn="l" indent="0" marL="0">
              <a:buNone/>
            </a:pPr>
            <a:endParaRPr lang="en-US" sz="22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502920" y="10232136"/>
            <a:ext cx="5486400" cy="228600"/>
          </a:xfrm>
          <a:prstGeom prst="rect">
            <a:avLst/>
          </a:prstGeom>
          <a:noFill/>
          <a:ln/>
        </p:spPr>
        <p:txBody>
          <a:bodyPr wrap="square" lIns="0" tIns="0" rIns="0" bIns="0" rtlCol="0" anchor="ctr"/>
          <a:lstStyle/>
          <a:p>
            <a:pPr indent="0" marL="0">
              <a:buNone/>
            </a:pPr>
            <a:r>
              <a:rPr lang="en-US" sz="750" spc="100" kern="0" dirty="0">
                <a:solidFill>
                  <a:schemeClr val="accent4"/>
                </a:solidFill>
              </a:rPr>
              <a:t>CÔNG TY TNHH KỸ THUẬT CÔNG TRÌNH BLT  |  0984 586 089</a:t>
            </a:r>
            <a:endParaRPr lang="en-US" sz="7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bg1"/>
                </a:solidFill>
              </a:defRPr>
            </a:lvl1pPr>
          </a:lstStyle>
          <a:p>
            <a:pPr algn="r"/>
            <a:fld id="{F7021451-1387-4CA6-816F-3879F97B5CBC}" type="slidenum">
              <a:rPr b="1"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4.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image" Target="../media/image-8-4.jpeg"/><Relationship Id="rId5" Type="http://schemas.openxmlformats.org/officeDocument/2006/relationships/slideLayout" Target="../slideLayouts/slideLayout2.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jpeg"/><Relationship Id="rId3" Type="http://schemas.openxmlformats.org/officeDocument/2006/relationships/image" Target="../media/image-10-3.jpe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image" Target="../media/image-13-4.jpeg"/><Relationship Id="rId5" Type="http://schemas.openxmlformats.org/officeDocument/2006/relationships/slideLayout" Target="../slideLayouts/slideLayout2.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image" Target="../media/image-14-4.jpeg"/><Relationship Id="rId5" Type="http://schemas.openxmlformats.org/officeDocument/2006/relationships/slideLayout" Target="../slideLayouts/slideLayout2.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jpe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eg"/><Relationship Id="rId2" Type="http://schemas.openxmlformats.org/officeDocument/2006/relationships/image" Target="../media/image-18-2.jpe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e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eg"/><Relationship Id="rId2" Type="http://schemas.openxmlformats.org/officeDocument/2006/relationships/image" Target="../media/image-21-2.jpeg"/><Relationship Id="rId3" Type="http://schemas.openxmlformats.org/officeDocument/2006/relationships/image" Target="../media/image-21-3.jpeg"/><Relationship Id="rId4" Type="http://schemas.openxmlformats.org/officeDocument/2006/relationships/slideLayout" Target="../slideLayouts/slideLayout2.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eg"/><Relationship Id="rId2" Type="http://schemas.openxmlformats.org/officeDocument/2006/relationships/image" Target="../media/image-22-2.jpeg"/><Relationship Id="rId3" Type="http://schemas.openxmlformats.org/officeDocument/2006/relationships/image" Target="../media/image-22-3.jpeg"/><Relationship Id="rId4" Type="http://schemas.openxmlformats.org/officeDocument/2006/relationships/image" Target="../media/image-22-4.jpeg"/><Relationship Id="rId5" Type="http://schemas.openxmlformats.org/officeDocument/2006/relationships/slideLayout" Target="../slideLayouts/slideLayout2.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eg"/><Relationship Id="rId2" Type="http://schemas.openxmlformats.org/officeDocument/2006/relationships/image" Target="../media/image-23-2.jpeg"/><Relationship Id="rId3" Type="http://schemas.openxmlformats.org/officeDocument/2006/relationships/image" Target="../media/image-23-3.jpeg"/><Relationship Id="rId4" Type="http://schemas.openxmlformats.org/officeDocument/2006/relationships/slideLayout" Target="../slideLayouts/slideLayout2.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eg"/><Relationship Id="rId2" Type="http://schemas.openxmlformats.org/officeDocument/2006/relationships/image" Target="../media/image-26-2.png"/><Relationship Id="rId3" Type="http://schemas.openxmlformats.org/officeDocument/2006/relationships/slideLayout" Target="../slideLayouts/slideLayout3.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cover team team_hero.jpg" descr="Đội ngũ công nhân BLT">    </p:cNvPr>
          <p:cNvPicPr>
            <a:picLocks noChangeAspect="1"/>
          </p:cNvPicPr>
          <p:nvPr/>
        </p:nvPicPr>
        <p:blipFill>
          <a:blip r:embed="rId1"/>
          <a:stretch>
            <a:fillRect/>
          </a:stretch>
        </p:blipFill>
        <p:spPr>
          <a:xfrm>
            <a:off x="0" y="0"/>
            <a:ext cx="7562088" cy="5041392"/>
          </a:xfrm>
          <a:prstGeom prst="rect">
            <a:avLst/>
          </a:prstGeom>
        </p:spPr>
      </p:pic>
      <p:pic>
        <p:nvPicPr>
          <p:cNvPr id="3" name="cover team img56.jpg" descr="Đội ngũ công nhân BLT">    </p:cNvPr>
          <p:cNvPicPr>
            <a:picLocks noChangeAspect="1"/>
          </p:cNvPicPr>
          <p:nvPr/>
        </p:nvPicPr>
        <p:blipFill>
          <a:blip r:embed="rId2"/>
          <a:stretch>
            <a:fillRect/>
          </a:stretch>
        </p:blipFill>
        <p:spPr>
          <a:xfrm>
            <a:off x="0" y="5114544"/>
            <a:ext cx="2471928" cy="1469136"/>
          </a:xfrm>
          <a:prstGeom prst="rect">
            <a:avLst/>
          </a:prstGeom>
        </p:spPr>
      </p:pic>
      <p:pic>
        <p:nvPicPr>
          <p:cNvPr id="4" name="cover team img45.jpg" descr="Đội ngũ công nhân BLT">    </p:cNvPr>
          <p:cNvPicPr>
            <a:picLocks noChangeAspect="1"/>
          </p:cNvPicPr>
          <p:nvPr/>
        </p:nvPicPr>
        <p:blipFill>
          <a:blip r:embed="rId3"/>
          <a:stretch>
            <a:fillRect/>
          </a:stretch>
        </p:blipFill>
        <p:spPr>
          <a:xfrm>
            <a:off x="2545080" y="5114544"/>
            <a:ext cx="2471928" cy="1469136"/>
          </a:xfrm>
          <a:prstGeom prst="rect">
            <a:avLst/>
          </a:prstGeom>
        </p:spPr>
      </p:pic>
      <p:pic>
        <p:nvPicPr>
          <p:cNvPr id="5" name="cover team qt_team.jpg" descr="Đội ngũ công nhân BLT">    </p:cNvPr>
          <p:cNvPicPr>
            <a:picLocks noChangeAspect="1"/>
          </p:cNvPicPr>
          <p:nvPr/>
        </p:nvPicPr>
        <p:blipFill>
          <a:blip r:embed="rId4"/>
          <a:stretch>
            <a:fillRect/>
          </a:stretch>
        </p:blipFill>
        <p:spPr>
          <a:xfrm>
            <a:off x="5090160" y="5114544"/>
            <a:ext cx="2471928" cy="1469136"/>
          </a:xfrm>
          <a:prstGeom prst="rect">
            <a:avLst/>
          </a:prstGeom>
        </p:spPr>
      </p:pic>
      <p:pic>
        <p:nvPicPr>
          <p:cNvPr id="6" name="cover logo large" descr="preencoded.png">    </p:cNvPr>
          <p:cNvPicPr>
            <a:picLocks noChangeAspect="1"/>
          </p:cNvPicPr>
          <p:nvPr/>
        </p:nvPicPr>
        <p:blipFill>
          <a:blip r:embed="rId5"/>
          <a:stretch>
            <a:fillRect/>
          </a:stretch>
        </p:blipFill>
        <p:spPr>
          <a:xfrm>
            <a:off x="109728" y="109728"/>
            <a:ext cx="1645920" cy="1645920"/>
          </a:xfrm>
          <a:prstGeom prst="rect">
            <a:avLst/>
          </a:prstGeom>
        </p:spPr>
      </p:pic>
      <p:sp>
        <p:nvSpPr>
          <p:cNvPr id="7" name="Shape 0"/>
          <p:cNvSpPr/>
          <p:nvPr/>
        </p:nvSpPr>
        <p:spPr>
          <a:xfrm>
            <a:off x="0" y="6583680"/>
            <a:ext cx="7562088" cy="4105656"/>
          </a:xfrm>
          <a:prstGeom prst="rect">
            <a:avLst/>
          </a:prstGeom>
          <a:solidFill>
            <a:schemeClr val="tx2"/>
          </a:solidFill>
          <a:ln w="12700">
            <a:solidFill>
              <a:schemeClr val="tx2"/>
            </a:solidFill>
            <a:prstDash val="solid"/>
          </a:ln>
        </p:spPr>
      </p:sp>
      <p:pic>
        <p:nvPicPr>
          <p:cNvPr id="8" name="logo" descr="preencoded.png">    </p:cNvPr>
          <p:cNvPicPr>
            <a:picLocks noChangeAspect="1"/>
          </p:cNvPicPr>
          <p:nvPr/>
        </p:nvPicPr>
        <p:blipFill>
          <a:blip r:embed="rId6"/>
          <a:stretch>
            <a:fillRect/>
          </a:stretch>
        </p:blipFill>
        <p:spPr>
          <a:xfrm>
            <a:off x="6007608" y="7040880"/>
            <a:ext cx="1051560" cy="1051560"/>
          </a:xfrm>
          <a:prstGeom prst="rect">
            <a:avLst/>
          </a:prstGeom>
        </p:spPr>
      </p:pic>
      <p:sp>
        <p:nvSpPr>
          <p:cNvPr id="9" name="Shape 1"/>
          <p:cNvSpPr/>
          <p:nvPr/>
        </p:nvSpPr>
        <p:spPr>
          <a:xfrm>
            <a:off x="4544568" y="6355080"/>
            <a:ext cx="2514600" cy="457200"/>
          </a:xfrm>
          <a:prstGeom prst="roundRect">
            <a:avLst>
              <a:gd name="adj" fmla="val 16000"/>
            </a:avLst>
          </a:prstGeom>
          <a:solidFill>
            <a:schemeClr val="accent1"/>
          </a:solidFill>
          <a:ln w="12700">
            <a:solidFill>
              <a:schemeClr val="accent1"/>
            </a:solidFill>
            <a:prstDash val="solid"/>
          </a:ln>
        </p:spPr>
      </p:sp>
      <p:sp>
        <p:nvSpPr>
          <p:cNvPr id="10" name="Text 2"/>
          <p:cNvSpPr txBox="1"/>
          <p:nvPr/>
        </p:nvSpPr>
        <p:spPr>
          <a:xfrm>
            <a:off x="4544568" y="6355080"/>
            <a:ext cx="2514600" cy="457200"/>
          </a:xfrm>
          <a:prstGeom prst="rect">
            <a:avLst/>
          </a:prstGeom>
          <a:noFill/>
          <a:ln/>
        </p:spPr>
        <p:txBody>
          <a:bodyPr wrap="square" lIns="0" tIns="0" rIns="0" bIns="0" rtlCol="0" anchor="ctr"/>
          <a:lstStyle/>
          <a:p>
            <a:pPr algn="ctr" indent="0" marL="0">
              <a:buNone/>
            </a:pPr>
            <a:r>
              <a:rPr lang="en-US" sz="1400" b="1" spc="100" kern="0" dirty="0">
                <a:solidFill>
                  <a:schemeClr val="bg1"/>
                </a:solidFill>
                <a:latin typeface="Arial" pitchFamily="34" charset="0"/>
                <a:ea typeface="Arial" pitchFamily="34" charset="-122"/>
                <a:cs typeface="Arial" pitchFamily="34" charset="-120"/>
              </a:rPr>
              <a:t>ĐỘI NGŨ 100 NHÂN SỰ</a:t>
            </a:r>
            <a:endParaRPr lang="en-US" sz="1400" dirty="0"/>
          </a:p>
        </p:txBody>
      </p:sp>
      <p:sp>
        <p:nvSpPr>
          <p:cNvPr id="11" name="Text 3"/>
          <p:cNvSpPr txBox="1"/>
          <p:nvPr/>
        </p:nvSpPr>
        <p:spPr>
          <a:xfrm>
            <a:off x="502920" y="6903720"/>
            <a:ext cx="4937760" cy="274320"/>
          </a:xfrm>
          <a:prstGeom prst="rect">
            <a:avLst/>
          </a:prstGeom>
          <a:noFill/>
          <a:ln/>
        </p:spPr>
        <p:txBody>
          <a:bodyPr wrap="square" lIns="0" tIns="0" rIns="0" bIns="0" rtlCol="0" anchor="ctr"/>
          <a:lstStyle/>
          <a:p>
            <a:pPr indent="0" marL="0">
              <a:buNone/>
            </a:pPr>
            <a:r>
              <a:rPr lang="en-US" sz="1200" b="1" spc="300" kern="0" dirty="0">
                <a:solidFill>
                  <a:schemeClr val="accent6"/>
                </a:solidFill>
                <a:latin typeface="Arial" pitchFamily="34" charset="0"/>
                <a:ea typeface="Arial" pitchFamily="34" charset="-122"/>
                <a:cs typeface="Arial" pitchFamily="34" charset="-120"/>
              </a:rPr>
              <a:t>CÔNG TY TNHH</a:t>
            </a:r>
            <a:endParaRPr lang="en-US" sz="1200" dirty="0"/>
          </a:p>
        </p:txBody>
      </p:sp>
      <p:sp>
        <p:nvSpPr>
          <p:cNvPr id="12" name="Text 4"/>
          <p:cNvSpPr txBox="1"/>
          <p:nvPr/>
        </p:nvSpPr>
        <p:spPr>
          <a:xfrm>
            <a:off x="502920" y="7178040"/>
            <a:ext cx="4937760" cy="411480"/>
          </a:xfrm>
          <a:prstGeom prst="rect">
            <a:avLst/>
          </a:prstGeom>
          <a:noFill/>
          <a:ln/>
        </p:spPr>
        <p:txBody>
          <a:bodyPr wrap="square" lIns="0" tIns="0" rIns="0" bIns="0" rtlCol="0" anchor="ctr"/>
          <a:lstStyle/>
          <a:p>
            <a:pPr indent="0" marL="0">
              <a:buNone/>
            </a:pPr>
            <a:r>
              <a:rPr lang="en-US" sz="2200" b="1" dirty="0">
                <a:solidFill>
                  <a:schemeClr val="bg1"/>
                </a:solidFill>
                <a:latin typeface="Arial" pitchFamily="34" charset="0"/>
                <a:ea typeface="Arial" pitchFamily="34" charset="-122"/>
                <a:cs typeface="Arial" pitchFamily="34" charset="-120"/>
              </a:rPr>
              <a:t>KỸ THUẬT CÔNG TRÌNH BLT</a:t>
            </a:r>
            <a:endParaRPr lang="en-US" sz="2200" dirty="0"/>
          </a:p>
        </p:txBody>
      </p:sp>
      <p:sp>
        <p:nvSpPr>
          <p:cNvPr id="13" name="Text 5"/>
          <p:cNvSpPr txBox="1"/>
          <p:nvPr/>
        </p:nvSpPr>
        <p:spPr>
          <a:xfrm>
            <a:off x="502920" y="7680960"/>
            <a:ext cx="6556248" cy="868680"/>
          </a:xfrm>
          <a:prstGeom prst="rect">
            <a:avLst/>
          </a:prstGeom>
          <a:noFill/>
          <a:ln/>
        </p:spPr>
        <p:txBody>
          <a:bodyPr wrap="square" lIns="0" tIns="0" rIns="0" bIns="0" rtlCol="0" anchor="ctr"/>
          <a:lstStyle/>
          <a:p>
            <a:pPr indent="0" marL="0">
              <a:buNone/>
            </a:pPr>
            <a:r>
              <a:rPr lang="en-US" sz="4600" b="1" dirty="0">
                <a:solidFill>
                  <a:schemeClr val="bg1"/>
                </a:solidFill>
                <a:latin typeface="Arial" pitchFamily="34" charset="0"/>
                <a:ea typeface="Arial" pitchFamily="34" charset="-122"/>
                <a:cs typeface="Arial" pitchFamily="34" charset="-120"/>
              </a:rPr>
              <a:t>HỒ SƠ </a:t>
            </a:r>
            <a:pPr indent="0" marL="0">
              <a:buNone/>
            </a:pPr>
            <a:r>
              <a:rPr lang="en-US" sz="4600" b="1" dirty="0">
                <a:solidFill>
                  <a:schemeClr val="accent1"/>
                </a:solidFill>
                <a:latin typeface="Arial" pitchFamily="34" charset="0"/>
                <a:ea typeface="Arial" pitchFamily="34" charset="-122"/>
                <a:cs typeface="Arial" pitchFamily="34" charset="-120"/>
              </a:rPr>
              <a:t>NĂNG LỰC</a:t>
            </a:r>
            <a:endParaRPr lang="en-US" sz="4600" dirty="0"/>
          </a:p>
        </p:txBody>
      </p:sp>
      <p:sp>
        <p:nvSpPr>
          <p:cNvPr id="14" name="Text 6"/>
          <p:cNvSpPr txBox="1"/>
          <p:nvPr/>
        </p:nvSpPr>
        <p:spPr>
          <a:xfrm>
            <a:off x="502920" y="8641080"/>
            <a:ext cx="6556248" cy="457200"/>
          </a:xfrm>
          <a:prstGeom prst="rect">
            <a:avLst/>
          </a:prstGeom>
          <a:noFill/>
          <a:ln/>
        </p:spPr>
        <p:txBody>
          <a:bodyPr wrap="square" lIns="0" tIns="0" rIns="0" bIns="0" rtlCol="0" anchor="ctr"/>
          <a:lstStyle/>
          <a:p>
            <a:pPr indent="0" marL="0">
              <a:buNone/>
            </a:pPr>
            <a:r>
              <a:rPr lang="en-US" sz="1000" b="1" spc="100" kern="0" dirty="0">
                <a:solidFill>
                  <a:schemeClr val="accent4"/>
                </a:solidFill>
              </a:rPr>
              <a:t>HỆ THỐNG ĐIỆN  •  CẤP THOÁT NƯỚC  •  BƠM &amp; XỬ LÝ NƯỚC</a:t>
            </a:r>
            <a:endParaRPr lang="en-US" sz="1000" dirty="0"/>
          </a:p>
          <a:p>
            <a:pPr indent="0" marL="0">
              <a:buNone/>
            </a:pPr>
            <a:r>
              <a:rPr lang="en-US" sz="1000" b="1" spc="100" kern="0" dirty="0">
                <a:solidFill>
                  <a:schemeClr val="accent4"/>
                </a:solidFill>
              </a:rPr>
              <a:t>HÚT SƯƠNG DẦU – XỬ LÝ KHÍ NHÀ XƯỞNG</a:t>
            </a:r>
            <a:endParaRPr lang="en-US" sz="1000" dirty="0"/>
          </a:p>
        </p:txBody>
      </p:sp>
      <p:sp>
        <p:nvSpPr>
          <p:cNvPr id="15" name="Text 7"/>
          <p:cNvSpPr txBox="1"/>
          <p:nvPr/>
        </p:nvSpPr>
        <p:spPr>
          <a:xfrm>
            <a:off x="502920" y="9144000"/>
            <a:ext cx="6556248" cy="274320"/>
          </a:xfrm>
          <a:prstGeom prst="rect">
            <a:avLst/>
          </a:prstGeom>
          <a:noFill/>
          <a:ln/>
        </p:spPr>
        <p:txBody>
          <a:bodyPr wrap="square" lIns="0" tIns="0" rIns="0" bIns="0" rtlCol="0" anchor="ctr"/>
          <a:lstStyle/>
          <a:p>
            <a:pPr indent="0" marL="0">
              <a:buNone/>
            </a:pPr>
            <a:r>
              <a:rPr lang="en-US" sz="1100" i="1" dirty="0">
                <a:solidFill>
                  <a:schemeClr val="accent6"/>
                </a:solidFill>
              </a:rPr>
              <a:t>“Giải pháp điện nước – Uy tín &amp; Chất lượng”</a:t>
            </a:r>
            <a:endParaRPr lang="en-US" sz="1100" dirty="0"/>
          </a:p>
        </p:txBody>
      </p:sp>
      <p:sp>
        <p:nvSpPr>
          <p:cNvPr id="16" name="Text 8"/>
          <p:cNvSpPr txBox="1"/>
          <p:nvPr/>
        </p:nvSpPr>
        <p:spPr>
          <a:xfrm>
            <a:off x="502920" y="9921240"/>
            <a:ext cx="6556248" cy="274320"/>
          </a:xfrm>
          <a:prstGeom prst="rect">
            <a:avLst/>
          </a:prstGeom>
          <a:noFill/>
          <a:ln/>
        </p:spPr>
        <p:txBody>
          <a:bodyPr wrap="square" lIns="0" tIns="0" rIns="0" bIns="0" rtlCol="0" anchor="ctr"/>
          <a:lstStyle/>
          <a:p>
            <a:pPr indent="0" marL="0">
              <a:buNone/>
            </a:pPr>
            <a:r>
              <a:rPr lang="en-US" sz="900" dirty="0">
                <a:solidFill>
                  <a:schemeClr val="bg1"/>
                </a:solidFill>
              </a:rPr>
              <a:t>Mã số thuế: 2902269718   |   Hotline: 0984 586 089   |   CẬP NHẬT 2026</a:t>
            </a:r>
            <a:endParaRPr lang="en-US" sz="900" dirty="0"/>
          </a:p>
        </p:txBody>
      </p:sp>
      <p:sp>
        <p:nvSpPr>
          <p:cNvPr id="17" name="Text 9"/>
          <p:cNvSpPr txBox="1"/>
          <p:nvPr/>
        </p:nvSpPr>
        <p:spPr>
          <a:xfrm>
            <a:off x="502920" y="10149840"/>
            <a:ext cx="6556248" cy="274320"/>
          </a:xfrm>
          <a:prstGeom prst="rect">
            <a:avLst/>
          </a:prstGeom>
          <a:noFill/>
          <a:ln/>
        </p:spPr>
        <p:txBody>
          <a:bodyPr wrap="square" lIns="0" tIns="0" rIns="0" bIns="0" rtlCol="0" anchor="ctr"/>
          <a:lstStyle/>
          <a:p>
            <a:pPr indent="0" marL="0">
              <a:buNone/>
            </a:pPr>
            <a:r>
              <a:rPr lang="en-US" sz="850" dirty="0">
                <a:solidFill>
                  <a:schemeClr val="accent4"/>
                </a:solidFill>
              </a:rPr>
              <a:t>Số 2A đường Nguyễn Khánh Toàn, khối Trường Phúc, phường Trường Vinh, tỉnh Nghệ An, Việt Nam</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photo img36.jpg" descr="Ảnh hiện trường BLT">    </p:cNvPr>
          <p:cNvPicPr>
            <a:picLocks noChangeAspect="1"/>
          </p:cNvPicPr>
          <p:nvPr/>
        </p:nvPicPr>
        <p:blipFill>
          <a:blip r:embed="rId1"/>
          <a:stretch>
            <a:fillRect/>
          </a:stretch>
        </p:blipFill>
        <p:spPr>
          <a:xfrm>
            <a:off x="0" y="0"/>
            <a:ext cx="7562088" cy="5669280"/>
          </a:xfrm>
          <a:prstGeom prst="rect">
            <a:avLst/>
          </a:prstGeom>
        </p:spPr>
      </p:pic>
      <p:sp>
        <p:nvSpPr>
          <p:cNvPr id="3" name="Text 0"/>
          <p:cNvSpPr txBox="1"/>
          <p:nvPr/>
        </p:nvSpPr>
        <p:spPr>
          <a:xfrm>
            <a:off x="502920" y="594360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THÔNG ĐIỆP THƯƠNG HIỆU</a:t>
            </a:r>
            <a:endParaRPr lang="en-US" sz="900" dirty="0"/>
          </a:p>
        </p:txBody>
      </p:sp>
      <p:sp>
        <p:nvSpPr>
          <p:cNvPr id="4" name="Text 1"/>
          <p:cNvSpPr txBox="1"/>
          <p:nvPr/>
        </p:nvSpPr>
        <p:spPr>
          <a:xfrm>
            <a:off x="502920" y="6199632"/>
            <a:ext cx="6556248" cy="1097280"/>
          </a:xfrm>
          <a:prstGeom prst="rect">
            <a:avLst/>
          </a:prstGeom>
          <a:noFill/>
          <a:ln/>
        </p:spPr>
        <p:txBody>
          <a:bodyPr wrap="square" lIns="0" tIns="0" rIns="0" bIns="0" rtlCol="0" anchor="t"/>
          <a:lstStyle/>
          <a:p>
            <a:pPr indent="0" marL="0">
              <a:buNone/>
            </a:pPr>
            <a:r>
              <a:rPr lang="en-US" sz="2800" b="1" dirty="0">
                <a:solidFill>
                  <a:schemeClr val="bg1"/>
                </a:solidFill>
                <a:latin typeface="Arial" pitchFamily="34" charset="0"/>
                <a:ea typeface="Arial" pitchFamily="34" charset="-122"/>
                <a:cs typeface="Arial" pitchFamily="34" charset="-120"/>
              </a:rPr>
              <a:t>“Giải pháp điện nước –</a:t>
            </a:r>
            <a:endParaRPr lang="en-US" sz="2800" dirty="0"/>
          </a:p>
          <a:p>
            <a:pPr indent="0" marL="0">
              <a:buNone/>
            </a:pPr>
            <a:r>
              <a:rPr lang="en-US" sz="2800" b="1" dirty="0">
                <a:solidFill>
                  <a:schemeClr val="bg1"/>
                </a:solidFill>
                <a:latin typeface="Arial" pitchFamily="34" charset="0"/>
                <a:ea typeface="Arial" pitchFamily="34" charset="-122"/>
                <a:cs typeface="Arial" pitchFamily="34" charset="-120"/>
              </a:rPr>
              <a:t>Uy tín &amp; Chất lượng.”</a:t>
            </a:r>
            <a:endParaRPr lang="en-US" sz="2800" dirty="0"/>
          </a:p>
        </p:txBody>
      </p:sp>
      <p:sp>
        <p:nvSpPr>
          <p:cNvPr id="5" name="Text 2"/>
          <p:cNvSpPr txBox="1"/>
          <p:nvPr/>
        </p:nvSpPr>
        <p:spPr>
          <a:xfrm>
            <a:off x="502920" y="7360920"/>
            <a:ext cx="6556248" cy="685800"/>
          </a:xfrm>
          <a:prstGeom prst="rect">
            <a:avLst/>
          </a:prstGeom>
          <a:noFill/>
          <a:ln/>
        </p:spPr>
        <p:txBody>
          <a:bodyPr wrap="square" lIns="0" tIns="0" rIns="0" bIns="0" rtlCol="0" anchor="t"/>
          <a:lstStyle/>
          <a:p>
            <a:pPr algn="l" indent="0" marL="0">
              <a:lnSpc>
                <a:spcPct val="110000"/>
              </a:lnSpc>
              <a:spcAft>
                <a:spcPts val="600"/>
              </a:spcAft>
              <a:buNone/>
            </a:pPr>
            <a:r>
              <a:rPr lang="en-US" sz="1100" dirty="0">
                <a:solidFill>
                  <a:schemeClr val="accent4"/>
                </a:solidFill>
              </a:rPr>
              <a:t>BLT tập trung vào phần “mạch máu” của mỗi công trình: đường điện, đường nước và hệ thống đường ống công nghệ. Đây là những hạng mục nằm khuất sau trần, trong tường nhưng quyết định sự an toàn và vận hành ổn định lâu dài.</a:t>
            </a:r>
            <a:endParaRPr lang="en-US" sz="1100" dirty="0"/>
          </a:p>
        </p:txBody>
      </p:sp>
      <p:sp>
        <p:nvSpPr>
          <p:cNvPr id="6" name="Shape 3"/>
          <p:cNvSpPr/>
          <p:nvPr/>
        </p:nvSpPr>
        <p:spPr>
          <a:xfrm>
            <a:off x="502920" y="8183880"/>
            <a:ext cx="457200" cy="457200"/>
          </a:xfrm>
          <a:prstGeom prst="ellipse">
            <a:avLst/>
          </a:prstGeom>
          <a:solidFill>
            <a:schemeClr val="accent1"/>
          </a:solidFill>
          <a:ln w="12700">
            <a:solidFill>
              <a:schemeClr val="accent1"/>
            </a:solidFill>
            <a:prstDash val="solid"/>
          </a:ln>
        </p:spPr>
      </p:sp>
      <p:sp>
        <p:nvSpPr>
          <p:cNvPr id="7" name="Text 4"/>
          <p:cNvSpPr txBox="1"/>
          <p:nvPr/>
        </p:nvSpPr>
        <p:spPr>
          <a:xfrm>
            <a:off x="502920" y="81838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01</a:t>
            </a:r>
            <a:endParaRPr lang="en-US" sz="1300" dirty="0"/>
          </a:p>
        </p:txBody>
      </p:sp>
      <p:sp>
        <p:nvSpPr>
          <p:cNvPr id="8" name="Text 5"/>
          <p:cNvSpPr txBox="1"/>
          <p:nvPr/>
        </p:nvSpPr>
        <p:spPr>
          <a:xfrm>
            <a:off x="502920" y="8732520"/>
            <a:ext cx="2063496" cy="274320"/>
          </a:xfrm>
          <a:prstGeom prst="rect">
            <a:avLst/>
          </a:prstGeom>
          <a:noFill/>
          <a:ln/>
        </p:spPr>
        <p:txBody>
          <a:bodyPr wrap="square" lIns="0" tIns="0" rIns="0" bIns="0" rtlCol="0" anchor="ctr"/>
          <a:lstStyle/>
          <a:p>
            <a:pPr indent="0" marL="0">
              <a:buNone/>
            </a:pPr>
            <a:r>
              <a:rPr lang="en-US" sz="1200" b="1" dirty="0">
                <a:solidFill>
                  <a:schemeClr val="bg1"/>
                </a:solidFill>
                <a:latin typeface="Arial" pitchFamily="34" charset="0"/>
                <a:ea typeface="Arial" pitchFamily="34" charset="-122"/>
                <a:cs typeface="Arial" pitchFamily="34" charset="-120"/>
              </a:rPr>
              <a:t>UY TÍN</a:t>
            </a:r>
            <a:endParaRPr lang="en-US" sz="1200" dirty="0"/>
          </a:p>
        </p:txBody>
      </p:sp>
      <p:sp>
        <p:nvSpPr>
          <p:cNvPr id="9" name="Text 6"/>
          <p:cNvSpPr txBox="1"/>
          <p:nvPr/>
        </p:nvSpPr>
        <p:spPr>
          <a:xfrm>
            <a:off x="502920" y="9034272"/>
            <a:ext cx="2063496" cy="731520"/>
          </a:xfrm>
          <a:prstGeom prst="rect">
            <a:avLst/>
          </a:prstGeom>
          <a:noFill/>
          <a:ln/>
        </p:spPr>
        <p:txBody>
          <a:bodyPr wrap="square" lIns="0" tIns="0" rIns="0" bIns="0" rtlCol="0" anchor="t"/>
          <a:lstStyle/>
          <a:p>
            <a:pPr algn="l" indent="0" marL="0">
              <a:lnSpc>
                <a:spcPct val="110000"/>
              </a:lnSpc>
              <a:spcAft>
                <a:spcPts val="600"/>
              </a:spcAft>
              <a:buNone/>
            </a:pPr>
            <a:r>
              <a:rPr lang="en-US" sz="950" dirty="0">
                <a:solidFill>
                  <a:schemeClr val="accent4"/>
                </a:solidFill>
              </a:rPr>
              <a:t>Làm đúng phạm vi đã cam kết, minh bạch khối lượng và tiến độ.</a:t>
            </a:r>
            <a:endParaRPr lang="en-US" sz="950" dirty="0"/>
          </a:p>
        </p:txBody>
      </p:sp>
      <p:sp>
        <p:nvSpPr>
          <p:cNvPr id="10" name="Shape 7"/>
          <p:cNvSpPr/>
          <p:nvPr/>
        </p:nvSpPr>
        <p:spPr>
          <a:xfrm>
            <a:off x="2749296" y="8183880"/>
            <a:ext cx="457200" cy="457200"/>
          </a:xfrm>
          <a:prstGeom prst="ellipse">
            <a:avLst/>
          </a:prstGeom>
          <a:solidFill>
            <a:schemeClr val="accent1"/>
          </a:solidFill>
          <a:ln w="12700">
            <a:solidFill>
              <a:schemeClr val="accent1"/>
            </a:solidFill>
            <a:prstDash val="solid"/>
          </a:ln>
        </p:spPr>
      </p:sp>
      <p:sp>
        <p:nvSpPr>
          <p:cNvPr id="11" name="Text 8"/>
          <p:cNvSpPr txBox="1"/>
          <p:nvPr/>
        </p:nvSpPr>
        <p:spPr>
          <a:xfrm>
            <a:off x="2749296" y="81838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02</a:t>
            </a:r>
            <a:endParaRPr lang="en-US" sz="1300" dirty="0"/>
          </a:p>
        </p:txBody>
      </p:sp>
      <p:sp>
        <p:nvSpPr>
          <p:cNvPr id="12" name="Text 9"/>
          <p:cNvSpPr txBox="1"/>
          <p:nvPr/>
        </p:nvSpPr>
        <p:spPr>
          <a:xfrm>
            <a:off x="2749296" y="8732520"/>
            <a:ext cx="2063496" cy="274320"/>
          </a:xfrm>
          <a:prstGeom prst="rect">
            <a:avLst/>
          </a:prstGeom>
          <a:noFill/>
          <a:ln/>
        </p:spPr>
        <p:txBody>
          <a:bodyPr wrap="square" lIns="0" tIns="0" rIns="0" bIns="0" rtlCol="0" anchor="ctr"/>
          <a:lstStyle/>
          <a:p>
            <a:pPr indent="0" marL="0">
              <a:buNone/>
            </a:pPr>
            <a:r>
              <a:rPr lang="en-US" sz="1200" b="1" dirty="0">
                <a:solidFill>
                  <a:schemeClr val="bg1"/>
                </a:solidFill>
                <a:latin typeface="Arial" pitchFamily="34" charset="0"/>
                <a:ea typeface="Arial" pitchFamily="34" charset="-122"/>
                <a:cs typeface="Arial" pitchFamily="34" charset="-120"/>
              </a:rPr>
              <a:t>CHẤT LƯỢNG</a:t>
            </a:r>
            <a:endParaRPr lang="en-US" sz="1200" dirty="0"/>
          </a:p>
        </p:txBody>
      </p:sp>
      <p:sp>
        <p:nvSpPr>
          <p:cNvPr id="13" name="Text 10"/>
          <p:cNvSpPr txBox="1"/>
          <p:nvPr/>
        </p:nvSpPr>
        <p:spPr>
          <a:xfrm>
            <a:off x="2749296" y="9034272"/>
            <a:ext cx="2063496" cy="731520"/>
          </a:xfrm>
          <a:prstGeom prst="rect">
            <a:avLst/>
          </a:prstGeom>
          <a:noFill/>
          <a:ln/>
        </p:spPr>
        <p:txBody>
          <a:bodyPr wrap="square" lIns="0" tIns="0" rIns="0" bIns="0" rtlCol="0" anchor="t"/>
          <a:lstStyle/>
          <a:p>
            <a:pPr algn="l" indent="0" marL="0">
              <a:lnSpc>
                <a:spcPct val="110000"/>
              </a:lnSpc>
              <a:spcAft>
                <a:spcPts val="600"/>
              </a:spcAft>
              <a:buNone/>
            </a:pPr>
            <a:r>
              <a:rPr lang="en-US" sz="950" dirty="0">
                <a:solidFill>
                  <a:schemeClr val="accent4"/>
                </a:solidFill>
              </a:rPr>
              <a:t>Thi công đúng bản vẽ, kiểm tra – thử nghiệm trước khi nghiệm thu.</a:t>
            </a:r>
            <a:endParaRPr lang="en-US" sz="950" dirty="0"/>
          </a:p>
        </p:txBody>
      </p:sp>
      <p:sp>
        <p:nvSpPr>
          <p:cNvPr id="14" name="Shape 11"/>
          <p:cNvSpPr/>
          <p:nvPr/>
        </p:nvSpPr>
        <p:spPr>
          <a:xfrm>
            <a:off x="4995672" y="8183880"/>
            <a:ext cx="457200" cy="457200"/>
          </a:xfrm>
          <a:prstGeom prst="ellipse">
            <a:avLst/>
          </a:prstGeom>
          <a:solidFill>
            <a:schemeClr val="accent1"/>
          </a:solidFill>
          <a:ln w="12700">
            <a:solidFill>
              <a:schemeClr val="accent1"/>
            </a:solidFill>
            <a:prstDash val="solid"/>
          </a:ln>
        </p:spPr>
      </p:sp>
      <p:sp>
        <p:nvSpPr>
          <p:cNvPr id="15" name="Text 12"/>
          <p:cNvSpPr txBox="1"/>
          <p:nvPr/>
        </p:nvSpPr>
        <p:spPr>
          <a:xfrm>
            <a:off x="4995672" y="81838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03</a:t>
            </a:r>
            <a:endParaRPr lang="en-US" sz="1300" dirty="0"/>
          </a:p>
        </p:txBody>
      </p:sp>
      <p:sp>
        <p:nvSpPr>
          <p:cNvPr id="16" name="Text 13"/>
          <p:cNvSpPr txBox="1"/>
          <p:nvPr/>
        </p:nvSpPr>
        <p:spPr>
          <a:xfrm>
            <a:off x="4995672" y="8732520"/>
            <a:ext cx="2063496" cy="274320"/>
          </a:xfrm>
          <a:prstGeom prst="rect">
            <a:avLst/>
          </a:prstGeom>
          <a:noFill/>
          <a:ln/>
        </p:spPr>
        <p:txBody>
          <a:bodyPr wrap="square" lIns="0" tIns="0" rIns="0" bIns="0" rtlCol="0" anchor="ctr"/>
          <a:lstStyle/>
          <a:p>
            <a:pPr indent="0" marL="0">
              <a:buNone/>
            </a:pPr>
            <a:r>
              <a:rPr lang="en-US" sz="1200" b="1" dirty="0">
                <a:solidFill>
                  <a:schemeClr val="bg1"/>
                </a:solidFill>
                <a:latin typeface="Arial" pitchFamily="34" charset="0"/>
                <a:ea typeface="Arial" pitchFamily="34" charset="-122"/>
                <a:cs typeface="Arial" pitchFamily="34" charset="-120"/>
              </a:rPr>
              <a:t>AN TOÀN</a:t>
            </a:r>
            <a:endParaRPr lang="en-US" sz="1200" dirty="0"/>
          </a:p>
        </p:txBody>
      </p:sp>
      <p:sp>
        <p:nvSpPr>
          <p:cNvPr id="17" name="Text 14"/>
          <p:cNvSpPr txBox="1"/>
          <p:nvPr/>
        </p:nvSpPr>
        <p:spPr>
          <a:xfrm>
            <a:off x="4995672" y="9034272"/>
            <a:ext cx="2063496" cy="731520"/>
          </a:xfrm>
          <a:prstGeom prst="rect">
            <a:avLst/>
          </a:prstGeom>
          <a:noFill/>
          <a:ln/>
        </p:spPr>
        <p:txBody>
          <a:bodyPr wrap="square" lIns="0" tIns="0" rIns="0" bIns="0" rtlCol="0" anchor="t"/>
          <a:lstStyle/>
          <a:p>
            <a:pPr algn="l" indent="0" marL="0">
              <a:lnSpc>
                <a:spcPct val="110000"/>
              </a:lnSpc>
              <a:spcAft>
                <a:spcPts val="600"/>
              </a:spcAft>
              <a:buNone/>
            </a:pPr>
            <a:r>
              <a:rPr lang="en-US" sz="950" dirty="0">
                <a:solidFill>
                  <a:schemeClr val="accent4"/>
                </a:solidFill>
              </a:rPr>
              <a:t>Bảo hộ đầy đủ, thiết bị làm việc trên cao, kiểm soát hiện trường.</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bg1"/>
                </a:solidFill>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HỒ SƠ NĂNG LỰC</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Mục lục</a:t>
            </a:r>
            <a:endParaRPr lang="en-US" sz="2200" dirty="0"/>
          </a:p>
        </p:txBody>
      </p:sp>
      <p:pic>
        <p:nvPicPr>
          <p:cNvPr id="4" name="photo img33_top.jpg" descr="Ảnh hiện trường BLT">    </p:cNvPr>
          <p:cNvPicPr>
            <a:picLocks noChangeAspect="1"/>
          </p:cNvPicPr>
          <p:nvPr/>
        </p:nvPicPr>
        <p:blipFill>
          <a:blip r:embed="rId1"/>
          <a:stretch>
            <a:fillRect/>
          </a:stretch>
        </p:blipFill>
        <p:spPr>
          <a:xfrm>
            <a:off x="502920" y="1417320"/>
            <a:ext cx="6556248" cy="2377440"/>
          </a:xfrm>
          <a:prstGeom prst="rect">
            <a:avLst/>
          </a:prstGeom>
        </p:spPr>
      </p:pic>
      <p:sp>
        <p:nvSpPr>
          <p:cNvPr id="5" name="Shape 2"/>
          <p:cNvSpPr/>
          <p:nvPr/>
        </p:nvSpPr>
        <p:spPr>
          <a:xfrm>
            <a:off x="502920" y="4160520"/>
            <a:ext cx="438912" cy="438912"/>
          </a:xfrm>
          <a:prstGeom prst="ellipse">
            <a:avLst/>
          </a:prstGeom>
          <a:solidFill>
            <a:schemeClr val="tx2"/>
          </a:solidFill>
          <a:ln w="12700">
            <a:solidFill>
              <a:schemeClr val="tx2"/>
            </a:solidFill>
            <a:prstDash val="solid"/>
          </a:ln>
        </p:spPr>
      </p:sp>
      <p:sp>
        <p:nvSpPr>
          <p:cNvPr id="6" name="Text 3"/>
          <p:cNvSpPr txBox="1"/>
          <p:nvPr/>
        </p:nvSpPr>
        <p:spPr>
          <a:xfrm>
            <a:off x="502920" y="416052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01</a:t>
            </a:r>
            <a:endParaRPr lang="en-US" sz="1300" dirty="0"/>
          </a:p>
        </p:txBody>
      </p:sp>
      <p:sp>
        <p:nvSpPr>
          <p:cNvPr id="7" name="Text 4"/>
          <p:cNvSpPr txBox="1"/>
          <p:nvPr/>
        </p:nvSpPr>
        <p:spPr>
          <a:xfrm>
            <a:off x="1143000" y="4114800"/>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TỔNG QUAN DOANH NGHIỆP</a:t>
            </a:r>
            <a:endParaRPr lang="en-US" sz="1200" dirty="0"/>
          </a:p>
        </p:txBody>
      </p:sp>
      <p:sp>
        <p:nvSpPr>
          <p:cNvPr id="8" name="Text 5"/>
          <p:cNvSpPr txBox="1"/>
          <p:nvPr/>
        </p:nvSpPr>
        <p:spPr>
          <a:xfrm>
            <a:off x="1143000" y="4398264"/>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Thư ngỏ • Giới thiệu • Pháp lý • Tầm nhìn – sứ mệnh • Lĩnh vực</a:t>
            </a:r>
            <a:endParaRPr lang="en-US" sz="900" dirty="0"/>
          </a:p>
        </p:txBody>
      </p:sp>
      <p:sp>
        <p:nvSpPr>
          <p:cNvPr id="9" name="Text 6"/>
          <p:cNvSpPr txBox="1"/>
          <p:nvPr/>
        </p:nvSpPr>
        <p:spPr>
          <a:xfrm>
            <a:off x="5961888" y="4160520"/>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04 – 08</a:t>
            </a:r>
            <a:endParaRPr lang="en-US" sz="1200" dirty="0"/>
          </a:p>
        </p:txBody>
      </p:sp>
      <p:sp>
        <p:nvSpPr>
          <p:cNvPr id="10" name="Shape 7"/>
          <p:cNvSpPr/>
          <p:nvPr/>
        </p:nvSpPr>
        <p:spPr>
          <a:xfrm>
            <a:off x="1143000" y="4727448"/>
            <a:ext cx="5916168" cy="0"/>
          </a:xfrm>
          <a:prstGeom prst="line">
            <a:avLst/>
          </a:prstGeom>
          <a:noFill/>
          <a:ln w="9525">
            <a:solidFill>
              <a:schemeClr val="accent4"/>
            </a:solidFill>
            <a:prstDash val="solid"/>
          </a:ln>
        </p:spPr>
      </p:sp>
      <p:sp>
        <p:nvSpPr>
          <p:cNvPr id="11" name="Shape 8"/>
          <p:cNvSpPr/>
          <p:nvPr/>
        </p:nvSpPr>
        <p:spPr>
          <a:xfrm>
            <a:off x="502920" y="4873752"/>
            <a:ext cx="438912" cy="438912"/>
          </a:xfrm>
          <a:prstGeom prst="ellipse">
            <a:avLst/>
          </a:prstGeom>
          <a:solidFill>
            <a:schemeClr val="tx2"/>
          </a:solidFill>
          <a:ln w="12700">
            <a:solidFill>
              <a:schemeClr val="tx2"/>
            </a:solidFill>
            <a:prstDash val="solid"/>
          </a:ln>
        </p:spPr>
      </p:sp>
      <p:sp>
        <p:nvSpPr>
          <p:cNvPr id="12" name="Text 9"/>
          <p:cNvSpPr txBox="1"/>
          <p:nvPr/>
        </p:nvSpPr>
        <p:spPr>
          <a:xfrm>
            <a:off x="502920" y="487375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02</a:t>
            </a:r>
            <a:endParaRPr lang="en-US" sz="1300" dirty="0"/>
          </a:p>
        </p:txBody>
      </p:sp>
      <p:sp>
        <p:nvSpPr>
          <p:cNvPr id="13" name="Text 10"/>
          <p:cNvSpPr txBox="1"/>
          <p:nvPr/>
        </p:nvSpPr>
        <p:spPr>
          <a:xfrm>
            <a:off x="1143000" y="4828032"/>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HỆ THỐNG ĐIỆN NƯỚC CÔNG TRÌNH</a:t>
            </a:r>
            <a:endParaRPr lang="en-US" sz="1200" dirty="0"/>
          </a:p>
        </p:txBody>
      </p:sp>
      <p:sp>
        <p:nvSpPr>
          <p:cNvPr id="14" name="Text 11"/>
          <p:cNvSpPr txBox="1"/>
          <p:nvPr/>
        </p:nvSpPr>
        <p:spPr>
          <a:xfrm>
            <a:off x="1143000" y="5111496"/>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Hệ thống điện • Cấp thoát nước</a:t>
            </a:r>
            <a:endParaRPr lang="en-US" sz="900" dirty="0"/>
          </a:p>
        </p:txBody>
      </p:sp>
      <p:sp>
        <p:nvSpPr>
          <p:cNvPr id="15" name="Text 12"/>
          <p:cNvSpPr txBox="1"/>
          <p:nvPr/>
        </p:nvSpPr>
        <p:spPr>
          <a:xfrm>
            <a:off x="5961888" y="4873752"/>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09 – 11</a:t>
            </a:r>
            <a:endParaRPr lang="en-US" sz="1200" dirty="0"/>
          </a:p>
        </p:txBody>
      </p:sp>
      <p:sp>
        <p:nvSpPr>
          <p:cNvPr id="16" name="Shape 13"/>
          <p:cNvSpPr/>
          <p:nvPr/>
        </p:nvSpPr>
        <p:spPr>
          <a:xfrm>
            <a:off x="1143000" y="5440680"/>
            <a:ext cx="5916168" cy="0"/>
          </a:xfrm>
          <a:prstGeom prst="line">
            <a:avLst/>
          </a:prstGeom>
          <a:noFill/>
          <a:ln w="9525">
            <a:solidFill>
              <a:schemeClr val="accent4"/>
            </a:solidFill>
            <a:prstDash val="solid"/>
          </a:ln>
        </p:spPr>
      </p:sp>
      <p:sp>
        <p:nvSpPr>
          <p:cNvPr id="17" name="Shape 14"/>
          <p:cNvSpPr/>
          <p:nvPr/>
        </p:nvSpPr>
        <p:spPr>
          <a:xfrm>
            <a:off x="502920" y="5586984"/>
            <a:ext cx="438912" cy="438912"/>
          </a:xfrm>
          <a:prstGeom prst="ellipse">
            <a:avLst/>
          </a:prstGeom>
          <a:solidFill>
            <a:schemeClr val="tx2"/>
          </a:solidFill>
          <a:ln w="12700">
            <a:solidFill>
              <a:schemeClr val="tx2"/>
            </a:solidFill>
            <a:prstDash val="solid"/>
          </a:ln>
        </p:spPr>
      </p:sp>
      <p:sp>
        <p:nvSpPr>
          <p:cNvPr id="18" name="Text 15"/>
          <p:cNvSpPr txBox="1"/>
          <p:nvPr/>
        </p:nvSpPr>
        <p:spPr>
          <a:xfrm>
            <a:off x="502920" y="5586984"/>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03</a:t>
            </a:r>
            <a:endParaRPr lang="en-US" sz="1300" dirty="0"/>
          </a:p>
        </p:txBody>
      </p:sp>
      <p:sp>
        <p:nvSpPr>
          <p:cNvPr id="19" name="Text 16"/>
          <p:cNvSpPr txBox="1"/>
          <p:nvPr/>
        </p:nvSpPr>
        <p:spPr>
          <a:xfrm>
            <a:off x="1143000" y="5541264"/>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HÚT SƯƠNG DẦU – XỬ LÝ KHÍ NHÀ XƯỞNG</a:t>
            </a:r>
            <a:endParaRPr lang="en-US" sz="1200" dirty="0"/>
          </a:p>
        </p:txBody>
      </p:sp>
      <p:sp>
        <p:nvSpPr>
          <p:cNvPr id="20" name="Text 17"/>
          <p:cNvSpPr txBox="1"/>
          <p:nvPr/>
        </p:nvSpPr>
        <p:spPr>
          <a:xfrm>
            <a:off x="1143000" y="5824728"/>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Tuyến ống hút cho máy CNC • Lắp đặt máy lọc &amp; giá đỡ</a:t>
            </a:r>
            <a:endParaRPr lang="en-US" sz="900" dirty="0"/>
          </a:p>
        </p:txBody>
      </p:sp>
      <p:sp>
        <p:nvSpPr>
          <p:cNvPr id="21" name="Text 18"/>
          <p:cNvSpPr txBox="1"/>
          <p:nvPr/>
        </p:nvSpPr>
        <p:spPr>
          <a:xfrm>
            <a:off x="5961888" y="5586984"/>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12 – 14</a:t>
            </a:r>
            <a:endParaRPr lang="en-US" sz="1200" dirty="0"/>
          </a:p>
        </p:txBody>
      </p:sp>
      <p:sp>
        <p:nvSpPr>
          <p:cNvPr id="22" name="Shape 19"/>
          <p:cNvSpPr/>
          <p:nvPr/>
        </p:nvSpPr>
        <p:spPr>
          <a:xfrm>
            <a:off x="1143000" y="6153912"/>
            <a:ext cx="5916168" cy="0"/>
          </a:xfrm>
          <a:prstGeom prst="line">
            <a:avLst/>
          </a:prstGeom>
          <a:noFill/>
          <a:ln w="9525">
            <a:solidFill>
              <a:schemeClr val="accent4"/>
            </a:solidFill>
            <a:prstDash val="solid"/>
          </a:ln>
        </p:spPr>
      </p:sp>
      <p:sp>
        <p:nvSpPr>
          <p:cNvPr id="23" name="Shape 20"/>
          <p:cNvSpPr/>
          <p:nvPr/>
        </p:nvSpPr>
        <p:spPr>
          <a:xfrm>
            <a:off x="502920" y="6300216"/>
            <a:ext cx="438912" cy="438912"/>
          </a:xfrm>
          <a:prstGeom prst="ellipse">
            <a:avLst/>
          </a:prstGeom>
          <a:solidFill>
            <a:schemeClr val="tx2"/>
          </a:solidFill>
          <a:ln w="12700">
            <a:solidFill>
              <a:schemeClr val="tx2"/>
            </a:solidFill>
            <a:prstDash val="solid"/>
          </a:ln>
        </p:spPr>
      </p:sp>
      <p:sp>
        <p:nvSpPr>
          <p:cNvPr id="24" name="Text 21"/>
          <p:cNvSpPr txBox="1"/>
          <p:nvPr/>
        </p:nvSpPr>
        <p:spPr>
          <a:xfrm>
            <a:off x="502920" y="6300216"/>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04</a:t>
            </a:r>
            <a:endParaRPr lang="en-US" sz="1300" dirty="0"/>
          </a:p>
        </p:txBody>
      </p:sp>
      <p:sp>
        <p:nvSpPr>
          <p:cNvPr id="25" name="Text 22"/>
          <p:cNvSpPr txBox="1"/>
          <p:nvPr/>
        </p:nvSpPr>
        <p:spPr>
          <a:xfrm>
            <a:off x="1143000" y="6254496"/>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HỆ THỐNG BƠM &amp; XỬ LÝ NƯỚC</a:t>
            </a:r>
            <a:endParaRPr lang="en-US" sz="1200" dirty="0"/>
          </a:p>
        </p:txBody>
      </p:sp>
      <p:sp>
        <p:nvSpPr>
          <p:cNvPr id="26" name="Text 23"/>
          <p:cNvSpPr txBox="1"/>
          <p:nvPr/>
        </p:nvSpPr>
        <p:spPr>
          <a:xfrm>
            <a:off x="1143000" y="6537960"/>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Lắp đặt bơm, cột lọc, đường ống công nghệ</a:t>
            </a:r>
            <a:endParaRPr lang="en-US" sz="900" dirty="0"/>
          </a:p>
        </p:txBody>
      </p:sp>
      <p:sp>
        <p:nvSpPr>
          <p:cNvPr id="27" name="Text 24"/>
          <p:cNvSpPr txBox="1"/>
          <p:nvPr/>
        </p:nvSpPr>
        <p:spPr>
          <a:xfrm>
            <a:off x="5961888" y="6300216"/>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15</a:t>
            </a:r>
            <a:endParaRPr lang="en-US" sz="1200" dirty="0"/>
          </a:p>
        </p:txBody>
      </p:sp>
      <p:sp>
        <p:nvSpPr>
          <p:cNvPr id="28" name="Shape 25"/>
          <p:cNvSpPr/>
          <p:nvPr/>
        </p:nvSpPr>
        <p:spPr>
          <a:xfrm>
            <a:off x="1143000" y="6867144"/>
            <a:ext cx="5916168" cy="0"/>
          </a:xfrm>
          <a:prstGeom prst="line">
            <a:avLst/>
          </a:prstGeom>
          <a:noFill/>
          <a:ln w="9525">
            <a:solidFill>
              <a:schemeClr val="accent4"/>
            </a:solidFill>
            <a:prstDash val="solid"/>
          </a:ln>
        </p:spPr>
      </p:sp>
      <p:sp>
        <p:nvSpPr>
          <p:cNvPr id="29" name="Shape 26"/>
          <p:cNvSpPr/>
          <p:nvPr/>
        </p:nvSpPr>
        <p:spPr>
          <a:xfrm>
            <a:off x="502920" y="7013448"/>
            <a:ext cx="438912" cy="438912"/>
          </a:xfrm>
          <a:prstGeom prst="ellipse">
            <a:avLst/>
          </a:prstGeom>
          <a:solidFill>
            <a:schemeClr val="tx2"/>
          </a:solidFill>
          <a:ln w="12700">
            <a:solidFill>
              <a:schemeClr val="tx2"/>
            </a:solidFill>
            <a:prstDash val="solid"/>
          </a:ln>
        </p:spPr>
      </p:sp>
      <p:sp>
        <p:nvSpPr>
          <p:cNvPr id="30" name="Text 27"/>
          <p:cNvSpPr txBox="1"/>
          <p:nvPr/>
        </p:nvSpPr>
        <p:spPr>
          <a:xfrm>
            <a:off x="502920" y="7013448"/>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05</a:t>
            </a:r>
            <a:endParaRPr lang="en-US" sz="1300" dirty="0"/>
          </a:p>
        </p:txBody>
      </p:sp>
      <p:sp>
        <p:nvSpPr>
          <p:cNvPr id="31" name="Text 28"/>
          <p:cNvSpPr txBox="1"/>
          <p:nvPr/>
        </p:nvSpPr>
        <p:spPr>
          <a:xfrm>
            <a:off x="1143000" y="6967728"/>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QUẢN TRỊ DỰ ÁN</a:t>
            </a:r>
            <a:endParaRPr lang="en-US" sz="1200" dirty="0"/>
          </a:p>
        </p:txBody>
      </p:sp>
      <p:sp>
        <p:nvSpPr>
          <p:cNvPr id="32" name="Text 29"/>
          <p:cNvSpPr txBox="1"/>
          <p:nvPr/>
        </p:nvSpPr>
        <p:spPr>
          <a:xfrm>
            <a:off x="1143000" y="7251192"/>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Quy trình 10 bước • Chất lượng • An toàn lao động</a:t>
            </a:r>
            <a:endParaRPr lang="en-US" sz="900" dirty="0"/>
          </a:p>
        </p:txBody>
      </p:sp>
      <p:sp>
        <p:nvSpPr>
          <p:cNvPr id="33" name="Text 30"/>
          <p:cNvSpPr txBox="1"/>
          <p:nvPr/>
        </p:nvSpPr>
        <p:spPr>
          <a:xfrm>
            <a:off x="5961888" y="7013448"/>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16 – 18</a:t>
            </a:r>
            <a:endParaRPr lang="en-US" sz="1200" dirty="0"/>
          </a:p>
        </p:txBody>
      </p:sp>
      <p:sp>
        <p:nvSpPr>
          <p:cNvPr id="34" name="Shape 31"/>
          <p:cNvSpPr/>
          <p:nvPr/>
        </p:nvSpPr>
        <p:spPr>
          <a:xfrm>
            <a:off x="1143000" y="7580376"/>
            <a:ext cx="5916168" cy="0"/>
          </a:xfrm>
          <a:prstGeom prst="line">
            <a:avLst/>
          </a:prstGeom>
          <a:noFill/>
          <a:ln w="9525">
            <a:solidFill>
              <a:schemeClr val="accent4"/>
            </a:solidFill>
            <a:prstDash val="solid"/>
          </a:ln>
        </p:spPr>
      </p:sp>
      <p:sp>
        <p:nvSpPr>
          <p:cNvPr id="35" name="Shape 32"/>
          <p:cNvSpPr/>
          <p:nvPr/>
        </p:nvSpPr>
        <p:spPr>
          <a:xfrm>
            <a:off x="502920" y="7726680"/>
            <a:ext cx="438912" cy="438912"/>
          </a:xfrm>
          <a:prstGeom prst="ellipse">
            <a:avLst/>
          </a:prstGeom>
          <a:solidFill>
            <a:schemeClr val="tx2"/>
          </a:solidFill>
          <a:ln w="12700">
            <a:solidFill>
              <a:schemeClr val="tx2"/>
            </a:solidFill>
            <a:prstDash val="solid"/>
          </a:ln>
        </p:spPr>
      </p:sp>
      <p:sp>
        <p:nvSpPr>
          <p:cNvPr id="36" name="Text 33"/>
          <p:cNvSpPr txBox="1"/>
          <p:nvPr/>
        </p:nvSpPr>
        <p:spPr>
          <a:xfrm>
            <a:off x="502920" y="7726680"/>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06</a:t>
            </a:r>
            <a:endParaRPr lang="en-US" sz="1300" dirty="0"/>
          </a:p>
        </p:txBody>
      </p:sp>
      <p:sp>
        <p:nvSpPr>
          <p:cNvPr id="37" name="Text 34"/>
          <p:cNvSpPr txBox="1"/>
          <p:nvPr/>
        </p:nvSpPr>
        <p:spPr>
          <a:xfrm>
            <a:off x="1143000" y="7680960"/>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NGUỒN LỰC</a:t>
            </a:r>
            <a:endParaRPr lang="en-US" sz="1200" dirty="0"/>
          </a:p>
        </p:txBody>
      </p:sp>
      <p:sp>
        <p:nvSpPr>
          <p:cNvPr id="38" name="Text 35"/>
          <p:cNvSpPr txBox="1"/>
          <p:nvPr/>
        </p:nvSpPr>
        <p:spPr>
          <a:xfrm>
            <a:off x="1143000" y="7964424"/>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Nhân sự • Máy móc thiết bị</a:t>
            </a:r>
            <a:endParaRPr lang="en-US" sz="900" dirty="0"/>
          </a:p>
        </p:txBody>
      </p:sp>
      <p:sp>
        <p:nvSpPr>
          <p:cNvPr id="39" name="Text 36"/>
          <p:cNvSpPr txBox="1"/>
          <p:nvPr/>
        </p:nvSpPr>
        <p:spPr>
          <a:xfrm>
            <a:off x="5961888" y="7726680"/>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19 – 20</a:t>
            </a:r>
            <a:endParaRPr lang="en-US" sz="1200" dirty="0"/>
          </a:p>
        </p:txBody>
      </p:sp>
      <p:sp>
        <p:nvSpPr>
          <p:cNvPr id="40" name="Shape 37"/>
          <p:cNvSpPr/>
          <p:nvPr/>
        </p:nvSpPr>
        <p:spPr>
          <a:xfrm>
            <a:off x="1143000" y="8293608"/>
            <a:ext cx="5916168" cy="0"/>
          </a:xfrm>
          <a:prstGeom prst="line">
            <a:avLst/>
          </a:prstGeom>
          <a:noFill/>
          <a:ln w="9525">
            <a:solidFill>
              <a:schemeClr val="accent4"/>
            </a:solidFill>
            <a:prstDash val="solid"/>
          </a:ln>
        </p:spPr>
      </p:sp>
      <p:sp>
        <p:nvSpPr>
          <p:cNvPr id="41" name="Shape 38"/>
          <p:cNvSpPr/>
          <p:nvPr/>
        </p:nvSpPr>
        <p:spPr>
          <a:xfrm>
            <a:off x="502920" y="8439912"/>
            <a:ext cx="438912" cy="438912"/>
          </a:xfrm>
          <a:prstGeom prst="ellipse">
            <a:avLst/>
          </a:prstGeom>
          <a:solidFill>
            <a:schemeClr val="tx2"/>
          </a:solidFill>
          <a:ln w="12700">
            <a:solidFill>
              <a:schemeClr val="tx2"/>
            </a:solidFill>
            <a:prstDash val="solid"/>
          </a:ln>
        </p:spPr>
      </p:sp>
      <p:sp>
        <p:nvSpPr>
          <p:cNvPr id="42" name="Text 39"/>
          <p:cNvSpPr txBox="1"/>
          <p:nvPr/>
        </p:nvSpPr>
        <p:spPr>
          <a:xfrm>
            <a:off x="502920" y="8439912"/>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07</a:t>
            </a:r>
            <a:endParaRPr lang="en-US" sz="1300" dirty="0"/>
          </a:p>
        </p:txBody>
      </p:sp>
      <p:sp>
        <p:nvSpPr>
          <p:cNvPr id="43" name="Text 40"/>
          <p:cNvSpPr txBox="1"/>
          <p:nvPr/>
        </p:nvSpPr>
        <p:spPr>
          <a:xfrm>
            <a:off x="1143000" y="8394192"/>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CÔNG TRÌNH TIÊU BIỂU</a:t>
            </a:r>
            <a:endParaRPr lang="en-US" sz="1200" dirty="0"/>
          </a:p>
        </p:txBody>
      </p:sp>
      <p:sp>
        <p:nvSpPr>
          <p:cNvPr id="44" name="Text 41"/>
          <p:cNvSpPr txBox="1"/>
          <p:nvPr/>
        </p:nvSpPr>
        <p:spPr>
          <a:xfrm>
            <a:off x="1143000" y="8677656"/>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Nghệ An • Ninh Bình • Huế • Danh sách công trình</a:t>
            </a:r>
            <a:endParaRPr lang="en-US" sz="900" dirty="0"/>
          </a:p>
        </p:txBody>
      </p:sp>
      <p:sp>
        <p:nvSpPr>
          <p:cNvPr id="45" name="Text 42"/>
          <p:cNvSpPr txBox="1"/>
          <p:nvPr/>
        </p:nvSpPr>
        <p:spPr>
          <a:xfrm>
            <a:off x="5961888" y="8439912"/>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21 – 24</a:t>
            </a:r>
            <a:endParaRPr lang="en-US" sz="1200" dirty="0"/>
          </a:p>
        </p:txBody>
      </p:sp>
      <p:sp>
        <p:nvSpPr>
          <p:cNvPr id="46" name="Shape 43"/>
          <p:cNvSpPr/>
          <p:nvPr/>
        </p:nvSpPr>
        <p:spPr>
          <a:xfrm>
            <a:off x="1143000" y="9006840"/>
            <a:ext cx="5916168" cy="0"/>
          </a:xfrm>
          <a:prstGeom prst="line">
            <a:avLst/>
          </a:prstGeom>
          <a:noFill/>
          <a:ln w="9525">
            <a:solidFill>
              <a:schemeClr val="accent4"/>
            </a:solidFill>
            <a:prstDash val="solid"/>
          </a:ln>
        </p:spPr>
      </p:sp>
      <p:sp>
        <p:nvSpPr>
          <p:cNvPr id="47" name="Shape 44"/>
          <p:cNvSpPr/>
          <p:nvPr/>
        </p:nvSpPr>
        <p:spPr>
          <a:xfrm>
            <a:off x="502920" y="9153144"/>
            <a:ext cx="438912" cy="438912"/>
          </a:xfrm>
          <a:prstGeom prst="ellipse">
            <a:avLst/>
          </a:prstGeom>
          <a:solidFill>
            <a:schemeClr val="tx2"/>
          </a:solidFill>
          <a:ln w="12700">
            <a:solidFill>
              <a:schemeClr val="tx2"/>
            </a:solidFill>
            <a:prstDash val="solid"/>
          </a:ln>
        </p:spPr>
      </p:sp>
      <p:sp>
        <p:nvSpPr>
          <p:cNvPr id="48" name="Text 45"/>
          <p:cNvSpPr txBox="1"/>
          <p:nvPr/>
        </p:nvSpPr>
        <p:spPr>
          <a:xfrm>
            <a:off x="502920" y="9153144"/>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08</a:t>
            </a:r>
            <a:endParaRPr lang="en-US" sz="1300" dirty="0"/>
          </a:p>
        </p:txBody>
      </p:sp>
      <p:sp>
        <p:nvSpPr>
          <p:cNvPr id="49" name="Text 46"/>
          <p:cNvSpPr txBox="1"/>
          <p:nvPr/>
        </p:nvSpPr>
        <p:spPr>
          <a:xfrm>
            <a:off x="1143000" y="9107424"/>
            <a:ext cx="4754880" cy="27432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CAM KẾT &amp; LIÊN HỆ</a:t>
            </a:r>
            <a:endParaRPr lang="en-US" sz="1200" dirty="0"/>
          </a:p>
        </p:txBody>
      </p:sp>
      <p:sp>
        <p:nvSpPr>
          <p:cNvPr id="50" name="Text 47"/>
          <p:cNvSpPr txBox="1"/>
          <p:nvPr/>
        </p:nvSpPr>
        <p:spPr>
          <a:xfrm>
            <a:off x="1143000" y="9390888"/>
            <a:ext cx="4754880" cy="228600"/>
          </a:xfrm>
          <a:prstGeom prst="rect">
            <a:avLst/>
          </a:prstGeom>
          <a:noFill/>
          <a:ln/>
        </p:spPr>
        <p:txBody>
          <a:bodyPr wrap="square" lIns="0" tIns="0" rIns="0" bIns="0" rtlCol="0" anchor="ctr"/>
          <a:lstStyle/>
          <a:p>
            <a:pPr indent="0" marL="0">
              <a:buNone/>
            </a:pPr>
            <a:r>
              <a:rPr lang="en-US" sz="900" dirty="0">
                <a:solidFill>
                  <a:schemeClr val="accent3"/>
                </a:solidFill>
              </a:rPr>
              <a:t>Cam kết chất lượng • Bảo hành • Thông tin liên hệ</a:t>
            </a:r>
            <a:endParaRPr lang="en-US" sz="900" dirty="0"/>
          </a:p>
        </p:txBody>
      </p:sp>
      <p:sp>
        <p:nvSpPr>
          <p:cNvPr id="51" name="Text 48"/>
          <p:cNvSpPr txBox="1"/>
          <p:nvPr/>
        </p:nvSpPr>
        <p:spPr>
          <a:xfrm>
            <a:off x="5961888" y="9153144"/>
            <a:ext cx="1097280" cy="365760"/>
          </a:xfrm>
          <a:prstGeom prst="rect">
            <a:avLst/>
          </a:prstGeom>
          <a:noFill/>
          <a:ln/>
        </p:spPr>
        <p:txBody>
          <a:bodyPr wrap="square" lIns="0" tIns="0" rIns="0" bIns="0" rtlCol="0" anchor="ctr"/>
          <a:lstStyle/>
          <a:p>
            <a:pPr algn="r" indent="0" marL="0">
              <a:buNone/>
            </a:pPr>
            <a:r>
              <a:rPr lang="en-US" sz="1200" b="1" dirty="0">
                <a:solidFill>
                  <a:schemeClr val="accent1"/>
                </a:solidFill>
              </a:rPr>
              <a:t>25 – 26</a:t>
            </a:r>
            <a:endParaRPr lang="en-US" sz="12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TỔNG QUAN DOANH NGHIỆP</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Thư ngỏ</a:t>
            </a:r>
            <a:endParaRPr lang="en-US" sz="2200" dirty="0"/>
          </a:p>
        </p:txBody>
      </p:sp>
      <p:sp>
        <p:nvSpPr>
          <p:cNvPr id="4" name="Shape 2"/>
          <p:cNvSpPr/>
          <p:nvPr/>
        </p:nvSpPr>
        <p:spPr>
          <a:xfrm>
            <a:off x="502920" y="1463040"/>
            <a:ext cx="6556248" cy="1600200"/>
          </a:xfrm>
          <a:prstGeom prst="roundRect">
            <a:avLst>
              <a:gd name="adj" fmla="val 4571"/>
            </a:avLst>
          </a:prstGeom>
          <a:solidFill>
            <a:schemeClr val="tx2"/>
          </a:solidFill>
          <a:ln w="12700">
            <a:solidFill>
              <a:schemeClr val="tx2"/>
            </a:solidFill>
            <a:prstDash val="solid"/>
          </a:ln>
        </p:spPr>
      </p:sp>
      <p:sp>
        <p:nvSpPr>
          <p:cNvPr id="5" name="Text 3"/>
          <p:cNvSpPr txBox="1"/>
          <p:nvPr/>
        </p:nvSpPr>
        <p:spPr>
          <a:xfrm>
            <a:off x="731520" y="1417320"/>
            <a:ext cx="731520" cy="914400"/>
          </a:xfrm>
          <a:prstGeom prst="rect">
            <a:avLst/>
          </a:prstGeom>
          <a:noFill/>
          <a:ln/>
        </p:spPr>
        <p:txBody>
          <a:bodyPr wrap="square" lIns="0" tIns="0" rIns="0" bIns="0" rtlCol="0" anchor="t"/>
          <a:lstStyle/>
          <a:p>
            <a:pPr indent="0" marL="0">
              <a:buNone/>
            </a:pPr>
            <a:r>
              <a:rPr lang="en-US" sz="7200" b="1" dirty="0">
                <a:solidFill>
                  <a:schemeClr val="accent1"/>
                </a:solidFill>
                <a:latin typeface="Arial" pitchFamily="34" charset="0"/>
                <a:ea typeface="Arial" pitchFamily="34" charset="-122"/>
                <a:cs typeface="Arial" pitchFamily="34" charset="-120"/>
              </a:rPr>
              <a:t>“</a:t>
            </a:r>
            <a:endParaRPr lang="en-US" sz="7200" dirty="0"/>
          </a:p>
        </p:txBody>
      </p:sp>
      <p:sp>
        <p:nvSpPr>
          <p:cNvPr id="6" name="Text 4"/>
          <p:cNvSpPr txBox="1"/>
          <p:nvPr/>
        </p:nvSpPr>
        <p:spPr>
          <a:xfrm>
            <a:off x="1463040" y="1645920"/>
            <a:ext cx="5321808" cy="914400"/>
          </a:xfrm>
          <a:prstGeom prst="rect">
            <a:avLst/>
          </a:prstGeom>
          <a:noFill/>
          <a:ln/>
        </p:spPr>
        <p:txBody>
          <a:bodyPr wrap="square" lIns="0" tIns="0" rIns="0" bIns="0" rtlCol="0" anchor="ctr"/>
          <a:lstStyle/>
          <a:p>
            <a:pPr indent="0" marL="0">
              <a:lnSpc>
                <a:spcPct val="110000"/>
              </a:lnSpc>
              <a:buNone/>
            </a:pPr>
            <a:r>
              <a:rPr lang="en-US" sz="1700" b="1" dirty="0">
                <a:solidFill>
                  <a:schemeClr val="bg1"/>
                </a:solidFill>
                <a:latin typeface="Arial" pitchFamily="34" charset="0"/>
                <a:ea typeface="Arial" pitchFamily="34" charset="-122"/>
                <a:cs typeface="Arial" pitchFamily="34" charset="-120"/>
              </a:rPr>
              <a:t>Chúng tôi không chỉ lắp đặt điện nước –</a:t>
            </a:r>
            <a:endParaRPr lang="en-US" sz="1700" dirty="0"/>
          </a:p>
          <a:p>
            <a:pPr indent="0" marL="0">
              <a:lnSpc>
                <a:spcPct val="110000"/>
              </a:lnSpc>
              <a:buNone/>
            </a:pPr>
            <a:r>
              <a:rPr lang="en-US" sz="1700" b="1" dirty="0">
                <a:solidFill>
                  <a:schemeClr val="bg1"/>
                </a:solidFill>
                <a:latin typeface="Arial" pitchFamily="34" charset="0"/>
                <a:ea typeface="Arial" pitchFamily="34" charset="-122"/>
                <a:cs typeface="Arial" pitchFamily="34" charset="-120"/>
              </a:rPr>
              <a:t>chúng tôi lắp đặt </a:t>
            </a:r>
            <a:pPr indent="0" marL="0">
              <a:lnSpc>
                <a:spcPct val="110000"/>
              </a:lnSpc>
              <a:buNone/>
            </a:pPr>
            <a:r>
              <a:rPr lang="en-US" sz="1700" b="1" dirty="0">
                <a:solidFill>
                  <a:schemeClr val="accent1"/>
                </a:solidFill>
                <a:latin typeface="Arial" pitchFamily="34" charset="0"/>
                <a:ea typeface="Arial" pitchFamily="34" charset="-122"/>
                <a:cs typeface="Arial" pitchFamily="34" charset="-120"/>
              </a:rPr>
              <a:t>sự an tâm</a:t>
            </a:r>
            <a:pPr indent="0" marL="0">
              <a:lnSpc>
                <a:spcPct val="110000"/>
              </a:lnSpc>
              <a:buNone/>
            </a:pPr>
            <a:r>
              <a:rPr lang="en-US" sz="1700" b="1" dirty="0">
                <a:solidFill>
                  <a:schemeClr val="bg1"/>
                </a:solidFill>
                <a:latin typeface="Arial" pitchFamily="34" charset="0"/>
                <a:ea typeface="Arial" pitchFamily="34" charset="-122"/>
                <a:cs typeface="Arial" pitchFamily="34" charset="-120"/>
              </a:rPr>
              <a:t> cho từng công trình.</a:t>
            </a:r>
            <a:endParaRPr lang="en-US" sz="1700" dirty="0"/>
          </a:p>
        </p:txBody>
      </p:sp>
      <p:sp>
        <p:nvSpPr>
          <p:cNvPr id="7" name="Text 5"/>
          <p:cNvSpPr txBox="1"/>
          <p:nvPr/>
        </p:nvSpPr>
        <p:spPr>
          <a:xfrm>
            <a:off x="1463040" y="2606040"/>
            <a:ext cx="5321808" cy="274320"/>
          </a:xfrm>
          <a:prstGeom prst="rect">
            <a:avLst/>
          </a:prstGeom>
          <a:noFill/>
          <a:ln/>
        </p:spPr>
        <p:txBody>
          <a:bodyPr wrap="square" lIns="0" tIns="0" rIns="0" bIns="0" rtlCol="0" anchor="ctr"/>
          <a:lstStyle/>
          <a:p>
            <a:pPr indent="0" marL="0">
              <a:buNone/>
            </a:pPr>
            <a:r>
              <a:rPr lang="en-US" sz="950" b="1" spc="150" kern="0" dirty="0">
                <a:solidFill>
                  <a:schemeClr val="accent1"/>
                </a:solidFill>
              </a:rPr>
              <a:t>— HỒ VĂN BÌNH, GIÁM ĐỐC</a:t>
            </a:r>
            <a:endParaRPr lang="en-US" sz="950" dirty="0"/>
          </a:p>
        </p:txBody>
      </p:sp>
      <p:sp>
        <p:nvSpPr>
          <p:cNvPr id="8" name="Text 6"/>
          <p:cNvSpPr txBox="1"/>
          <p:nvPr/>
        </p:nvSpPr>
        <p:spPr>
          <a:xfrm>
            <a:off x="502920" y="3383280"/>
            <a:ext cx="6556248" cy="3931920"/>
          </a:xfrm>
          <a:prstGeom prst="rect">
            <a:avLst/>
          </a:prstGeom>
          <a:noFill/>
          <a:ln/>
        </p:spPr>
        <p:txBody>
          <a:bodyPr wrap="square" lIns="0" tIns="0" rIns="0" bIns="0" rtlCol="0" anchor="t"/>
          <a:lstStyle/>
          <a:p>
            <a:pPr indent="0" marL="0">
              <a:lnSpc>
                <a:spcPct val="120000"/>
              </a:lnSpc>
              <a:spcAft>
                <a:spcPts val="900"/>
              </a:spcAft>
              <a:buNone/>
            </a:pPr>
            <a:r>
              <a:rPr lang="en-US" sz="1150" b="1" dirty="0">
                <a:solidFill>
                  <a:schemeClr val="tx2"/>
                </a:solidFill>
              </a:rPr>
              <a:t>Kính gửi Quý Khách hàng và Quý Đối tác,</a:t>
            </a:r>
            <a:endParaRPr lang="en-US" sz="1150" dirty="0"/>
          </a:p>
          <a:p>
            <a:pPr indent="0" marL="0">
              <a:lnSpc>
                <a:spcPct val="120000"/>
              </a:lnSpc>
              <a:spcAft>
                <a:spcPts val="900"/>
              </a:spcAft>
              <a:buNone/>
            </a:pPr>
            <a:r>
              <a:rPr lang="en-US" sz="1150" dirty="0">
                <a:solidFill>
                  <a:schemeClr val="tx1"/>
                </a:solidFill>
              </a:rPr>
              <a:t>Thay mặt CÔNG TY TNHH KỸ THUẬT CÔNG TRÌNH BLT, tôi trân trọng cảm ơn Quý vị đã quan tâm tìm hiểu năng lực của chúng tôi.</a:t>
            </a:r>
            <a:endParaRPr lang="en-US" sz="1150" dirty="0"/>
          </a:p>
          <a:p>
            <a:pPr indent="0" marL="0">
              <a:lnSpc>
                <a:spcPct val="120000"/>
              </a:lnSpc>
              <a:spcAft>
                <a:spcPts val="900"/>
              </a:spcAft>
              <a:buNone/>
            </a:pPr>
            <a:r>
              <a:rPr lang="en-US" sz="1150" dirty="0">
                <a:solidFill>
                  <a:schemeClr val="tx1"/>
                </a:solidFill>
              </a:rPr>
              <a:t>BLT là đơn vị thi công chuyên sâu về hệ thống kỹ thuật công trình: điện, cấp thoát nước, đường ống công nghệ, hút sương dầu – lọc khí nhà xưởng và bơm – xử lý nước. Đội ngũ 100 người của chúng tôi đang trực tiếp thi công tại Nghệ An, Ninh Bình, Quảng Trị và Thành phố Huế, từ công trình nhiều tầng đến nhà xưởng sản xuất đang vận hành.</a:t>
            </a:r>
            <a:endParaRPr lang="en-US" sz="1150" dirty="0"/>
          </a:p>
          <a:p>
            <a:pPr indent="0" marL="0">
              <a:lnSpc>
                <a:spcPct val="120000"/>
              </a:lnSpc>
              <a:spcAft>
                <a:spcPts val="900"/>
              </a:spcAft>
              <a:buNone/>
            </a:pPr>
            <a:r>
              <a:rPr lang="en-US" sz="1150" dirty="0">
                <a:solidFill>
                  <a:schemeClr val="tx1"/>
                </a:solidFill>
              </a:rPr>
              <a:t>Mỗi công việc tại BLT đều đi theo quy trình: khảo sát, lập phương án, chuẩn bị vật tư, thi công, kiểm tra – thử nghiệm, nghiệm thu và bảo hành. Hình ảnh hiện trường được ghi nhận kèm thời gian và vị trí để minh bạch với khách hàng.</a:t>
            </a:r>
            <a:endParaRPr lang="en-US" sz="1150" dirty="0"/>
          </a:p>
          <a:p>
            <a:pPr indent="0" marL="0">
              <a:lnSpc>
                <a:spcPct val="120000"/>
              </a:lnSpc>
              <a:spcAft>
                <a:spcPts val="900"/>
              </a:spcAft>
              <a:buNone/>
            </a:pPr>
            <a:r>
              <a:rPr lang="en-US" sz="1150" dirty="0">
                <a:solidFill>
                  <a:schemeClr val="tx1"/>
                </a:solidFill>
              </a:rPr>
              <a:t>Với phương châm “Giải pháp điện nước – Uy tín &amp; Chất lượng”, BLT mong được đồng hành cùng Quý vị trong các dự án sắp tới.</a:t>
            </a:r>
            <a:endParaRPr lang="en-US" sz="1150" dirty="0"/>
          </a:p>
          <a:p>
            <a:pPr indent="0" marL="0">
              <a:lnSpc>
                <a:spcPct val="120000"/>
              </a:lnSpc>
              <a:spcAft>
                <a:spcPts val="900"/>
              </a:spcAft>
              <a:buNone/>
            </a:pPr>
            <a:r>
              <a:rPr lang="en-US" sz="1150" b="1" dirty="0">
                <a:solidFill>
                  <a:schemeClr val="tx2"/>
                </a:solidFill>
              </a:rPr>
              <a:t>Trân trọng!</a:t>
            </a:r>
            <a:endParaRPr lang="en-US" sz="1150" dirty="0"/>
          </a:p>
        </p:txBody>
      </p:sp>
      <p:sp>
        <p:nvSpPr>
          <p:cNvPr id="9" name="Text 7"/>
          <p:cNvSpPr txBox="1"/>
          <p:nvPr/>
        </p:nvSpPr>
        <p:spPr>
          <a:xfrm>
            <a:off x="4069080" y="7086600"/>
            <a:ext cx="2990088" cy="274320"/>
          </a:xfrm>
          <a:prstGeom prst="rect">
            <a:avLst/>
          </a:prstGeom>
          <a:noFill/>
          <a:ln/>
        </p:spPr>
        <p:txBody>
          <a:bodyPr wrap="square" lIns="0" tIns="0" rIns="0" bIns="0" rtlCol="0" anchor="ctr"/>
          <a:lstStyle/>
          <a:p>
            <a:pPr algn="ctr" indent="0" marL="0">
              <a:buNone/>
            </a:pPr>
            <a:r>
              <a:rPr lang="en-US" sz="1050" i="1" dirty="0">
                <a:solidFill>
                  <a:schemeClr val="accent3"/>
                </a:solidFill>
              </a:rPr>
              <a:t>Nghệ An, ngày 10 tháng 10 năm 2026</a:t>
            </a:r>
            <a:endParaRPr lang="en-US" sz="1050" dirty="0"/>
          </a:p>
        </p:txBody>
      </p:sp>
      <p:sp>
        <p:nvSpPr>
          <p:cNvPr id="10" name="Text 8"/>
          <p:cNvSpPr txBox="1"/>
          <p:nvPr/>
        </p:nvSpPr>
        <p:spPr>
          <a:xfrm>
            <a:off x="4069080" y="7406640"/>
            <a:ext cx="2990088" cy="274320"/>
          </a:xfrm>
          <a:prstGeom prst="rect">
            <a:avLst/>
          </a:prstGeom>
          <a:noFill/>
          <a:ln/>
        </p:spPr>
        <p:txBody>
          <a:bodyPr wrap="square" lIns="0" tIns="0" rIns="0" bIns="0" rtlCol="0" anchor="ctr"/>
          <a:lstStyle/>
          <a:p>
            <a:pPr algn="ctr" indent="0" marL="0">
              <a:buNone/>
            </a:pPr>
            <a:r>
              <a:rPr lang="en-US" sz="1100" b="1" spc="200" kern="0" dirty="0">
                <a:solidFill>
                  <a:schemeClr val="tx2"/>
                </a:solidFill>
                <a:latin typeface="Arial" pitchFamily="34" charset="0"/>
                <a:ea typeface="Arial" pitchFamily="34" charset="-122"/>
                <a:cs typeface="Arial" pitchFamily="34" charset="-120"/>
              </a:rPr>
              <a:t>GIÁM ĐỐC</a:t>
            </a:r>
            <a:endParaRPr lang="en-US" sz="1100" dirty="0"/>
          </a:p>
        </p:txBody>
      </p:sp>
      <p:pic>
        <p:nvPicPr>
          <p:cNvPr id="11" name="chu ky va con dau" descr="Chữ ký và con dấu Giám đốc Hồ Văn Bình">    </p:cNvPr>
          <p:cNvPicPr>
            <a:picLocks noChangeAspect="1"/>
          </p:cNvPicPr>
          <p:nvPr/>
        </p:nvPicPr>
        <p:blipFill>
          <a:blip r:embed="rId1"/>
          <a:stretch>
            <a:fillRect/>
          </a:stretch>
        </p:blipFill>
        <p:spPr>
          <a:xfrm>
            <a:off x="4871466" y="7726680"/>
            <a:ext cx="2286000" cy="1390650"/>
          </a:xfrm>
          <a:prstGeom prst="rect">
            <a:avLst/>
          </a:prstGeom>
        </p:spPr>
      </p:pic>
      <p:sp>
        <p:nvSpPr>
          <p:cNvPr id="12" name="Text 9"/>
          <p:cNvSpPr txBox="1"/>
          <p:nvPr/>
        </p:nvSpPr>
        <p:spPr>
          <a:xfrm>
            <a:off x="4069080" y="9253728"/>
            <a:ext cx="2990088"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Arial" pitchFamily="34" charset="0"/>
                <a:ea typeface="Arial" pitchFamily="34" charset="-122"/>
                <a:cs typeface="Arial" pitchFamily="34" charset="-120"/>
              </a:rPr>
              <a:t>HỒ VĂN BÌNH</a:t>
            </a:r>
            <a:endParaRPr lang="en-US" sz="16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TỔNG QUAN DOANH NGHIỆP</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Kỹ thuật Công trình BLT</a:t>
            </a:r>
            <a:endParaRPr lang="en-US" sz="2200" dirty="0"/>
          </a:p>
        </p:txBody>
      </p:sp>
      <p:sp>
        <p:nvSpPr>
          <p:cNvPr id="4" name="Shape 2"/>
          <p:cNvSpPr/>
          <p:nvPr/>
        </p:nvSpPr>
        <p:spPr>
          <a:xfrm>
            <a:off x="502920" y="1417320"/>
            <a:ext cx="1536192" cy="1325880"/>
          </a:xfrm>
          <a:prstGeom prst="roundRect">
            <a:avLst>
              <a:gd name="adj" fmla="val 5517"/>
            </a:avLst>
          </a:prstGeom>
          <a:solidFill>
            <a:schemeClr val="tx2"/>
          </a:solidFill>
          <a:ln w="12700">
            <a:solidFill>
              <a:schemeClr val="tx2"/>
            </a:solidFill>
            <a:prstDash val="solid"/>
          </a:ln>
        </p:spPr>
      </p:sp>
      <p:sp>
        <p:nvSpPr>
          <p:cNvPr id="5" name="Text 3"/>
          <p:cNvSpPr txBox="1"/>
          <p:nvPr/>
        </p:nvSpPr>
        <p:spPr>
          <a:xfrm>
            <a:off x="594360" y="1481328"/>
            <a:ext cx="135331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4</a:t>
            </a:r>
            <a:endParaRPr lang="en-US" sz="3000" dirty="0"/>
          </a:p>
        </p:txBody>
      </p:sp>
      <p:sp>
        <p:nvSpPr>
          <p:cNvPr id="6" name="Text 4"/>
          <p:cNvSpPr txBox="1"/>
          <p:nvPr/>
        </p:nvSpPr>
        <p:spPr>
          <a:xfrm>
            <a:off x="594360" y="2057400"/>
            <a:ext cx="1353312" cy="228600"/>
          </a:xfrm>
          <a:prstGeom prst="rect">
            <a:avLst/>
          </a:prstGeom>
          <a:noFill/>
          <a:ln/>
        </p:spPr>
        <p:txBody>
          <a:bodyPr wrap="square" lIns="0" tIns="0" rIns="0" bIns="0" rtlCol="0" anchor="ctr"/>
          <a:lstStyle/>
          <a:p>
            <a:pPr algn="ctr" indent="0" marL="0">
              <a:buNone/>
            </a:pPr>
            <a:r>
              <a:rPr lang="en-US" sz="850" b="1" spc="100" kern="0" dirty="0">
                <a:solidFill>
                  <a:schemeClr val="bg1"/>
                </a:solidFill>
              </a:rPr>
              <a:t>NHÓM DỊCH VỤ</a:t>
            </a:r>
            <a:endParaRPr lang="en-US" sz="850" dirty="0"/>
          </a:p>
        </p:txBody>
      </p:sp>
      <p:sp>
        <p:nvSpPr>
          <p:cNvPr id="7" name="Text 5"/>
          <p:cNvSpPr txBox="1"/>
          <p:nvPr/>
        </p:nvSpPr>
        <p:spPr>
          <a:xfrm>
            <a:off x="594360" y="2286000"/>
            <a:ext cx="1353312" cy="384048"/>
          </a:xfrm>
          <a:prstGeom prst="rect">
            <a:avLst/>
          </a:prstGeom>
          <a:noFill/>
          <a:ln/>
        </p:spPr>
        <p:txBody>
          <a:bodyPr wrap="square" lIns="0" tIns="0" rIns="0" bIns="0" rtlCol="0" anchor="t"/>
          <a:lstStyle/>
          <a:p>
            <a:pPr algn="ctr" indent="0" marL="0">
              <a:buNone/>
            </a:pPr>
            <a:r>
              <a:rPr lang="en-US" sz="800" dirty="0">
                <a:solidFill>
                  <a:schemeClr val="accent4"/>
                </a:solidFill>
              </a:rPr>
              <a:t>Điện • Nước • Hút sương dầu • Xử lý nước</a:t>
            </a:r>
            <a:endParaRPr lang="en-US" sz="800" dirty="0"/>
          </a:p>
        </p:txBody>
      </p:sp>
      <p:sp>
        <p:nvSpPr>
          <p:cNvPr id="8" name="Shape 6"/>
          <p:cNvSpPr/>
          <p:nvPr/>
        </p:nvSpPr>
        <p:spPr>
          <a:xfrm>
            <a:off x="2176272" y="1417320"/>
            <a:ext cx="1536192" cy="1325880"/>
          </a:xfrm>
          <a:prstGeom prst="roundRect">
            <a:avLst>
              <a:gd name="adj" fmla="val 5517"/>
            </a:avLst>
          </a:prstGeom>
          <a:solidFill>
            <a:schemeClr val="tx2"/>
          </a:solidFill>
          <a:ln w="12700">
            <a:solidFill>
              <a:schemeClr val="tx2"/>
            </a:solidFill>
            <a:prstDash val="solid"/>
          </a:ln>
        </p:spPr>
      </p:sp>
      <p:sp>
        <p:nvSpPr>
          <p:cNvPr id="9" name="Text 7"/>
          <p:cNvSpPr txBox="1"/>
          <p:nvPr/>
        </p:nvSpPr>
        <p:spPr>
          <a:xfrm>
            <a:off x="2267712" y="1481328"/>
            <a:ext cx="135331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4</a:t>
            </a:r>
            <a:endParaRPr lang="en-US" sz="3000" dirty="0"/>
          </a:p>
        </p:txBody>
      </p:sp>
      <p:sp>
        <p:nvSpPr>
          <p:cNvPr id="10" name="Text 8"/>
          <p:cNvSpPr txBox="1"/>
          <p:nvPr/>
        </p:nvSpPr>
        <p:spPr>
          <a:xfrm>
            <a:off x="2267712" y="2057400"/>
            <a:ext cx="1353312" cy="228600"/>
          </a:xfrm>
          <a:prstGeom prst="rect">
            <a:avLst/>
          </a:prstGeom>
          <a:noFill/>
          <a:ln/>
        </p:spPr>
        <p:txBody>
          <a:bodyPr wrap="square" lIns="0" tIns="0" rIns="0" bIns="0" rtlCol="0" anchor="ctr"/>
          <a:lstStyle/>
          <a:p>
            <a:pPr algn="ctr" indent="0" marL="0">
              <a:buNone/>
            </a:pPr>
            <a:r>
              <a:rPr lang="en-US" sz="850" b="1" spc="100" kern="0" dirty="0">
                <a:solidFill>
                  <a:schemeClr val="bg1"/>
                </a:solidFill>
              </a:rPr>
              <a:t>TỈNH, THÀNH PHỐ</a:t>
            </a:r>
            <a:endParaRPr lang="en-US" sz="850" dirty="0"/>
          </a:p>
        </p:txBody>
      </p:sp>
      <p:sp>
        <p:nvSpPr>
          <p:cNvPr id="11" name="Text 9"/>
          <p:cNvSpPr txBox="1"/>
          <p:nvPr/>
        </p:nvSpPr>
        <p:spPr>
          <a:xfrm>
            <a:off x="2267712" y="2286000"/>
            <a:ext cx="1353312" cy="384048"/>
          </a:xfrm>
          <a:prstGeom prst="rect">
            <a:avLst/>
          </a:prstGeom>
          <a:noFill/>
          <a:ln/>
        </p:spPr>
        <p:txBody>
          <a:bodyPr wrap="square" lIns="0" tIns="0" rIns="0" bIns="0" rtlCol="0" anchor="t"/>
          <a:lstStyle/>
          <a:p>
            <a:pPr algn="ctr" indent="0" marL="0">
              <a:buNone/>
            </a:pPr>
            <a:r>
              <a:rPr lang="en-US" sz="800" dirty="0">
                <a:solidFill>
                  <a:schemeClr val="accent4"/>
                </a:solidFill>
              </a:rPr>
              <a:t>Nghệ An • Ninh Bình • Quảng Trị • Huế</a:t>
            </a:r>
            <a:endParaRPr lang="en-US" sz="800" dirty="0"/>
          </a:p>
        </p:txBody>
      </p:sp>
      <p:sp>
        <p:nvSpPr>
          <p:cNvPr id="12" name="Shape 10"/>
          <p:cNvSpPr/>
          <p:nvPr/>
        </p:nvSpPr>
        <p:spPr>
          <a:xfrm>
            <a:off x="3849624" y="1417320"/>
            <a:ext cx="1536192" cy="1325880"/>
          </a:xfrm>
          <a:prstGeom prst="roundRect">
            <a:avLst>
              <a:gd name="adj" fmla="val 5517"/>
            </a:avLst>
          </a:prstGeom>
          <a:solidFill>
            <a:schemeClr val="tx2"/>
          </a:solidFill>
          <a:ln w="12700">
            <a:solidFill>
              <a:schemeClr val="tx2"/>
            </a:solidFill>
            <a:prstDash val="solid"/>
          </a:ln>
        </p:spPr>
      </p:sp>
      <p:sp>
        <p:nvSpPr>
          <p:cNvPr id="13" name="Text 11"/>
          <p:cNvSpPr txBox="1"/>
          <p:nvPr/>
        </p:nvSpPr>
        <p:spPr>
          <a:xfrm>
            <a:off x="3941064" y="1481328"/>
            <a:ext cx="135331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100%</a:t>
            </a:r>
            <a:endParaRPr lang="en-US" sz="3000" dirty="0"/>
          </a:p>
        </p:txBody>
      </p:sp>
      <p:sp>
        <p:nvSpPr>
          <p:cNvPr id="14" name="Text 12"/>
          <p:cNvSpPr txBox="1"/>
          <p:nvPr/>
        </p:nvSpPr>
        <p:spPr>
          <a:xfrm>
            <a:off x="3941064" y="2057400"/>
            <a:ext cx="1353312" cy="228600"/>
          </a:xfrm>
          <a:prstGeom prst="rect">
            <a:avLst/>
          </a:prstGeom>
          <a:noFill/>
          <a:ln/>
        </p:spPr>
        <p:txBody>
          <a:bodyPr wrap="square" lIns="0" tIns="0" rIns="0" bIns="0" rtlCol="0" anchor="ctr"/>
          <a:lstStyle/>
          <a:p>
            <a:pPr algn="ctr" indent="0" marL="0">
              <a:buNone/>
            </a:pPr>
            <a:r>
              <a:rPr lang="en-US" sz="850" b="1" spc="100" kern="0" dirty="0">
                <a:solidFill>
                  <a:schemeClr val="bg1"/>
                </a:solidFill>
              </a:rPr>
              <a:t>ẢNH HIỆN TRƯỜNG</a:t>
            </a:r>
            <a:endParaRPr lang="en-US" sz="850" dirty="0"/>
          </a:p>
        </p:txBody>
      </p:sp>
      <p:sp>
        <p:nvSpPr>
          <p:cNvPr id="15" name="Text 13"/>
          <p:cNvSpPr txBox="1"/>
          <p:nvPr/>
        </p:nvSpPr>
        <p:spPr>
          <a:xfrm>
            <a:off x="3941064" y="2286000"/>
            <a:ext cx="1353312" cy="384048"/>
          </a:xfrm>
          <a:prstGeom prst="rect">
            <a:avLst/>
          </a:prstGeom>
          <a:noFill/>
          <a:ln/>
        </p:spPr>
        <p:txBody>
          <a:bodyPr wrap="square" lIns="0" tIns="0" rIns="0" bIns="0" rtlCol="0" anchor="t"/>
          <a:lstStyle/>
          <a:p>
            <a:pPr algn="ctr" indent="0" marL="0">
              <a:buNone/>
            </a:pPr>
            <a:r>
              <a:rPr lang="en-US" sz="800" dirty="0">
                <a:solidFill>
                  <a:schemeClr val="accent4"/>
                </a:solidFill>
              </a:rPr>
              <a:t>có dấu thời gian và vị trí</a:t>
            </a:r>
            <a:endParaRPr lang="en-US" sz="800" dirty="0"/>
          </a:p>
        </p:txBody>
      </p:sp>
      <p:sp>
        <p:nvSpPr>
          <p:cNvPr id="16" name="Shape 14"/>
          <p:cNvSpPr/>
          <p:nvPr/>
        </p:nvSpPr>
        <p:spPr>
          <a:xfrm>
            <a:off x="5522976" y="1417320"/>
            <a:ext cx="1536192" cy="1325880"/>
          </a:xfrm>
          <a:prstGeom prst="roundRect">
            <a:avLst>
              <a:gd name="adj" fmla="val 5517"/>
            </a:avLst>
          </a:prstGeom>
          <a:solidFill>
            <a:schemeClr val="tx2"/>
          </a:solidFill>
          <a:ln w="12700">
            <a:solidFill>
              <a:schemeClr val="tx2"/>
            </a:solidFill>
            <a:prstDash val="solid"/>
          </a:ln>
        </p:spPr>
      </p:sp>
      <p:sp>
        <p:nvSpPr>
          <p:cNvPr id="17" name="Text 15"/>
          <p:cNvSpPr txBox="1"/>
          <p:nvPr/>
        </p:nvSpPr>
        <p:spPr>
          <a:xfrm>
            <a:off x="5614416" y="1481328"/>
            <a:ext cx="1353312" cy="548640"/>
          </a:xfrm>
          <a:prstGeom prst="rect">
            <a:avLst/>
          </a:prstGeom>
          <a:noFill/>
          <a:ln/>
        </p:spPr>
        <p:txBody>
          <a:bodyPr wrap="square" lIns="0" tIns="0" rIns="0" bIns="0" rtlCol="0" anchor="ctr"/>
          <a:lstStyle/>
          <a:p>
            <a:pPr algn="ctr" indent="0" marL="0">
              <a:buNone/>
            </a:pPr>
            <a:r>
              <a:rPr lang="en-US" sz="3000" b="1" dirty="0">
                <a:solidFill>
                  <a:schemeClr val="accent1"/>
                </a:solidFill>
                <a:latin typeface="Arial" pitchFamily="34" charset="0"/>
                <a:ea typeface="Arial" pitchFamily="34" charset="-122"/>
                <a:cs typeface="Arial" pitchFamily="34" charset="-120"/>
              </a:rPr>
              <a:t>100</a:t>
            </a:r>
            <a:endParaRPr lang="en-US" sz="3000" dirty="0"/>
          </a:p>
        </p:txBody>
      </p:sp>
      <p:sp>
        <p:nvSpPr>
          <p:cNvPr id="18" name="Text 16"/>
          <p:cNvSpPr txBox="1"/>
          <p:nvPr/>
        </p:nvSpPr>
        <p:spPr>
          <a:xfrm>
            <a:off x="5614416" y="2057400"/>
            <a:ext cx="1353312" cy="228600"/>
          </a:xfrm>
          <a:prstGeom prst="rect">
            <a:avLst/>
          </a:prstGeom>
          <a:noFill/>
          <a:ln/>
        </p:spPr>
        <p:txBody>
          <a:bodyPr wrap="square" lIns="0" tIns="0" rIns="0" bIns="0" rtlCol="0" anchor="ctr"/>
          <a:lstStyle/>
          <a:p>
            <a:pPr algn="ctr" indent="0" marL="0">
              <a:buNone/>
            </a:pPr>
            <a:r>
              <a:rPr lang="en-US" sz="850" b="1" spc="100" kern="0" dirty="0">
                <a:solidFill>
                  <a:schemeClr val="bg1"/>
                </a:solidFill>
              </a:rPr>
              <a:t>NHÂN SỰ</a:t>
            </a:r>
            <a:endParaRPr lang="en-US" sz="850" dirty="0"/>
          </a:p>
        </p:txBody>
      </p:sp>
      <p:sp>
        <p:nvSpPr>
          <p:cNvPr id="19" name="Text 17"/>
          <p:cNvSpPr txBox="1"/>
          <p:nvPr/>
        </p:nvSpPr>
        <p:spPr>
          <a:xfrm>
            <a:off x="5614416" y="2286000"/>
            <a:ext cx="1353312" cy="384048"/>
          </a:xfrm>
          <a:prstGeom prst="rect">
            <a:avLst/>
          </a:prstGeom>
          <a:noFill/>
          <a:ln/>
        </p:spPr>
        <p:txBody>
          <a:bodyPr wrap="square" lIns="0" tIns="0" rIns="0" bIns="0" rtlCol="0" anchor="t"/>
          <a:lstStyle/>
          <a:p>
            <a:pPr algn="ctr" indent="0" marL="0">
              <a:buNone/>
            </a:pPr>
            <a:r>
              <a:rPr lang="en-US" sz="800" dirty="0">
                <a:solidFill>
                  <a:schemeClr val="accent4"/>
                </a:solidFill>
              </a:rPr>
              <a:t>Kỹ thuật, văn phòng, chỉ huy và công nhân thi công</a:t>
            </a:r>
            <a:endParaRPr lang="en-US" sz="800" dirty="0"/>
          </a:p>
        </p:txBody>
      </p:sp>
      <p:sp>
        <p:nvSpPr>
          <p:cNvPr id="20" name="Text 18"/>
          <p:cNvSpPr txBox="1"/>
          <p:nvPr/>
        </p:nvSpPr>
        <p:spPr>
          <a:xfrm>
            <a:off x="502920" y="301752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GIỚI THIỆU CHUNG</a:t>
            </a:r>
            <a:endParaRPr lang="en-US" sz="900" dirty="0"/>
          </a:p>
        </p:txBody>
      </p:sp>
      <p:sp>
        <p:nvSpPr>
          <p:cNvPr id="21" name="Text 19"/>
          <p:cNvSpPr txBox="1"/>
          <p:nvPr/>
        </p:nvSpPr>
        <p:spPr>
          <a:xfrm>
            <a:off x="502920" y="3291840"/>
            <a:ext cx="6556248" cy="1097280"/>
          </a:xfrm>
          <a:prstGeom prst="rect">
            <a:avLst/>
          </a:prstGeom>
          <a:noFill/>
          <a:ln/>
        </p:spPr>
        <p:txBody>
          <a:bodyPr wrap="square" lIns="0" tIns="0" rIns="0" bIns="0" rtlCol="0" anchor="t"/>
          <a:lstStyle/>
          <a:p>
            <a:pPr algn="l" indent="0" marL="0">
              <a:lnSpc>
                <a:spcPct val="110000"/>
              </a:lnSpc>
              <a:spcAft>
                <a:spcPts val="600"/>
              </a:spcAft>
              <a:buNone/>
            </a:pPr>
            <a:r>
              <a:rPr lang="en-US" sz="1050" dirty="0">
                <a:solidFill>
                  <a:schemeClr val="tx1"/>
                </a:solidFill>
              </a:rPr>
              <a:t>CÔNG TY TNHH KỸ THUẬT CÔNG TRÌNH BLT (BLT) là doanh nghiệp trách nhiệm hữu hạn, trụ sở tại phường Trường Vinh, tỉnh Nghệ An, mã số thuế 2902269718. BLT hoạt động trong lĩnh vực thi công lắp đặt hệ thống kỹ thuật công trình (M&amp;E), với thế mạnh là đội thợ điện nước lành nghề, chủ động thiết bị làm việc trên cao và kinh nghiệm thi công trong nhà xưởng đang vận hành.</a:t>
            </a:r>
            <a:endParaRPr lang="en-US" sz="1050" dirty="0"/>
          </a:p>
        </p:txBody>
      </p:sp>
      <p:pic>
        <p:nvPicPr>
          <p:cNvPr id="22" name="photo img74_wide.jpg" descr="Đội BLT lắp giá đỡ thép trên xe nâng người – Hưng Nguyên, Nghệ An">    </p:cNvPr>
          <p:cNvPicPr>
            <a:picLocks noChangeAspect="1"/>
          </p:cNvPicPr>
          <p:nvPr/>
        </p:nvPicPr>
        <p:blipFill>
          <a:blip r:embed="rId1"/>
          <a:stretch>
            <a:fillRect/>
          </a:stretch>
        </p:blipFill>
        <p:spPr>
          <a:xfrm>
            <a:off x="502920" y="4206240"/>
            <a:ext cx="6556248" cy="2926080"/>
          </a:xfrm>
          <a:prstGeom prst="rect">
            <a:avLst/>
          </a:prstGeom>
        </p:spPr>
      </p:pic>
      <p:sp>
        <p:nvSpPr>
          <p:cNvPr id="23" name="Text 20"/>
          <p:cNvSpPr txBox="1"/>
          <p:nvPr/>
        </p:nvSpPr>
        <p:spPr>
          <a:xfrm>
            <a:off x="502920" y="716889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Đội BLT lắp giá đỡ thép trên xe nâng người – Hưng Nguyên, Nghệ An</a:t>
            </a:r>
            <a:endParaRPr lang="en-US" sz="800" dirty="0"/>
          </a:p>
        </p:txBody>
      </p:sp>
      <p:sp>
        <p:nvSpPr>
          <p:cNvPr id="24" name="Text 21"/>
          <p:cNvSpPr txBox="1"/>
          <p:nvPr/>
        </p:nvSpPr>
        <p:spPr>
          <a:xfrm>
            <a:off x="502920" y="7635240"/>
            <a:ext cx="310896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THẾ MẠNH</a:t>
            </a:r>
            <a:endParaRPr lang="en-US" sz="900" dirty="0"/>
          </a:p>
        </p:txBody>
      </p:sp>
      <p:sp>
        <p:nvSpPr>
          <p:cNvPr id="25" name="Text 22"/>
          <p:cNvSpPr txBox="1"/>
          <p:nvPr/>
        </p:nvSpPr>
        <p:spPr>
          <a:xfrm>
            <a:off x="502920" y="7909560"/>
            <a:ext cx="3200400" cy="2011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chemeClr val="tx1"/>
                </a:solidFill>
              </a:rPr>
              <a:t>Đội ngũ thi công điện, nước, ống công nghệ chuyên sâu</a:t>
            </a:r>
            <a:endParaRPr lang="en-US" sz="950" dirty="0"/>
          </a:p>
          <a:p>
            <a:pPr marL="152400" indent="-152400">
              <a:spcAft>
                <a:spcPts val="400"/>
              </a:spcAft>
              <a:buSzPct val="100000"/>
              <a:buChar char="•"/>
            </a:pPr>
            <a:r>
              <a:rPr lang="en-US" sz="950" dirty="0">
                <a:solidFill>
                  <a:schemeClr val="tx1"/>
                </a:solidFill>
              </a:rPr>
              <a:t>Thi công được trong nhà xưởng đang sản xuất, không gián đoạn dây chuyền</a:t>
            </a:r>
            <a:endParaRPr lang="en-US" sz="950" dirty="0"/>
          </a:p>
          <a:p>
            <a:pPr marL="152400" indent="-152400">
              <a:spcAft>
                <a:spcPts val="400"/>
              </a:spcAft>
              <a:buSzPct val="100000"/>
              <a:buChar char="•"/>
            </a:pPr>
            <a:r>
              <a:rPr lang="en-US" sz="950" dirty="0">
                <a:solidFill>
                  <a:schemeClr val="tx1"/>
                </a:solidFill>
              </a:rPr>
              <a:t>Chủ động phương tiện làm việc trên cao: xe nâng người, giàn giáo</a:t>
            </a:r>
            <a:endParaRPr lang="en-US" sz="950" dirty="0"/>
          </a:p>
          <a:p>
            <a:pPr marL="152400" indent="-152400">
              <a:spcAft>
                <a:spcPts val="400"/>
              </a:spcAft>
              <a:buSzPct val="100000"/>
              <a:buChar char="•"/>
            </a:pPr>
            <a:r>
              <a:rPr lang="en-US" sz="950" dirty="0">
                <a:solidFill>
                  <a:schemeClr val="tx1"/>
                </a:solidFill>
              </a:rPr>
              <a:t>Báo cáo hiện trường hằng ngày bằng ảnh có dấu thời gian và vị trí</a:t>
            </a:r>
            <a:endParaRPr lang="en-US" sz="950" dirty="0"/>
          </a:p>
        </p:txBody>
      </p:sp>
      <p:sp>
        <p:nvSpPr>
          <p:cNvPr id="26" name="Text 23"/>
          <p:cNvSpPr txBox="1"/>
          <p:nvPr/>
        </p:nvSpPr>
        <p:spPr>
          <a:xfrm>
            <a:off x="3858768" y="7635240"/>
            <a:ext cx="3108960"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ĐỊNH HƯỚNG</a:t>
            </a:r>
            <a:endParaRPr lang="en-US" sz="900" dirty="0"/>
          </a:p>
        </p:txBody>
      </p:sp>
      <p:sp>
        <p:nvSpPr>
          <p:cNvPr id="27" name="Text 24"/>
          <p:cNvSpPr txBox="1"/>
          <p:nvPr/>
        </p:nvSpPr>
        <p:spPr>
          <a:xfrm>
            <a:off x="3858768" y="7909560"/>
            <a:ext cx="3200400" cy="2011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chemeClr val="tx1"/>
                </a:solidFill>
              </a:rPr>
              <a:t>Trở thành nhà thầu phụ M&amp;E tin cậy của các tổng thầu và chủ đầu tư nhà máy</a:t>
            </a:r>
            <a:endParaRPr lang="en-US" sz="950" dirty="0"/>
          </a:p>
          <a:p>
            <a:pPr marL="152400" indent="-152400">
              <a:spcAft>
                <a:spcPts val="400"/>
              </a:spcAft>
              <a:buSzPct val="100000"/>
              <a:buChar char="•"/>
            </a:pPr>
            <a:r>
              <a:rPr lang="en-US" sz="950" dirty="0">
                <a:solidFill>
                  <a:schemeClr val="tx1"/>
                </a:solidFill>
              </a:rPr>
              <a:t>Mở rộng sang PCCC, điều hòa thông gió và bảo trì định kỳ</a:t>
            </a:r>
            <a:endParaRPr lang="en-US" sz="950" dirty="0"/>
          </a:p>
          <a:p>
            <a:pPr marL="152400" indent="-152400">
              <a:spcAft>
                <a:spcPts val="400"/>
              </a:spcAft>
              <a:buSzPct val="100000"/>
              <a:buChar char="•"/>
            </a:pPr>
            <a:r>
              <a:rPr lang="en-US" sz="950" dirty="0">
                <a:solidFill>
                  <a:schemeClr val="tx1"/>
                </a:solidFill>
              </a:rPr>
              <a:t>Chuẩn hóa hồ sơ kỹ thuật, nghiệm thu và bảo hành</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TỔNG QUAN DOANH NGHIỆP</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Thông tin pháp lý</a:t>
            </a:r>
            <a:endParaRPr lang="en-US" sz="2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556248" cy="914400"/>
        </p:xfrm>
        <a:graphic>
          <a:graphicData uri="http://schemas.openxmlformats.org/drawingml/2006/table">
            <a:tbl>
              <a:tblPr/>
              <a:tblGrid>
                <a:gridCol w="2194560"/>
                <a:gridCol w="4361688"/>
              </a:tblGrid>
              <a:tr h="640080">
                <a:tc>
                  <a:txBody>
                    <a:bodyPr/>
                    <a:lstStyle/>
                    <a:p>
                      <a:pPr indent="0" marL="0">
                        <a:buNone/>
                      </a:pPr>
                      <a:r>
                        <a:rPr lang="en-US" sz="1050" b="1" dirty="0">
                          <a:solidFill>
                            <a:schemeClr val="tx2"/>
                          </a:solidFill>
                        </a:rPr>
                        <a:t>Tên doanh nghiệp</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CÔNG TY TNHH KỸ THUẬT CÔNG TRÌNH BLT</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Mã số doanh nghiệp / MST</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2902269718</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Địa chỉ trụ sở</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Số 2A đường Nguyễn Khánh Toàn, khối Trường Phúc, phường Trường Vinh, tỉnh Nghệ An, Việt Nam</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Chủ sở hữu</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Ông HỒ VĂN BÌNH</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Người đại diện theo pháp luật</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Ông HỒ VĂN BÌNH – Giám đốc</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Điện thoại</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0984 586 089</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640080">
                <a:tc>
                  <a:txBody>
                    <a:bodyPr/>
                    <a:lstStyle/>
                    <a:p>
                      <a:pPr indent="0" marL="0">
                        <a:buNone/>
                      </a:pPr>
                      <a:r>
                        <a:rPr lang="en-US" sz="1050" b="1" dirty="0">
                          <a:solidFill>
                            <a:schemeClr val="tx2"/>
                          </a:solidFill>
                        </a:rPr>
                        <a:t>Email</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bg2"/>
                    </a:solidFill>
                  </a:tcPr>
                </a:tc>
                <a:tc>
                  <a:txBody>
                    <a:bodyPr/>
                    <a:lstStyle/>
                    <a:p>
                      <a:pPr indent="0" marL="0">
                        <a:buNone/>
                      </a:pPr>
                      <a:r>
                        <a:rPr lang="en-US" sz="1050" dirty="0">
                          <a:solidFill>
                            <a:schemeClr val="tx1"/>
                          </a:solidFill>
                        </a:rPr>
                        <a:t>hobinh150589@gmail.com</a:t>
                      </a:r>
                      <a:endParaRPr lang="en-US" sz="1050" dirty="0"/>
                    </a:p>
                  </a:txBody>
                  <a:tcPr marL="109728" marR="109728" marT="64008" marB="64008"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bl>
          </a:graphicData>
        </a:graphic>
      </p:graphicFrame>
      <p:sp>
        <p:nvSpPr>
          <p:cNvPr id="5" name="Text 2"/>
          <p:cNvSpPr txBox="1"/>
          <p:nvPr/>
        </p:nvSpPr>
        <p:spPr>
          <a:xfrm>
            <a:off x="502920" y="644652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LĨNH VỰC HOẠT ĐỘNG CHÍNH</a:t>
            </a:r>
            <a:endParaRPr lang="en-US" sz="900" dirty="0"/>
          </a:p>
        </p:txBody>
      </p:sp>
      <p:sp>
        <p:nvSpPr>
          <p:cNvPr id="6" name="Shape 3"/>
          <p:cNvSpPr/>
          <p:nvPr/>
        </p:nvSpPr>
        <p:spPr>
          <a:xfrm>
            <a:off x="502920" y="6720840"/>
            <a:ext cx="6556248" cy="2880360"/>
          </a:xfrm>
          <a:prstGeom prst="roundRect">
            <a:avLst>
              <a:gd name="adj" fmla="val 2540"/>
            </a:avLst>
          </a:prstGeom>
          <a:solidFill>
            <a:schemeClr val="bg2"/>
          </a:solidFill>
          <a:ln w="12700">
            <a:solidFill>
              <a:schemeClr val="bg2"/>
            </a:solidFill>
            <a:prstDash val="solid"/>
          </a:ln>
        </p:spPr>
      </p:sp>
      <p:sp>
        <p:nvSpPr>
          <p:cNvPr id="7" name="Text 4"/>
          <p:cNvSpPr txBox="1"/>
          <p:nvPr/>
        </p:nvSpPr>
        <p:spPr>
          <a:xfrm>
            <a:off x="777240" y="6903720"/>
            <a:ext cx="6007608" cy="2514600"/>
          </a:xfrm>
          <a:prstGeom prst="rect">
            <a:avLst/>
          </a:prstGeom>
          <a:noFill/>
          <a:ln/>
        </p:spPr>
        <p:txBody>
          <a:bodyPr wrap="square" lIns="0" tIns="0" rIns="0" bIns="0" rtlCol="0" anchor="ctr"/>
          <a:lstStyle/>
          <a:p>
            <a:pPr marL="152400" indent="-152400">
              <a:lnSpc>
                <a:spcPct val="170000"/>
              </a:lnSpc>
              <a:spcAft>
                <a:spcPts val="900"/>
              </a:spcAft>
              <a:buSzPct val="100000"/>
              <a:buChar char="•"/>
            </a:pPr>
            <a:r>
              <a:rPr lang="en-US" sz="1150" dirty="0">
                <a:solidFill>
                  <a:schemeClr val="tx1"/>
                </a:solidFill>
              </a:rPr>
              <a:t>Lắp đặt hệ thống điện động lực, điện chiếu sáng, tủ điện, máng – thang cáp</a:t>
            </a:r>
            <a:endParaRPr lang="en-US" sz="1150" dirty="0"/>
          </a:p>
          <a:p>
            <a:pPr marL="152400" indent="-152400">
              <a:lnSpc>
                <a:spcPct val="170000"/>
              </a:lnSpc>
              <a:spcAft>
                <a:spcPts val="900"/>
              </a:spcAft>
              <a:buSzPct val="100000"/>
              <a:buChar char="•"/>
            </a:pPr>
            <a:r>
              <a:rPr lang="en-US" sz="1150" dirty="0">
                <a:solidFill>
                  <a:schemeClr val="tx1"/>
                </a:solidFill>
              </a:rPr>
              <a:t>Lắp đặt hệ thống cấp, thoát nước công trình dân dụng và công nghiệp</a:t>
            </a:r>
            <a:endParaRPr lang="en-US" sz="1150" dirty="0"/>
          </a:p>
          <a:p>
            <a:pPr marL="152400" indent="-152400">
              <a:lnSpc>
                <a:spcPct val="170000"/>
              </a:lnSpc>
              <a:spcAft>
                <a:spcPts val="900"/>
              </a:spcAft>
              <a:buSzPct val="100000"/>
              <a:buChar char="•"/>
            </a:pPr>
            <a:r>
              <a:rPr lang="en-US" sz="1150" dirty="0">
                <a:solidFill>
                  <a:schemeClr val="tx1"/>
                </a:solidFill>
              </a:rPr>
              <a:t>Lắp đặt hệ thống đường ống công nghệ, hút sương dầu – lọc khí nhà xưởng</a:t>
            </a:r>
            <a:endParaRPr lang="en-US" sz="1150" dirty="0"/>
          </a:p>
          <a:p>
            <a:pPr marL="152400" indent="-152400">
              <a:lnSpc>
                <a:spcPct val="170000"/>
              </a:lnSpc>
              <a:spcAft>
                <a:spcPts val="900"/>
              </a:spcAft>
              <a:buSzPct val="100000"/>
              <a:buChar char="•"/>
            </a:pPr>
            <a:r>
              <a:rPr lang="en-US" sz="1150" dirty="0">
                <a:solidFill>
                  <a:schemeClr val="tx1"/>
                </a:solidFill>
              </a:rPr>
              <a:t>Lắp đặt máy móc, thiết bị công nghiệp: bơm, bồn lọc, thiết bị xử lý nước</a:t>
            </a:r>
            <a:endParaRPr lang="en-US" sz="1150" dirty="0"/>
          </a:p>
          <a:p>
            <a:pPr marL="152400" indent="-152400">
              <a:lnSpc>
                <a:spcPct val="170000"/>
              </a:lnSpc>
              <a:spcAft>
                <a:spcPts val="900"/>
              </a:spcAft>
              <a:buSzPct val="100000"/>
              <a:buChar char="•"/>
            </a:pPr>
            <a:r>
              <a:rPr lang="en-US" sz="1150" dirty="0">
                <a:solidFill>
                  <a:schemeClr val="tx1"/>
                </a:solidFill>
              </a:rPr>
              <a:t>Bảo trì, sửa chữa, cải tạo hệ thống kỹ thuật công trình</a:t>
            </a:r>
            <a:endParaRPr lang="en-US" sz="11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TỔNG QUAN DOANH NGHIỆP</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Tầm nhìn • Sứ mệnh • Giá trị cốt lõi</a:t>
            </a:r>
            <a:endParaRPr lang="en-US" sz="2200" dirty="0"/>
          </a:p>
        </p:txBody>
      </p:sp>
      <p:sp>
        <p:nvSpPr>
          <p:cNvPr id="4" name="Shape 2"/>
          <p:cNvSpPr/>
          <p:nvPr/>
        </p:nvSpPr>
        <p:spPr>
          <a:xfrm>
            <a:off x="502920" y="1508760"/>
            <a:ext cx="3186684" cy="1828800"/>
          </a:xfrm>
          <a:prstGeom prst="roundRect">
            <a:avLst>
              <a:gd name="adj" fmla="val 4000"/>
            </a:avLst>
          </a:prstGeom>
          <a:solidFill>
            <a:schemeClr val="tx2"/>
          </a:solidFill>
          <a:ln w="12700">
            <a:solidFill>
              <a:schemeClr val="tx2"/>
            </a:solidFill>
            <a:prstDash val="solid"/>
          </a:ln>
        </p:spPr>
      </p:sp>
      <p:sp>
        <p:nvSpPr>
          <p:cNvPr id="5" name="Text 3"/>
          <p:cNvSpPr txBox="1"/>
          <p:nvPr/>
        </p:nvSpPr>
        <p:spPr>
          <a:xfrm>
            <a:off x="731520" y="1645920"/>
            <a:ext cx="2729484"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Arial" pitchFamily="34" charset="0"/>
                <a:ea typeface="Arial" pitchFamily="34" charset="-122"/>
                <a:cs typeface="Arial" pitchFamily="34" charset="-120"/>
              </a:rPr>
              <a:t>TẦM NHÌN</a:t>
            </a:r>
            <a:endParaRPr lang="en-US" sz="1300" dirty="0"/>
          </a:p>
        </p:txBody>
      </p:sp>
      <p:sp>
        <p:nvSpPr>
          <p:cNvPr id="6" name="Text 4"/>
          <p:cNvSpPr txBox="1"/>
          <p:nvPr/>
        </p:nvSpPr>
        <p:spPr>
          <a:xfrm>
            <a:off x="731520" y="2011680"/>
            <a:ext cx="2729484" cy="1234440"/>
          </a:xfrm>
          <a:prstGeom prst="rect">
            <a:avLst/>
          </a:prstGeom>
          <a:noFill/>
          <a:ln/>
        </p:spPr>
        <p:txBody>
          <a:bodyPr wrap="square" lIns="0" tIns="0" rIns="0" bIns="0" rtlCol="0" anchor="t"/>
          <a:lstStyle/>
          <a:p>
            <a:pPr algn="l" indent="0" marL="0">
              <a:lnSpc>
                <a:spcPct val="110000"/>
              </a:lnSpc>
              <a:spcAft>
                <a:spcPts val="600"/>
              </a:spcAft>
              <a:buNone/>
            </a:pPr>
            <a:r>
              <a:rPr lang="en-US" sz="1050" dirty="0">
                <a:solidFill>
                  <a:schemeClr val="bg1"/>
                </a:solidFill>
              </a:rPr>
              <a:t>Trở thành nhà thầu cơ điện (M&amp;E) được các tổng thầu, chủ đầu tư nhà máy và khách hàng dân dụng tin cậy tại khu vực Bắc Trung Bộ và miền Bắc.</a:t>
            </a:r>
            <a:endParaRPr lang="en-US" sz="1050" dirty="0"/>
          </a:p>
        </p:txBody>
      </p:sp>
      <p:sp>
        <p:nvSpPr>
          <p:cNvPr id="7" name="Shape 5"/>
          <p:cNvSpPr/>
          <p:nvPr/>
        </p:nvSpPr>
        <p:spPr>
          <a:xfrm>
            <a:off x="3872484" y="1508760"/>
            <a:ext cx="3186684" cy="1828800"/>
          </a:xfrm>
          <a:prstGeom prst="roundRect">
            <a:avLst>
              <a:gd name="adj" fmla="val 4000"/>
            </a:avLst>
          </a:prstGeom>
          <a:solidFill>
            <a:schemeClr val="tx2"/>
          </a:solidFill>
          <a:ln w="12700">
            <a:solidFill>
              <a:schemeClr val="tx2"/>
            </a:solidFill>
            <a:prstDash val="solid"/>
          </a:ln>
        </p:spPr>
      </p:sp>
      <p:sp>
        <p:nvSpPr>
          <p:cNvPr id="8" name="Text 6"/>
          <p:cNvSpPr txBox="1"/>
          <p:nvPr/>
        </p:nvSpPr>
        <p:spPr>
          <a:xfrm>
            <a:off x="4101084" y="1645920"/>
            <a:ext cx="2729484" cy="320040"/>
          </a:xfrm>
          <a:prstGeom prst="rect">
            <a:avLst/>
          </a:prstGeom>
          <a:noFill/>
          <a:ln/>
        </p:spPr>
        <p:txBody>
          <a:bodyPr wrap="square" lIns="0" tIns="0" rIns="0" bIns="0" rtlCol="0" anchor="ctr"/>
          <a:lstStyle/>
          <a:p>
            <a:pPr indent="0" marL="0">
              <a:buNone/>
            </a:pPr>
            <a:r>
              <a:rPr lang="en-US" sz="1300" b="1" spc="200" kern="0" dirty="0">
                <a:solidFill>
                  <a:schemeClr val="accent1"/>
                </a:solidFill>
                <a:latin typeface="Arial" pitchFamily="34" charset="0"/>
                <a:ea typeface="Arial" pitchFamily="34" charset="-122"/>
                <a:cs typeface="Arial" pitchFamily="34" charset="-120"/>
              </a:rPr>
              <a:t>SỨ MỆNH</a:t>
            </a:r>
            <a:endParaRPr lang="en-US" sz="1300" dirty="0"/>
          </a:p>
        </p:txBody>
      </p:sp>
      <p:sp>
        <p:nvSpPr>
          <p:cNvPr id="9" name="Text 7"/>
          <p:cNvSpPr txBox="1"/>
          <p:nvPr/>
        </p:nvSpPr>
        <p:spPr>
          <a:xfrm>
            <a:off x="4101084" y="2011680"/>
            <a:ext cx="2729484" cy="1234440"/>
          </a:xfrm>
          <a:prstGeom prst="rect">
            <a:avLst/>
          </a:prstGeom>
          <a:noFill/>
          <a:ln/>
        </p:spPr>
        <p:txBody>
          <a:bodyPr wrap="square" lIns="0" tIns="0" rIns="0" bIns="0" rtlCol="0" anchor="t"/>
          <a:lstStyle/>
          <a:p>
            <a:pPr algn="l" indent="0" marL="0">
              <a:lnSpc>
                <a:spcPct val="110000"/>
              </a:lnSpc>
              <a:spcAft>
                <a:spcPts val="600"/>
              </a:spcAft>
              <a:buNone/>
            </a:pPr>
            <a:r>
              <a:rPr lang="en-US" sz="1050" dirty="0">
                <a:solidFill>
                  <a:schemeClr val="bg1"/>
                </a:solidFill>
              </a:rPr>
              <a:t>Mang đến hệ thống điện, nước và đường ống công nghệ an toàn, bền bỉ, vận hành ổn định; giúp khách hàng yên tâm sản xuất và sinh hoạt.</a:t>
            </a:r>
            <a:endParaRPr lang="en-US" sz="1050" dirty="0"/>
          </a:p>
        </p:txBody>
      </p:sp>
      <p:sp>
        <p:nvSpPr>
          <p:cNvPr id="10" name="Text 8"/>
          <p:cNvSpPr txBox="1"/>
          <p:nvPr/>
        </p:nvSpPr>
        <p:spPr>
          <a:xfrm>
            <a:off x="502920" y="361188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GIÁ TRỊ CỐT LÕI</a:t>
            </a:r>
            <a:endParaRPr lang="en-US" sz="900" dirty="0"/>
          </a:p>
        </p:txBody>
      </p:sp>
      <p:sp>
        <p:nvSpPr>
          <p:cNvPr id="11" name="Shape 9"/>
          <p:cNvSpPr/>
          <p:nvPr/>
        </p:nvSpPr>
        <p:spPr>
          <a:xfrm>
            <a:off x="502920" y="3931920"/>
            <a:ext cx="3186684" cy="1097280"/>
          </a:xfrm>
          <a:prstGeom prst="roundRect">
            <a:avLst>
              <a:gd name="adj" fmla="val 6667"/>
            </a:avLst>
          </a:prstGeom>
          <a:solidFill>
            <a:schemeClr val="bg2"/>
          </a:solidFill>
          <a:ln w="12700">
            <a:solidFill>
              <a:schemeClr val="bg2"/>
            </a:solidFill>
            <a:prstDash val="solid"/>
          </a:ln>
        </p:spPr>
      </p:sp>
      <p:sp>
        <p:nvSpPr>
          <p:cNvPr id="12" name="Shape 10"/>
          <p:cNvSpPr/>
          <p:nvPr/>
        </p:nvSpPr>
        <p:spPr>
          <a:xfrm>
            <a:off x="640080" y="406908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640080" y="40690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4" name="Text 12"/>
          <p:cNvSpPr txBox="1"/>
          <p:nvPr/>
        </p:nvSpPr>
        <p:spPr>
          <a:xfrm>
            <a:off x="1097280" y="40507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UY TÍN</a:t>
            </a:r>
            <a:endParaRPr lang="en-US" sz="1050" dirty="0"/>
          </a:p>
        </p:txBody>
      </p:sp>
      <p:sp>
        <p:nvSpPr>
          <p:cNvPr id="15" name="Text 13"/>
          <p:cNvSpPr txBox="1"/>
          <p:nvPr/>
        </p:nvSpPr>
        <p:spPr>
          <a:xfrm>
            <a:off x="1097280" y="4480560"/>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Giữ đúng cam kết về phạm vi, khối lượng, tiến độ và chi phí.</a:t>
            </a:r>
            <a:endParaRPr lang="en-US" sz="950" dirty="0"/>
          </a:p>
        </p:txBody>
      </p:sp>
      <p:sp>
        <p:nvSpPr>
          <p:cNvPr id="16" name="Shape 14"/>
          <p:cNvSpPr/>
          <p:nvPr/>
        </p:nvSpPr>
        <p:spPr>
          <a:xfrm>
            <a:off x="3872484" y="3931920"/>
            <a:ext cx="3186684" cy="1097280"/>
          </a:xfrm>
          <a:prstGeom prst="roundRect">
            <a:avLst>
              <a:gd name="adj" fmla="val 6667"/>
            </a:avLst>
          </a:prstGeom>
          <a:solidFill>
            <a:schemeClr val="bg2"/>
          </a:solidFill>
          <a:ln w="12700">
            <a:solidFill>
              <a:schemeClr val="bg2"/>
            </a:solidFill>
            <a:prstDash val="solid"/>
          </a:ln>
        </p:spPr>
      </p:sp>
      <p:sp>
        <p:nvSpPr>
          <p:cNvPr id="17" name="Shape 15"/>
          <p:cNvSpPr/>
          <p:nvPr/>
        </p:nvSpPr>
        <p:spPr>
          <a:xfrm>
            <a:off x="4009644" y="4069080"/>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4009644" y="40690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9" name="Text 17"/>
          <p:cNvSpPr txBox="1"/>
          <p:nvPr/>
        </p:nvSpPr>
        <p:spPr>
          <a:xfrm>
            <a:off x="4466844" y="40507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CHẤT LƯỢNG</a:t>
            </a:r>
            <a:endParaRPr lang="en-US" sz="1050" dirty="0"/>
          </a:p>
        </p:txBody>
      </p:sp>
      <p:sp>
        <p:nvSpPr>
          <p:cNvPr id="20" name="Text 18"/>
          <p:cNvSpPr txBox="1"/>
          <p:nvPr/>
        </p:nvSpPr>
        <p:spPr>
          <a:xfrm>
            <a:off x="4466844" y="4480560"/>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Thi công đúng bản vẽ, đúng vật tư; kiểm tra, thử nghiệm trước nghiệm thu.</a:t>
            </a:r>
            <a:endParaRPr lang="en-US" sz="950" dirty="0"/>
          </a:p>
        </p:txBody>
      </p:sp>
      <p:sp>
        <p:nvSpPr>
          <p:cNvPr id="21" name="Shape 19"/>
          <p:cNvSpPr/>
          <p:nvPr/>
        </p:nvSpPr>
        <p:spPr>
          <a:xfrm>
            <a:off x="502920" y="5193792"/>
            <a:ext cx="3186684" cy="1097280"/>
          </a:xfrm>
          <a:prstGeom prst="roundRect">
            <a:avLst>
              <a:gd name="adj" fmla="val 6667"/>
            </a:avLst>
          </a:prstGeom>
          <a:solidFill>
            <a:schemeClr val="bg2"/>
          </a:solidFill>
          <a:ln w="12700">
            <a:solidFill>
              <a:schemeClr val="bg2"/>
            </a:solidFill>
            <a:prstDash val="solid"/>
          </a:ln>
        </p:spPr>
      </p:sp>
      <p:sp>
        <p:nvSpPr>
          <p:cNvPr id="22" name="Shape 20"/>
          <p:cNvSpPr/>
          <p:nvPr/>
        </p:nvSpPr>
        <p:spPr>
          <a:xfrm>
            <a:off x="640080" y="5330952"/>
            <a:ext cx="365760" cy="365760"/>
          </a:xfrm>
          <a:prstGeom prst="ellipse">
            <a:avLst/>
          </a:prstGeom>
          <a:solidFill>
            <a:schemeClr val="accent1"/>
          </a:solidFill>
          <a:ln w="12700">
            <a:solidFill>
              <a:schemeClr val="accent1"/>
            </a:solidFill>
            <a:prstDash val="solid"/>
          </a:ln>
        </p:spPr>
      </p:sp>
      <p:sp>
        <p:nvSpPr>
          <p:cNvPr id="23" name="Text 21"/>
          <p:cNvSpPr txBox="1"/>
          <p:nvPr/>
        </p:nvSpPr>
        <p:spPr>
          <a:xfrm>
            <a:off x="640080" y="5330952"/>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4" name="Text 22"/>
          <p:cNvSpPr txBox="1"/>
          <p:nvPr/>
        </p:nvSpPr>
        <p:spPr>
          <a:xfrm>
            <a:off x="1097280" y="5312664"/>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AN TOÀN</a:t>
            </a:r>
            <a:endParaRPr lang="en-US" sz="1050" dirty="0"/>
          </a:p>
        </p:txBody>
      </p:sp>
      <p:sp>
        <p:nvSpPr>
          <p:cNvPr id="25" name="Text 23"/>
          <p:cNvSpPr txBox="1"/>
          <p:nvPr/>
        </p:nvSpPr>
        <p:spPr>
          <a:xfrm>
            <a:off x="1097280" y="5742432"/>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Bảo hộ đầy đủ, kiểm soát làm việc trên cao và điện thi công.</a:t>
            </a:r>
            <a:endParaRPr lang="en-US" sz="950" dirty="0"/>
          </a:p>
        </p:txBody>
      </p:sp>
      <p:sp>
        <p:nvSpPr>
          <p:cNvPr id="26" name="Shape 24"/>
          <p:cNvSpPr/>
          <p:nvPr/>
        </p:nvSpPr>
        <p:spPr>
          <a:xfrm>
            <a:off x="3872484" y="5193792"/>
            <a:ext cx="3186684" cy="1097280"/>
          </a:xfrm>
          <a:prstGeom prst="roundRect">
            <a:avLst>
              <a:gd name="adj" fmla="val 6667"/>
            </a:avLst>
          </a:prstGeom>
          <a:solidFill>
            <a:schemeClr val="bg2"/>
          </a:solidFill>
          <a:ln w="12700">
            <a:solidFill>
              <a:schemeClr val="bg2"/>
            </a:solidFill>
            <a:prstDash val="solid"/>
          </a:ln>
        </p:spPr>
      </p:sp>
      <p:sp>
        <p:nvSpPr>
          <p:cNvPr id="27" name="Shape 25"/>
          <p:cNvSpPr/>
          <p:nvPr/>
        </p:nvSpPr>
        <p:spPr>
          <a:xfrm>
            <a:off x="4009644" y="5330952"/>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4009644" y="5330952"/>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9" name="Text 27"/>
          <p:cNvSpPr txBox="1"/>
          <p:nvPr/>
        </p:nvSpPr>
        <p:spPr>
          <a:xfrm>
            <a:off x="4466844" y="5312664"/>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TIẾN ĐỘ</a:t>
            </a:r>
            <a:endParaRPr lang="en-US" sz="1050" dirty="0"/>
          </a:p>
        </p:txBody>
      </p:sp>
      <p:sp>
        <p:nvSpPr>
          <p:cNvPr id="30" name="Text 28"/>
          <p:cNvSpPr txBox="1"/>
          <p:nvPr/>
        </p:nvSpPr>
        <p:spPr>
          <a:xfrm>
            <a:off x="4466844" y="5742432"/>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Lập kế hoạch, bố trí đủ nhân lực, báo cáo hiện trường hằng ngày.</a:t>
            </a:r>
            <a:endParaRPr lang="en-US" sz="950" dirty="0"/>
          </a:p>
        </p:txBody>
      </p:sp>
      <p:sp>
        <p:nvSpPr>
          <p:cNvPr id="31" name="Shape 29"/>
          <p:cNvSpPr/>
          <p:nvPr/>
        </p:nvSpPr>
        <p:spPr>
          <a:xfrm>
            <a:off x="502920" y="6455664"/>
            <a:ext cx="3186684" cy="1097280"/>
          </a:xfrm>
          <a:prstGeom prst="roundRect">
            <a:avLst>
              <a:gd name="adj" fmla="val 6667"/>
            </a:avLst>
          </a:prstGeom>
          <a:solidFill>
            <a:schemeClr val="bg2"/>
          </a:solidFill>
          <a:ln w="12700">
            <a:solidFill>
              <a:schemeClr val="bg2"/>
            </a:solidFill>
            <a:prstDash val="solid"/>
          </a:ln>
        </p:spPr>
      </p:sp>
      <p:sp>
        <p:nvSpPr>
          <p:cNvPr id="32" name="Shape 30"/>
          <p:cNvSpPr/>
          <p:nvPr/>
        </p:nvSpPr>
        <p:spPr>
          <a:xfrm>
            <a:off x="640080" y="6592824"/>
            <a:ext cx="365760" cy="365760"/>
          </a:xfrm>
          <a:prstGeom prst="ellipse">
            <a:avLst/>
          </a:prstGeom>
          <a:solidFill>
            <a:schemeClr val="accent1"/>
          </a:solidFill>
          <a:ln w="12700">
            <a:solidFill>
              <a:schemeClr val="accent1"/>
            </a:solidFill>
            <a:prstDash val="solid"/>
          </a:ln>
        </p:spPr>
      </p:sp>
      <p:sp>
        <p:nvSpPr>
          <p:cNvPr id="33" name="Text 31"/>
          <p:cNvSpPr txBox="1"/>
          <p:nvPr/>
        </p:nvSpPr>
        <p:spPr>
          <a:xfrm>
            <a:off x="640080" y="659282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34" name="Text 32"/>
          <p:cNvSpPr txBox="1"/>
          <p:nvPr/>
        </p:nvSpPr>
        <p:spPr>
          <a:xfrm>
            <a:off x="1097280" y="657453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MINH BẠCH</a:t>
            </a:r>
            <a:endParaRPr lang="en-US" sz="1050" dirty="0"/>
          </a:p>
        </p:txBody>
      </p:sp>
      <p:sp>
        <p:nvSpPr>
          <p:cNvPr id="35" name="Text 33"/>
          <p:cNvSpPr txBox="1"/>
          <p:nvPr/>
        </p:nvSpPr>
        <p:spPr>
          <a:xfrm>
            <a:off x="1097280" y="7004304"/>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Ảnh hiện trường có thời gian, vị trí; hồ sơ rõ ràng, dễ kiểm tra.</a:t>
            </a:r>
            <a:endParaRPr lang="en-US" sz="950" dirty="0"/>
          </a:p>
        </p:txBody>
      </p:sp>
      <p:sp>
        <p:nvSpPr>
          <p:cNvPr id="36" name="Shape 34"/>
          <p:cNvSpPr/>
          <p:nvPr/>
        </p:nvSpPr>
        <p:spPr>
          <a:xfrm>
            <a:off x="3872484" y="6455664"/>
            <a:ext cx="3186684" cy="1097280"/>
          </a:xfrm>
          <a:prstGeom prst="roundRect">
            <a:avLst>
              <a:gd name="adj" fmla="val 6667"/>
            </a:avLst>
          </a:prstGeom>
          <a:solidFill>
            <a:schemeClr val="bg2"/>
          </a:solidFill>
          <a:ln w="12700">
            <a:solidFill>
              <a:schemeClr val="bg2"/>
            </a:solidFill>
            <a:prstDash val="solid"/>
          </a:ln>
        </p:spPr>
      </p:sp>
      <p:sp>
        <p:nvSpPr>
          <p:cNvPr id="37" name="Shape 35"/>
          <p:cNvSpPr/>
          <p:nvPr/>
        </p:nvSpPr>
        <p:spPr>
          <a:xfrm>
            <a:off x="4009644" y="6592824"/>
            <a:ext cx="365760" cy="365760"/>
          </a:xfrm>
          <a:prstGeom prst="ellipse">
            <a:avLst/>
          </a:prstGeom>
          <a:solidFill>
            <a:schemeClr val="accent1"/>
          </a:solidFill>
          <a:ln w="12700">
            <a:solidFill>
              <a:schemeClr val="accent1"/>
            </a:solidFill>
            <a:prstDash val="solid"/>
          </a:ln>
        </p:spPr>
      </p:sp>
      <p:sp>
        <p:nvSpPr>
          <p:cNvPr id="38" name="Text 36"/>
          <p:cNvSpPr txBox="1"/>
          <p:nvPr/>
        </p:nvSpPr>
        <p:spPr>
          <a:xfrm>
            <a:off x="4009644" y="659282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39" name="Text 37"/>
          <p:cNvSpPr txBox="1"/>
          <p:nvPr/>
        </p:nvSpPr>
        <p:spPr>
          <a:xfrm>
            <a:off x="4466844" y="657453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TRÁCH NHIỆM</a:t>
            </a:r>
            <a:endParaRPr lang="en-US" sz="1050" dirty="0"/>
          </a:p>
        </p:txBody>
      </p:sp>
      <p:sp>
        <p:nvSpPr>
          <p:cNvPr id="40" name="Text 38"/>
          <p:cNvSpPr txBox="1"/>
          <p:nvPr/>
        </p:nvSpPr>
        <p:spPr>
          <a:xfrm>
            <a:off x="4466844" y="7004304"/>
            <a:ext cx="2455164" cy="4572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Đồng hành cùng khách hàng từ khảo sát đến bảo hành, bảo trì.</a:t>
            </a:r>
            <a:endParaRPr lang="en-US" sz="950" dirty="0"/>
          </a:p>
        </p:txBody>
      </p:sp>
      <p:pic>
        <p:nvPicPr>
          <p:cNvPr id="41" name="photo img46_c.jpg" descr="Tập kết thiết bị tại nhà máy – Thành phố Huế (09/2026)">    </p:cNvPr>
          <p:cNvPicPr>
            <a:picLocks noChangeAspect="1"/>
          </p:cNvPicPr>
          <p:nvPr/>
        </p:nvPicPr>
        <p:blipFill>
          <a:blip r:embed="rId1"/>
          <a:stretch>
            <a:fillRect/>
          </a:stretch>
        </p:blipFill>
        <p:spPr>
          <a:xfrm>
            <a:off x="502920" y="7818120"/>
            <a:ext cx="6556248" cy="2057400"/>
          </a:xfrm>
          <a:prstGeom prst="rect">
            <a:avLst/>
          </a:prstGeom>
        </p:spPr>
      </p:pic>
      <p:sp>
        <p:nvSpPr>
          <p:cNvPr id="42" name="Text 39"/>
          <p:cNvSpPr txBox="1"/>
          <p:nvPr/>
        </p:nvSpPr>
        <p:spPr>
          <a:xfrm>
            <a:off x="502920" y="991209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Tập kết thiết bị tại nhà máy – Thành phố Huế (09/2026)</a:t>
            </a:r>
            <a:endParaRPr lang="en-US" sz="8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LĨNH VỰC HOẠT ĐỘNG</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Các nhóm giải pháp chính của BLT</a:t>
            </a:r>
            <a:endParaRPr lang="en-US" sz="2200" dirty="0"/>
          </a:p>
        </p:txBody>
      </p:sp>
      <p:sp>
        <p:nvSpPr>
          <p:cNvPr id="4" name="Shape 2"/>
          <p:cNvSpPr/>
          <p:nvPr/>
        </p:nvSpPr>
        <p:spPr>
          <a:xfrm>
            <a:off x="502920" y="1508760"/>
            <a:ext cx="3163824" cy="4114800"/>
          </a:xfrm>
          <a:prstGeom prst="roundRect">
            <a:avLst>
              <a:gd name="adj" fmla="val 2312"/>
            </a:avLst>
          </a:prstGeom>
          <a:solidFill>
            <a:schemeClr val="bg2"/>
          </a:solidFill>
          <a:ln w="12700">
            <a:solidFill>
              <a:schemeClr val="bg2"/>
            </a:solidFill>
            <a:prstDash val="solid"/>
          </a:ln>
        </p:spPr>
      </p:sp>
      <p:pic>
        <p:nvPicPr>
          <p:cNvPr id="5" name="photo img14.jpg" descr="Ảnh hiện trường BLT">    </p:cNvPr>
          <p:cNvPicPr>
            <a:picLocks noChangeAspect="1"/>
          </p:cNvPicPr>
          <p:nvPr/>
        </p:nvPicPr>
        <p:blipFill>
          <a:blip r:embed="rId1"/>
          <a:stretch>
            <a:fillRect/>
          </a:stretch>
        </p:blipFill>
        <p:spPr>
          <a:xfrm>
            <a:off x="502920" y="1508760"/>
            <a:ext cx="3163824" cy="1691640"/>
          </a:xfrm>
          <a:prstGeom prst="rect">
            <a:avLst/>
          </a:prstGeom>
        </p:spPr>
      </p:pic>
      <p:sp>
        <p:nvSpPr>
          <p:cNvPr id="6" name="Shape 3"/>
          <p:cNvSpPr/>
          <p:nvPr/>
        </p:nvSpPr>
        <p:spPr>
          <a:xfrm>
            <a:off x="3044952" y="2990088"/>
            <a:ext cx="438912" cy="438912"/>
          </a:xfrm>
          <a:prstGeom prst="ellipse">
            <a:avLst/>
          </a:prstGeom>
          <a:solidFill>
            <a:schemeClr val="accent1"/>
          </a:solidFill>
          <a:ln w="12700">
            <a:solidFill>
              <a:schemeClr val="accent1"/>
            </a:solidFill>
            <a:prstDash val="solid"/>
          </a:ln>
        </p:spPr>
      </p:sp>
      <p:sp>
        <p:nvSpPr>
          <p:cNvPr id="7" name="Text 4"/>
          <p:cNvSpPr txBox="1"/>
          <p:nvPr/>
        </p:nvSpPr>
        <p:spPr>
          <a:xfrm>
            <a:off x="3044952" y="2990088"/>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01</a:t>
            </a:r>
            <a:endParaRPr lang="en-US" sz="1300" dirty="0"/>
          </a:p>
        </p:txBody>
      </p:sp>
      <p:sp>
        <p:nvSpPr>
          <p:cNvPr id="8" name="Text 5"/>
          <p:cNvSpPr txBox="1"/>
          <p:nvPr/>
        </p:nvSpPr>
        <p:spPr>
          <a:xfrm>
            <a:off x="685800" y="3520440"/>
            <a:ext cx="2798064" cy="32004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HỆ THỐNG ĐIỆN</a:t>
            </a:r>
            <a:endParaRPr lang="en-US" sz="1200" dirty="0"/>
          </a:p>
        </p:txBody>
      </p:sp>
      <p:sp>
        <p:nvSpPr>
          <p:cNvPr id="9" name="Text 6"/>
          <p:cNvSpPr txBox="1"/>
          <p:nvPr/>
        </p:nvSpPr>
        <p:spPr>
          <a:xfrm>
            <a:off x="685800" y="3931920"/>
            <a:ext cx="2798064" cy="155448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Điện động lực, điện chiếu sáng</a:t>
            </a:r>
            <a:endParaRPr lang="en-US" sz="1000" dirty="0"/>
          </a:p>
          <a:p>
            <a:pPr marL="152400" indent="-152400">
              <a:spcAft>
                <a:spcPts val="500"/>
              </a:spcAft>
              <a:buSzPct val="100000"/>
              <a:buChar char="•"/>
            </a:pPr>
            <a:r>
              <a:rPr lang="en-US" sz="1000" dirty="0">
                <a:solidFill>
                  <a:schemeClr val="tx1"/>
                </a:solidFill>
              </a:rPr>
              <a:t>Ống luồn dây, máng – thang cáp</a:t>
            </a:r>
            <a:endParaRPr lang="en-US" sz="1000" dirty="0"/>
          </a:p>
          <a:p>
            <a:pPr marL="152400" indent="-152400">
              <a:spcAft>
                <a:spcPts val="500"/>
              </a:spcAft>
              <a:buSzPct val="100000"/>
              <a:buChar char="•"/>
            </a:pPr>
            <a:r>
              <a:rPr lang="en-US" sz="1000" dirty="0">
                <a:solidFill>
                  <a:schemeClr val="tx1"/>
                </a:solidFill>
              </a:rPr>
              <a:t>Tủ điện, đấu nối thiết bị</a:t>
            </a:r>
            <a:endParaRPr lang="en-US" sz="1000" dirty="0"/>
          </a:p>
          <a:p>
            <a:pPr marL="152400" indent="-152400">
              <a:spcAft>
                <a:spcPts val="500"/>
              </a:spcAft>
              <a:buSzPct val="100000"/>
              <a:buChar char="•"/>
            </a:pPr>
            <a:r>
              <a:rPr lang="en-US" sz="1000" dirty="0">
                <a:solidFill>
                  <a:schemeClr val="tx1"/>
                </a:solidFill>
              </a:rPr>
              <a:t>Sửa chữa, cải tạo, nâng cấp</a:t>
            </a:r>
            <a:endParaRPr lang="en-US" sz="1000" dirty="0"/>
          </a:p>
        </p:txBody>
      </p:sp>
      <p:sp>
        <p:nvSpPr>
          <p:cNvPr id="10" name="Shape 7"/>
          <p:cNvSpPr/>
          <p:nvPr/>
        </p:nvSpPr>
        <p:spPr>
          <a:xfrm>
            <a:off x="3895344" y="1508760"/>
            <a:ext cx="3163824" cy="4114800"/>
          </a:xfrm>
          <a:prstGeom prst="roundRect">
            <a:avLst>
              <a:gd name="adj" fmla="val 2312"/>
            </a:avLst>
          </a:prstGeom>
          <a:solidFill>
            <a:schemeClr val="bg2"/>
          </a:solidFill>
          <a:ln w="12700">
            <a:solidFill>
              <a:schemeClr val="bg2"/>
            </a:solidFill>
            <a:prstDash val="solid"/>
          </a:ln>
        </p:spPr>
      </p:sp>
      <p:pic>
        <p:nvPicPr>
          <p:cNvPr id="11" name="photo img38.jpg" descr="Ảnh hiện trường BLT">    </p:cNvPr>
          <p:cNvPicPr>
            <a:picLocks noChangeAspect="1"/>
          </p:cNvPicPr>
          <p:nvPr/>
        </p:nvPicPr>
        <p:blipFill>
          <a:blip r:embed="rId2"/>
          <a:stretch>
            <a:fillRect/>
          </a:stretch>
        </p:blipFill>
        <p:spPr>
          <a:xfrm>
            <a:off x="3895344" y="1508760"/>
            <a:ext cx="3163824" cy="1691640"/>
          </a:xfrm>
          <a:prstGeom prst="rect">
            <a:avLst/>
          </a:prstGeom>
        </p:spPr>
      </p:pic>
      <p:sp>
        <p:nvSpPr>
          <p:cNvPr id="12" name="Shape 8"/>
          <p:cNvSpPr/>
          <p:nvPr/>
        </p:nvSpPr>
        <p:spPr>
          <a:xfrm>
            <a:off x="6437376" y="2990088"/>
            <a:ext cx="438912" cy="438912"/>
          </a:xfrm>
          <a:prstGeom prst="ellipse">
            <a:avLst/>
          </a:prstGeom>
          <a:solidFill>
            <a:schemeClr val="accent1"/>
          </a:solidFill>
          <a:ln w="12700">
            <a:solidFill>
              <a:schemeClr val="accent1"/>
            </a:solidFill>
            <a:prstDash val="solid"/>
          </a:ln>
        </p:spPr>
      </p:sp>
      <p:sp>
        <p:nvSpPr>
          <p:cNvPr id="13" name="Text 9"/>
          <p:cNvSpPr txBox="1"/>
          <p:nvPr/>
        </p:nvSpPr>
        <p:spPr>
          <a:xfrm>
            <a:off x="6437376" y="2990088"/>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02</a:t>
            </a:r>
            <a:endParaRPr lang="en-US" sz="1300" dirty="0"/>
          </a:p>
        </p:txBody>
      </p:sp>
      <p:sp>
        <p:nvSpPr>
          <p:cNvPr id="14" name="Text 10"/>
          <p:cNvSpPr txBox="1"/>
          <p:nvPr/>
        </p:nvSpPr>
        <p:spPr>
          <a:xfrm>
            <a:off x="4078224" y="3520440"/>
            <a:ext cx="2798064" cy="32004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CẤP THOÁT NƯỚC</a:t>
            </a:r>
            <a:endParaRPr lang="en-US" sz="1200" dirty="0"/>
          </a:p>
        </p:txBody>
      </p:sp>
      <p:sp>
        <p:nvSpPr>
          <p:cNvPr id="15" name="Text 11"/>
          <p:cNvSpPr txBox="1"/>
          <p:nvPr/>
        </p:nvSpPr>
        <p:spPr>
          <a:xfrm>
            <a:off x="4078224" y="3931920"/>
            <a:ext cx="2798064" cy="155448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Cấp nước ống PPR, uPVC, HDPE</a:t>
            </a:r>
            <a:endParaRPr lang="en-US" sz="1000" dirty="0"/>
          </a:p>
          <a:p>
            <a:pPr marL="152400" indent="-152400">
              <a:spcAft>
                <a:spcPts val="500"/>
              </a:spcAft>
              <a:buSzPct val="100000"/>
              <a:buChar char="•"/>
            </a:pPr>
            <a:r>
              <a:rPr lang="en-US" sz="1000" dirty="0">
                <a:solidFill>
                  <a:schemeClr val="tx1"/>
                </a:solidFill>
              </a:rPr>
              <a:t>Thoát nước, ống đứng, thông hơi</a:t>
            </a:r>
            <a:endParaRPr lang="en-US" sz="1000" dirty="0"/>
          </a:p>
          <a:p>
            <a:pPr marL="152400" indent="-152400">
              <a:spcAft>
                <a:spcPts val="500"/>
              </a:spcAft>
              <a:buSzPct val="100000"/>
              <a:buChar char="•"/>
            </a:pPr>
            <a:r>
              <a:rPr lang="en-US" sz="1000" dirty="0">
                <a:solidFill>
                  <a:schemeClr val="tx1"/>
                </a:solidFill>
              </a:rPr>
              <a:t>Van, phụ kiện, thiết bị vệ sinh</a:t>
            </a:r>
            <a:endParaRPr lang="en-US" sz="1000" dirty="0"/>
          </a:p>
          <a:p>
            <a:pPr marL="152400" indent="-152400">
              <a:spcAft>
                <a:spcPts val="500"/>
              </a:spcAft>
              <a:buSzPct val="100000"/>
              <a:buChar char="•"/>
            </a:pPr>
            <a:r>
              <a:rPr lang="en-US" sz="1000" dirty="0">
                <a:solidFill>
                  <a:schemeClr val="tx1"/>
                </a:solidFill>
              </a:rPr>
              <a:t>Thử áp lực, súc rửa đường ống</a:t>
            </a:r>
            <a:endParaRPr lang="en-US" sz="1000" dirty="0"/>
          </a:p>
        </p:txBody>
      </p:sp>
      <p:sp>
        <p:nvSpPr>
          <p:cNvPr id="16" name="Shape 12"/>
          <p:cNvSpPr/>
          <p:nvPr/>
        </p:nvSpPr>
        <p:spPr>
          <a:xfrm>
            <a:off x="502920" y="5806440"/>
            <a:ext cx="3163824" cy="4114800"/>
          </a:xfrm>
          <a:prstGeom prst="roundRect">
            <a:avLst>
              <a:gd name="adj" fmla="val 2312"/>
            </a:avLst>
          </a:prstGeom>
          <a:solidFill>
            <a:schemeClr val="bg2"/>
          </a:solidFill>
          <a:ln w="12700">
            <a:solidFill>
              <a:schemeClr val="bg2"/>
            </a:solidFill>
            <a:prstDash val="solid"/>
          </a:ln>
        </p:spPr>
      </p:sp>
      <p:pic>
        <p:nvPicPr>
          <p:cNvPr id="17" name="photo img24.jpg" descr="Ảnh hiện trường BLT">    </p:cNvPr>
          <p:cNvPicPr>
            <a:picLocks noChangeAspect="1"/>
          </p:cNvPicPr>
          <p:nvPr/>
        </p:nvPicPr>
        <p:blipFill>
          <a:blip r:embed="rId3"/>
          <a:stretch>
            <a:fillRect/>
          </a:stretch>
        </p:blipFill>
        <p:spPr>
          <a:xfrm>
            <a:off x="502920" y="5806440"/>
            <a:ext cx="3163824" cy="1691640"/>
          </a:xfrm>
          <a:prstGeom prst="rect">
            <a:avLst/>
          </a:prstGeom>
        </p:spPr>
      </p:pic>
      <p:sp>
        <p:nvSpPr>
          <p:cNvPr id="18" name="Shape 13"/>
          <p:cNvSpPr/>
          <p:nvPr/>
        </p:nvSpPr>
        <p:spPr>
          <a:xfrm>
            <a:off x="3044952" y="7287768"/>
            <a:ext cx="438912" cy="438912"/>
          </a:xfrm>
          <a:prstGeom prst="ellipse">
            <a:avLst/>
          </a:prstGeom>
          <a:solidFill>
            <a:schemeClr val="accent1"/>
          </a:solidFill>
          <a:ln w="12700">
            <a:solidFill>
              <a:schemeClr val="accent1"/>
            </a:solidFill>
            <a:prstDash val="solid"/>
          </a:ln>
        </p:spPr>
      </p:sp>
      <p:sp>
        <p:nvSpPr>
          <p:cNvPr id="19" name="Text 14"/>
          <p:cNvSpPr txBox="1"/>
          <p:nvPr/>
        </p:nvSpPr>
        <p:spPr>
          <a:xfrm>
            <a:off x="3044952" y="7287768"/>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03</a:t>
            </a:r>
            <a:endParaRPr lang="en-US" sz="1300" dirty="0"/>
          </a:p>
        </p:txBody>
      </p:sp>
      <p:sp>
        <p:nvSpPr>
          <p:cNvPr id="20" name="Text 15"/>
          <p:cNvSpPr txBox="1"/>
          <p:nvPr/>
        </p:nvSpPr>
        <p:spPr>
          <a:xfrm>
            <a:off x="685800" y="7818120"/>
            <a:ext cx="2798064" cy="32004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HÚT SƯƠNG DẦU – XỬ LÝ KHÍ</a:t>
            </a:r>
            <a:endParaRPr lang="en-US" sz="1200" dirty="0"/>
          </a:p>
        </p:txBody>
      </p:sp>
      <p:sp>
        <p:nvSpPr>
          <p:cNvPr id="21" name="Text 16"/>
          <p:cNvSpPr txBox="1"/>
          <p:nvPr/>
        </p:nvSpPr>
        <p:spPr>
          <a:xfrm>
            <a:off x="685800" y="8229600"/>
            <a:ext cx="2798064" cy="155448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Tuyến ống hút cho máy CNC</a:t>
            </a:r>
            <a:endParaRPr lang="en-US" sz="1000" dirty="0"/>
          </a:p>
          <a:p>
            <a:pPr marL="152400" indent="-152400">
              <a:spcAft>
                <a:spcPts val="500"/>
              </a:spcAft>
              <a:buSzPct val="100000"/>
              <a:buChar char="•"/>
            </a:pPr>
            <a:r>
              <a:rPr lang="en-US" sz="1000" dirty="0">
                <a:solidFill>
                  <a:schemeClr val="tx1"/>
                </a:solidFill>
              </a:rPr>
              <a:t>Ống mềm, co, chạc, mối nối kín</a:t>
            </a:r>
            <a:endParaRPr lang="en-US" sz="1000" dirty="0"/>
          </a:p>
          <a:p>
            <a:pPr marL="152400" indent="-152400">
              <a:spcAft>
                <a:spcPts val="500"/>
              </a:spcAft>
              <a:buSzPct val="100000"/>
              <a:buChar char="•"/>
            </a:pPr>
            <a:r>
              <a:rPr lang="en-US" sz="1000" dirty="0">
                <a:solidFill>
                  <a:schemeClr val="tx1"/>
                </a:solidFill>
              </a:rPr>
              <a:t>Lắp máy lọc sương dầu, giá đỡ</a:t>
            </a:r>
            <a:endParaRPr lang="en-US" sz="1000" dirty="0"/>
          </a:p>
          <a:p>
            <a:pPr marL="152400" indent="-152400">
              <a:spcAft>
                <a:spcPts val="500"/>
              </a:spcAft>
              <a:buSzPct val="100000"/>
              <a:buChar char="•"/>
            </a:pPr>
            <a:r>
              <a:rPr lang="en-US" sz="1000" dirty="0">
                <a:solidFill>
                  <a:schemeClr val="tx1"/>
                </a:solidFill>
              </a:rPr>
              <a:t>Điện cấp nguồn cho máy lọc</a:t>
            </a:r>
            <a:endParaRPr lang="en-US" sz="1000" dirty="0"/>
          </a:p>
        </p:txBody>
      </p:sp>
      <p:sp>
        <p:nvSpPr>
          <p:cNvPr id="22" name="Shape 17"/>
          <p:cNvSpPr/>
          <p:nvPr/>
        </p:nvSpPr>
        <p:spPr>
          <a:xfrm>
            <a:off x="3895344" y="5806440"/>
            <a:ext cx="3163824" cy="4114800"/>
          </a:xfrm>
          <a:prstGeom prst="roundRect">
            <a:avLst>
              <a:gd name="adj" fmla="val 2312"/>
            </a:avLst>
          </a:prstGeom>
          <a:solidFill>
            <a:schemeClr val="bg2"/>
          </a:solidFill>
          <a:ln w="12700">
            <a:solidFill>
              <a:schemeClr val="bg2"/>
            </a:solidFill>
            <a:prstDash val="solid"/>
          </a:ln>
        </p:spPr>
      </p:sp>
      <p:pic>
        <p:nvPicPr>
          <p:cNvPr id="23" name="photo img61.jpg" descr="Ảnh hiện trường BLT">    </p:cNvPr>
          <p:cNvPicPr>
            <a:picLocks noChangeAspect="1"/>
          </p:cNvPicPr>
          <p:nvPr/>
        </p:nvPicPr>
        <p:blipFill>
          <a:blip r:embed="rId4"/>
          <a:stretch>
            <a:fillRect/>
          </a:stretch>
        </p:blipFill>
        <p:spPr>
          <a:xfrm>
            <a:off x="3895344" y="5806440"/>
            <a:ext cx="3163824" cy="1691640"/>
          </a:xfrm>
          <a:prstGeom prst="rect">
            <a:avLst/>
          </a:prstGeom>
        </p:spPr>
      </p:pic>
      <p:sp>
        <p:nvSpPr>
          <p:cNvPr id="24" name="Shape 18"/>
          <p:cNvSpPr/>
          <p:nvPr/>
        </p:nvSpPr>
        <p:spPr>
          <a:xfrm>
            <a:off x="6437376" y="7287768"/>
            <a:ext cx="438912" cy="438912"/>
          </a:xfrm>
          <a:prstGeom prst="ellipse">
            <a:avLst/>
          </a:prstGeom>
          <a:solidFill>
            <a:schemeClr val="accent1"/>
          </a:solidFill>
          <a:ln w="12700">
            <a:solidFill>
              <a:schemeClr val="accent1"/>
            </a:solidFill>
            <a:prstDash val="solid"/>
          </a:ln>
        </p:spPr>
      </p:sp>
      <p:sp>
        <p:nvSpPr>
          <p:cNvPr id="25" name="Text 19"/>
          <p:cNvSpPr txBox="1"/>
          <p:nvPr/>
        </p:nvSpPr>
        <p:spPr>
          <a:xfrm>
            <a:off x="6437376" y="7287768"/>
            <a:ext cx="438912" cy="438912"/>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04</a:t>
            </a:r>
            <a:endParaRPr lang="en-US" sz="1300" dirty="0"/>
          </a:p>
        </p:txBody>
      </p:sp>
      <p:sp>
        <p:nvSpPr>
          <p:cNvPr id="26" name="Text 20"/>
          <p:cNvSpPr txBox="1"/>
          <p:nvPr/>
        </p:nvSpPr>
        <p:spPr>
          <a:xfrm>
            <a:off x="4078224" y="7818120"/>
            <a:ext cx="2798064" cy="320040"/>
          </a:xfrm>
          <a:prstGeom prst="rect">
            <a:avLst/>
          </a:prstGeom>
          <a:noFill/>
          <a:ln/>
        </p:spPr>
        <p:txBody>
          <a:bodyPr wrap="square" lIns="0" tIns="0" rIns="0" bIns="0" rtlCol="0" anchor="ctr"/>
          <a:lstStyle/>
          <a:p>
            <a:pPr indent="0" marL="0">
              <a:buNone/>
            </a:pPr>
            <a:r>
              <a:rPr lang="en-US" sz="1200" b="1" dirty="0">
                <a:solidFill>
                  <a:schemeClr val="tx2"/>
                </a:solidFill>
                <a:latin typeface="Arial" pitchFamily="34" charset="0"/>
                <a:ea typeface="Arial" pitchFamily="34" charset="-122"/>
                <a:cs typeface="Arial" pitchFamily="34" charset="-120"/>
              </a:rPr>
              <a:t>BƠM &amp; XỬ LÝ NƯỚC</a:t>
            </a:r>
            <a:endParaRPr lang="en-US" sz="1200" dirty="0"/>
          </a:p>
        </p:txBody>
      </p:sp>
      <p:sp>
        <p:nvSpPr>
          <p:cNvPr id="27" name="Text 21"/>
          <p:cNvSpPr txBox="1"/>
          <p:nvPr/>
        </p:nvSpPr>
        <p:spPr>
          <a:xfrm>
            <a:off x="4078224" y="8229600"/>
            <a:ext cx="2798064" cy="155448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Lắp đặt cụm bơm, cột lọc</a:t>
            </a:r>
            <a:endParaRPr lang="en-US" sz="1000" dirty="0"/>
          </a:p>
          <a:p>
            <a:pPr marL="152400" indent="-152400">
              <a:spcAft>
                <a:spcPts val="500"/>
              </a:spcAft>
              <a:buSzPct val="100000"/>
              <a:buChar char="•"/>
            </a:pPr>
            <a:r>
              <a:rPr lang="en-US" sz="1000" dirty="0">
                <a:solidFill>
                  <a:schemeClr val="tx1"/>
                </a:solidFill>
              </a:rPr>
              <a:t>Đường ống uPVC / nhựa công nghiệp</a:t>
            </a:r>
            <a:endParaRPr lang="en-US" sz="1000" dirty="0"/>
          </a:p>
          <a:p>
            <a:pPr marL="152400" indent="-152400">
              <a:spcAft>
                <a:spcPts val="500"/>
              </a:spcAft>
              <a:buSzPct val="100000"/>
              <a:buChar char="•"/>
            </a:pPr>
            <a:r>
              <a:rPr lang="en-US" sz="1000" dirty="0">
                <a:solidFill>
                  <a:schemeClr val="tx1"/>
                </a:solidFill>
              </a:rPr>
              <a:t>Van, đồng hồ áp, lưu lượng kế</a:t>
            </a:r>
            <a:endParaRPr lang="en-US" sz="1000" dirty="0"/>
          </a:p>
          <a:p>
            <a:pPr marL="152400" indent="-152400">
              <a:spcAft>
                <a:spcPts val="500"/>
              </a:spcAft>
              <a:buSzPct val="100000"/>
              <a:buChar char="•"/>
            </a:pPr>
            <a:r>
              <a:rPr lang="en-US" sz="1000" dirty="0">
                <a:solidFill>
                  <a:schemeClr val="tx1"/>
                </a:solidFill>
              </a:rPr>
              <a:t>Chạy thử, cân chỉnh, bàn giao</a:t>
            </a:r>
            <a:endParaRPr lang="en-US" sz="10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photo img11.jpg" descr="Ảnh hiện trường BLT">    </p:cNvPr>
          <p:cNvPicPr>
            <a:picLocks noChangeAspect="1"/>
          </p:cNvPicPr>
          <p:nvPr/>
        </p:nvPicPr>
        <p:blipFill>
          <a:blip r:embed="rId1"/>
          <a:stretch>
            <a:fillRect/>
          </a:stretch>
        </p:blipFill>
        <p:spPr>
          <a:xfrm>
            <a:off x="0" y="0"/>
            <a:ext cx="4114800" cy="6766560"/>
          </a:xfrm>
          <a:prstGeom prst="rect">
            <a:avLst/>
          </a:prstGeom>
        </p:spPr>
      </p:pic>
      <p:pic>
        <p:nvPicPr>
          <p:cNvPr id="3" name="photo caotang.jpg" descr="Ảnh hiện trường BLT">    </p:cNvPr>
          <p:cNvPicPr>
            <a:picLocks noChangeAspect="1"/>
          </p:cNvPicPr>
          <p:nvPr/>
        </p:nvPicPr>
        <p:blipFill>
          <a:blip r:embed="rId2"/>
          <a:stretch>
            <a:fillRect/>
          </a:stretch>
        </p:blipFill>
        <p:spPr>
          <a:xfrm>
            <a:off x="4187952" y="0"/>
            <a:ext cx="3374136" cy="3346704"/>
          </a:xfrm>
          <a:prstGeom prst="rect">
            <a:avLst/>
          </a:prstGeom>
        </p:spPr>
      </p:pic>
      <p:pic>
        <p:nvPicPr>
          <p:cNvPr id="4" name="photo render_nha.jpg" descr="Ảnh hiện trường BLT">    </p:cNvPr>
          <p:cNvPicPr>
            <a:picLocks noChangeAspect="1"/>
          </p:cNvPicPr>
          <p:nvPr/>
        </p:nvPicPr>
        <p:blipFill>
          <a:blip r:embed="rId3"/>
          <a:stretch>
            <a:fillRect/>
          </a:stretch>
        </p:blipFill>
        <p:spPr>
          <a:xfrm>
            <a:off x="4187952" y="3419856"/>
            <a:ext cx="3374136" cy="3346704"/>
          </a:xfrm>
          <a:prstGeom prst="rect">
            <a:avLst/>
          </a:prstGeom>
        </p:spPr>
      </p:pic>
      <p:sp>
        <p:nvSpPr>
          <p:cNvPr id="5" name="Shape 0"/>
          <p:cNvSpPr/>
          <p:nvPr/>
        </p:nvSpPr>
        <p:spPr>
          <a:xfrm>
            <a:off x="4370832" y="6345936"/>
            <a:ext cx="1600200" cy="274320"/>
          </a:xfrm>
          <a:prstGeom prst="roundRect">
            <a:avLst>
              <a:gd name="adj" fmla="val 16667"/>
            </a:avLst>
          </a:prstGeom>
          <a:solidFill>
            <a:schemeClr val="tx2">
              <a:alpha val="85000"/>
            </a:schemeClr>
          </a:solidFill>
          <a:ln w="12700">
            <a:solidFill>
              <a:schemeClr val="tx2">
                <a:alpha val="0"/>
              </a:schemeClr>
            </a:solidFill>
            <a:prstDash val="solid"/>
          </a:ln>
        </p:spPr>
      </p:sp>
      <p:sp>
        <p:nvSpPr>
          <p:cNvPr id="6" name="Text 1"/>
          <p:cNvSpPr txBox="1"/>
          <p:nvPr/>
        </p:nvSpPr>
        <p:spPr>
          <a:xfrm>
            <a:off x="4370832" y="6345936"/>
            <a:ext cx="1600200" cy="274320"/>
          </a:xfrm>
          <a:prstGeom prst="rect">
            <a:avLst/>
          </a:prstGeom>
          <a:noFill/>
          <a:ln/>
        </p:spPr>
        <p:txBody>
          <a:bodyPr wrap="square" lIns="0" tIns="0" rIns="0" bIns="0" rtlCol="0" anchor="ctr"/>
          <a:lstStyle/>
          <a:p>
            <a:pPr algn="ctr" indent="0" marL="0">
              <a:buNone/>
            </a:pPr>
            <a:r>
              <a:rPr lang="en-US" sz="750" b="1" spc="100" kern="0" dirty="0">
                <a:solidFill>
                  <a:schemeClr val="bg1"/>
                </a:solidFill>
              </a:rPr>
              <a:t>PHỐI CẢNH MINH HỌA</a:t>
            </a:r>
            <a:endParaRPr lang="en-US" sz="750" dirty="0"/>
          </a:p>
        </p:txBody>
      </p:sp>
      <p:sp>
        <p:nvSpPr>
          <p:cNvPr id="7" name="Text 2"/>
          <p:cNvSpPr txBox="1"/>
          <p:nvPr/>
        </p:nvSpPr>
        <p:spPr>
          <a:xfrm>
            <a:off x="502920" y="7132320"/>
            <a:ext cx="6556248"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02 / NĂNG LỰC CHUYÊN MÔN</a:t>
            </a:r>
            <a:endParaRPr lang="en-US" sz="1100" dirty="0"/>
          </a:p>
        </p:txBody>
      </p:sp>
      <p:sp>
        <p:nvSpPr>
          <p:cNvPr id="8" name="Text 3"/>
          <p:cNvSpPr txBox="1"/>
          <p:nvPr/>
        </p:nvSpPr>
        <p:spPr>
          <a:xfrm>
            <a:off x="502920" y="7452360"/>
            <a:ext cx="6556248" cy="128016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HỆ THỐNG ĐIỆN NƯỚC</a:t>
            </a:r>
            <a:endParaRPr lang="en-US" sz="3200" dirty="0"/>
          </a:p>
          <a:p>
            <a:pPr indent="0" marL="0">
              <a:buNone/>
            </a:pPr>
            <a:r>
              <a:rPr lang="en-US" sz="3200" b="1" dirty="0">
                <a:solidFill>
                  <a:schemeClr val="bg1"/>
                </a:solidFill>
                <a:latin typeface="Arial" pitchFamily="34" charset="0"/>
                <a:ea typeface="Arial" pitchFamily="34" charset="-122"/>
                <a:cs typeface="Arial" pitchFamily="34" charset="-120"/>
              </a:rPr>
              <a:t>CÔNG TRÌNH</a:t>
            </a:r>
            <a:endParaRPr lang="en-US" sz="3200" dirty="0"/>
          </a:p>
        </p:txBody>
      </p:sp>
      <p:sp>
        <p:nvSpPr>
          <p:cNvPr id="9" name="Text 4"/>
          <p:cNvSpPr txBox="1"/>
          <p:nvPr/>
        </p:nvSpPr>
        <p:spPr>
          <a:xfrm>
            <a:off x="502920" y="8823960"/>
            <a:ext cx="6556248" cy="822960"/>
          </a:xfrm>
          <a:prstGeom prst="rect">
            <a:avLst/>
          </a:prstGeom>
          <a:noFill/>
          <a:ln/>
        </p:spPr>
        <p:txBody>
          <a:bodyPr wrap="square" lIns="0" tIns="0" rIns="0" bIns="0" rtlCol="0" anchor="t"/>
          <a:lstStyle/>
          <a:p>
            <a:pPr algn="l" indent="0" marL="0">
              <a:lnSpc>
                <a:spcPct val="110000"/>
              </a:lnSpc>
              <a:spcAft>
                <a:spcPts val="600"/>
              </a:spcAft>
              <a:buNone/>
            </a:pPr>
            <a:r>
              <a:rPr lang="en-US" sz="1100" dirty="0">
                <a:solidFill>
                  <a:schemeClr val="accent4"/>
                </a:solidFill>
              </a:rPr>
              <a:t>Công trình nhiều tầng, thương mại – dịch vụ, nhà ở • Đi ống, kéo dây, lắp máng cáp • Cấp nước PPR, thoát nước uPVC • Lắp đặt thiết bị • Thử nghiệm và nghiệm thu</a:t>
            </a:r>
            <a:endParaRPr lang="en-US" sz="11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bg1"/>
                </a:solidFill>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CHUYÊN MÔN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Hệ thống điện</a:t>
            </a:r>
            <a:endParaRPr lang="en-US" sz="2200" dirty="0"/>
          </a:p>
        </p:txBody>
      </p:sp>
      <p:pic>
        <p:nvPicPr>
          <p:cNvPr id="4" name="photo img10.jpg" descr="Gia công ống luồn dây tại hiện trường – Hà Nam, Ninh Bình">    </p:cNvPr>
          <p:cNvPicPr>
            <a:picLocks noChangeAspect="1"/>
          </p:cNvPicPr>
          <p:nvPr/>
        </p:nvPicPr>
        <p:blipFill>
          <a:blip r:embed="rId1"/>
          <a:stretch>
            <a:fillRect/>
          </a:stretch>
        </p:blipFill>
        <p:spPr>
          <a:xfrm>
            <a:off x="502920" y="1463040"/>
            <a:ext cx="6556248" cy="2926080"/>
          </a:xfrm>
          <a:prstGeom prst="rect">
            <a:avLst/>
          </a:prstGeom>
        </p:spPr>
      </p:pic>
      <p:sp>
        <p:nvSpPr>
          <p:cNvPr id="5" name="Text 2"/>
          <p:cNvSpPr txBox="1"/>
          <p:nvPr/>
        </p:nvSpPr>
        <p:spPr>
          <a:xfrm>
            <a:off x="502920" y="442569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Gia công ống luồn dây tại hiện trường – Hà Nam, Ninh Bình</a:t>
            </a:r>
            <a:endParaRPr lang="en-US" sz="800" dirty="0"/>
          </a:p>
        </p:txBody>
      </p:sp>
      <p:pic>
        <p:nvPicPr>
          <p:cNvPr id="6" name="photo img03.jpg" descr="Đi ống luồn dây dưới sàn">    </p:cNvPr>
          <p:cNvPicPr>
            <a:picLocks noChangeAspect="1"/>
          </p:cNvPicPr>
          <p:nvPr/>
        </p:nvPicPr>
        <p:blipFill>
          <a:blip r:embed="rId2"/>
          <a:stretch>
            <a:fillRect/>
          </a:stretch>
        </p:blipFill>
        <p:spPr>
          <a:xfrm>
            <a:off x="502920" y="4754880"/>
            <a:ext cx="3186684" cy="2057400"/>
          </a:xfrm>
          <a:prstGeom prst="rect">
            <a:avLst/>
          </a:prstGeom>
        </p:spPr>
      </p:pic>
      <p:sp>
        <p:nvSpPr>
          <p:cNvPr id="7" name="Text 3"/>
          <p:cNvSpPr txBox="1"/>
          <p:nvPr/>
        </p:nvSpPr>
        <p:spPr>
          <a:xfrm>
            <a:off x="502920" y="684885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Đi ống luồn dây dưới sàn</a:t>
            </a:r>
            <a:endParaRPr lang="en-US" sz="800" dirty="0"/>
          </a:p>
        </p:txBody>
      </p:sp>
      <p:pic>
        <p:nvPicPr>
          <p:cNvPr id="8" name="photo img20.jpg" descr="Lắp giá đỡ, tuyến ống trên cao">    </p:cNvPr>
          <p:cNvPicPr>
            <a:picLocks noChangeAspect="1"/>
          </p:cNvPicPr>
          <p:nvPr/>
        </p:nvPicPr>
        <p:blipFill>
          <a:blip r:embed="rId3"/>
          <a:stretch>
            <a:fillRect/>
          </a:stretch>
        </p:blipFill>
        <p:spPr>
          <a:xfrm>
            <a:off x="3872484" y="4754880"/>
            <a:ext cx="3186684" cy="2057400"/>
          </a:xfrm>
          <a:prstGeom prst="rect">
            <a:avLst/>
          </a:prstGeom>
        </p:spPr>
      </p:pic>
      <p:sp>
        <p:nvSpPr>
          <p:cNvPr id="9" name="Text 4"/>
          <p:cNvSpPr txBox="1"/>
          <p:nvPr/>
        </p:nvSpPr>
        <p:spPr>
          <a:xfrm>
            <a:off x="3872484" y="684885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giá đỡ, tuyến ống trên cao</a:t>
            </a:r>
            <a:endParaRPr lang="en-US" sz="800" dirty="0"/>
          </a:p>
        </p:txBody>
      </p:sp>
      <p:sp>
        <p:nvSpPr>
          <p:cNvPr id="10" name="Text 5"/>
          <p:cNvSpPr txBox="1"/>
          <p:nvPr/>
        </p:nvSpPr>
        <p:spPr>
          <a:xfrm>
            <a:off x="502920" y="7178040"/>
            <a:ext cx="3186684"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PHẠM VI THI CÔNG</a:t>
            </a:r>
            <a:endParaRPr lang="en-US" sz="900" dirty="0"/>
          </a:p>
        </p:txBody>
      </p:sp>
      <p:sp>
        <p:nvSpPr>
          <p:cNvPr id="11" name="Shape 6"/>
          <p:cNvSpPr/>
          <p:nvPr/>
        </p:nvSpPr>
        <p:spPr>
          <a:xfrm>
            <a:off x="502920" y="7452360"/>
            <a:ext cx="3186684" cy="2240280"/>
          </a:xfrm>
          <a:prstGeom prst="roundRect">
            <a:avLst>
              <a:gd name="adj" fmla="val 3265"/>
            </a:avLst>
          </a:prstGeom>
          <a:solidFill>
            <a:schemeClr val="bg2"/>
          </a:solidFill>
          <a:ln w="12700">
            <a:solidFill>
              <a:schemeClr val="bg2"/>
            </a:solidFill>
            <a:prstDash val="solid"/>
          </a:ln>
        </p:spPr>
      </p:sp>
      <p:sp>
        <p:nvSpPr>
          <p:cNvPr id="12" name="Text 7"/>
          <p:cNvSpPr txBox="1"/>
          <p:nvPr/>
        </p:nvSpPr>
        <p:spPr>
          <a:xfrm>
            <a:off x="640080" y="7589520"/>
            <a:ext cx="2912364" cy="2011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chemeClr val="tx1"/>
                </a:solidFill>
              </a:rPr>
              <a:t>Đi ống luồn dây âm tường, âm sàn, nổi trần</a:t>
            </a:r>
            <a:endParaRPr lang="en-US" sz="950" dirty="0"/>
          </a:p>
          <a:p>
            <a:pPr marL="152400" indent="-152400">
              <a:spcAft>
                <a:spcPts val="400"/>
              </a:spcAft>
              <a:buSzPct val="100000"/>
              <a:buChar char="•"/>
            </a:pPr>
            <a:r>
              <a:rPr lang="en-US" sz="950" dirty="0">
                <a:solidFill>
                  <a:schemeClr val="tx1"/>
                </a:solidFill>
              </a:rPr>
              <a:t>Lắp đặt máng cáp, thang cáp, giá treo</a:t>
            </a:r>
            <a:endParaRPr lang="en-US" sz="950" dirty="0"/>
          </a:p>
          <a:p>
            <a:pPr marL="152400" indent="-152400">
              <a:spcAft>
                <a:spcPts val="400"/>
              </a:spcAft>
              <a:buSzPct val="100000"/>
              <a:buChar char="•"/>
            </a:pPr>
            <a:r>
              <a:rPr lang="en-US" sz="950" dirty="0">
                <a:solidFill>
                  <a:schemeClr val="tx1"/>
                </a:solidFill>
              </a:rPr>
              <a:t>Kéo rải cáp động lực, cáp chiếu sáng, ổ cắm</a:t>
            </a:r>
            <a:endParaRPr lang="en-US" sz="950" dirty="0"/>
          </a:p>
          <a:p>
            <a:pPr marL="152400" indent="-152400">
              <a:spcAft>
                <a:spcPts val="400"/>
              </a:spcAft>
              <a:buSzPct val="100000"/>
              <a:buChar char="•"/>
            </a:pPr>
            <a:r>
              <a:rPr lang="en-US" sz="950" dirty="0">
                <a:solidFill>
                  <a:schemeClr val="tx1"/>
                </a:solidFill>
              </a:rPr>
              <a:t>Lắp đặt tủ điện tổng, tủ tầng, tủ thiết bị</a:t>
            </a:r>
            <a:endParaRPr lang="en-US" sz="950" dirty="0"/>
          </a:p>
          <a:p>
            <a:pPr marL="152400" indent="-152400">
              <a:spcAft>
                <a:spcPts val="400"/>
              </a:spcAft>
              <a:buSzPct val="100000"/>
              <a:buChar char="•"/>
            </a:pPr>
            <a:r>
              <a:rPr lang="en-US" sz="950" dirty="0">
                <a:solidFill>
                  <a:schemeClr val="tx1"/>
                </a:solidFill>
              </a:rPr>
              <a:t>Lắp đèn, công tắc, ổ cắm và thiết bị điện</a:t>
            </a:r>
            <a:endParaRPr lang="en-US" sz="950" dirty="0"/>
          </a:p>
          <a:p>
            <a:pPr marL="152400" indent="-152400">
              <a:spcAft>
                <a:spcPts val="400"/>
              </a:spcAft>
              <a:buSzPct val="100000"/>
              <a:buChar char="•"/>
            </a:pPr>
            <a:r>
              <a:rPr lang="en-US" sz="950" dirty="0">
                <a:solidFill>
                  <a:schemeClr val="tx1"/>
                </a:solidFill>
              </a:rPr>
              <a:t>Cấp nguồn cho máy móc, thiết bị nhà xưởng</a:t>
            </a:r>
            <a:endParaRPr lang="en-US" sz="950" dirty="0"/>
          </a:p>
        </p:txBody>
      </p:sp>
      <p:sp>
        <p:nvSpPr>
          <p:cNvPr id="13" name="Text 8"/>
          <p:cNvSpPr txBox="1"/>
          <p:nvPr/>
        </p:nvSpPr>
        <p:spPr>
          <a:xfrm>
            <a:off x="3872484" y="7178040"/>
            <a:ext cx="3186684"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ĐIỂM KIỂM SOÁT</a:t>
            </a:r>
            <a:endParaRPr lang="en-US" sz="900" dirty="0"/>
          </a:p>
        </p:txBody>
      </p:sp>
      <p:sp>
        <p:nvSpPr>
          <p:cNvPr id="14" name="Shape 9"/>
          <p:cNvSpPr/>
          <p:nvPr/>
        </p:nvSpPr>
        <p:spPr>
          <a:xfrm>
            <a:off x="3872484" y="7452360"/>
            <a:ext cx="3186684" cy="2240280"/>
          </a:xfrm>
          <a:prstGeom prst="roundRect">
            <a:avLst>
              <a:gd name="adj" fmla="val 3265"/>
            </a:avLst>
          </a:prstGeom>
          <a:solidFill>
            <a:schemeClr val="bg2"/>
          </a:solidFill>
          <a:ln w="12700">
            <a:solidFill>
              <a:schemeClr val="bg2"/>
            </a:solidFill>
            <a:prstDash val="solid"/>
          </a:ln>
        </p:spPr>
      </p:sp>
      <p:sp>
        <p:nvSpPr>
          <p:cNvPr id="15" name="Text 10"/>
          <p:cNvSpPr txBox="1"/>
          <p:nvPr/>
        </p:nvSpPr>
        <p:spPr>
          <a:xfrm>
            <a:off x="4009644" y="7589520"/>
            <a:ext cx="2912364" cy="201168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chemeClr val="tx1"/>
                </a:solidFill>
              </a:rPr>
              <a:t>Đúng tuyến, cao độ, khoảng cách theo bản vẽ</a:t>
            </a:r>
            <a:endParaRPr lang="en-US" sz="950" dirty="0"/>
          </a:p>
          <a:p>
            <a:pPr marL="152400" indent="-152400">
              <a:spcAft>
                <a:spcPts val="400"/>
              </a:spcAft>
              <a:buSzPct val="100000"/>
              <a:buChar char="•"/>
            </a:pPr>
            <a:r>
              <a:rPr lang="en-US" sz="950" dirty="0">
                <a:solidFill>
                  <a:schemeClr val="tx1"/>
                </a:solidFill>
              </a:rPr>
              <a:t>Tiết diện dây, màu dây, đánh dấu pha rõ ràng</a:t>
            </a:r>
            <a:endParaRPr lang="en-US" sz="950" dirty="0"/>
          </a:p>
          <a:p>
            <a:pPr marL="152400" indent="-152400">
              <a:spcAft>
                <a:spcPts val="400"/>
              </a:spcAft>
              <a:buSzPct val="100000"/>
              <a:buChar char="•"/>
            </a:pPr>
            <a:r>
              <a:rPr lang="en-US" sz="950" dirty="0">
                <a:solidFill>
                  <a:schemeClr val="tx1"/>
                </a:solidFill>
              </a:rPr>
              <a:t>Mối nối chắc chắn, có hộp nối, không nối trong ống</a:t>
            </a:r>
            <a:endParaRPr lang="en-US" sz="950" dirty="0"/>
          </a:p>
          <a:p>
            <a:pPr marL="152400" indent="-152400">
              <a:spcAft>
                <a:spcPts val="400"/>
              </a:spcAft>
              <a:buSzPct val="100000"/>
              <a:buChar char="•"/>
            </a:pPr>
            <a:r>
              <a:rPr lang="en-US" sz="950" dirty="0">
                <a:solidFill>
                  <a:schemeClr val="tx1"/>
                </a:solidFill>
              </a:rPr>
              <a:t>Đo điện trở cách điện trước khi đóng điện</a:t>
            </a:r>
            <a:endParaRPr lang="en-US" sz="950" dirty="0"/>
          </a:p>
          <a:p>
            <a:pPr marL="152400" indent="-152400">
              <a:spcAft>
                <a:spcPts val="400"/>
              </a:spcAft>
              <a:buSzPct val="100000"/>
              <a:buChar char="•"/>
            </a:pPr>
            <a:r>
              <a:rPr lang="en-US" sz="950" dirty="0">
                <a:solidFill>
                  <a:schemeClr val="tx1"/>
                </a:solidFill>
              </a:rPr>
              <a:t>Kiểm tra tiếp địa, aptomat, chống giật</a:t>
            </a:r>
            <a:endParaRPr lang="en-US" sz="950" dirty="0"/>
          </a:p>
          <a:p>
            <a:pPr marL="152400" indent="-152400">
              <a:spcAft>
                <a:spcPts val="400"/>
              </a:spcAft>
              <a:buSzPct val="100000"/>
              <a:buChar char="•"/>
            </a:pPr>
            <a:r>
              <a:rPr lang="en-US" sz="950" dirty="0">
                <a:solidFill>
                  <a:schemeClr val="tx1"/>
                </a:solidFill>
              </a:rPr>
              <a:t>Ghi nhận ảnh trước khi che khuất (trát, đóng trần)</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CHUYÊN MÔN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Hệ thống cấp thoát nước</a:t>
            </a:r>
            <a:endParaRPr lang="en-US" sz="2200" dirty="0"/>
          </a:p>
        </p:txBody>
      </p:sp>
      <p:pic>
        <p:nvPicPr>
          <p:cNvPr id="4" name="photo img04.jpg" descr="Lắp ống thoát nước, ống đứng trong hộp kỹ thuật – 58 Bùi Đạt, P. Hà Nam, Ninh Bình">    </p:cNvPr>
          <p:cNvPicPr>
            <a:picLocks noChangeAspect="1"/>
          </p:cNvPicPr>
          <p:nvPr/>
        </p:nvPicPr>
        <p:blipFill>
          <a:blip r:embed="rId1"/>
          <a:stretch>
            <a:fillRect/>
          </a:stretch>
        </p:blipFill>
        <p:spPr>
          <a:xfrm>
            <a:off x="502920" y="1463040"/>
            <a:ext cx="6556248" cy="3017520"/>
          </a:xfrm>
          <a:prstGeom prst="rect">
            <a:avLst/>
          </a:prstGeom>
        </p:spPr>
      </p:pic>
      <p:sp>
        <p:nvSpPr>
          <p:cNvPr id="5" name="Text 2"/>
          <p:cNvSpPr txBox="1"/>
          <p:nvPr/>
        </p:nvSpPr>
        <p:spPr>
          <a:xfrm>
            <a:off x="502920" y="451713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ống thoát nước, ống đứng trong hộp kỹ thuật – 58 Bùi Đạt, P. Hà Nam, Ninh Bình</a:t>
            </a:r>
            <a:endParaRPr lang="en-US" sz="800" dirty="0"/>
          </a:p>
        </p:txBody>
      </p:sp>
      <p:pic>
        <p:nvPicPr>
          <p:cNvPr id="6" name="photo img77.jpg" descr="Tuyến ống thoát nước tầng hầm">    </p:cNvPr>
          <p:cNvPicPr>
            <a:picLocks noChangeAspect="1"/>
          </p:cNvPicPr>
          <p:nvPr/>
        </p:nvPicPr>
        <p:blipFill>
          <a:blip r:embed="rId2"/>
          <a:stretch>
            <a:fillRect/>
          </a:stretch>
        </p:blipFill>
        <p:spPr>
          <a:xfrm>
            <a:off x="502920" y="4846320"/>
            <a:ext cx="3186684" cy="2377440"/>
          </a:xfrm>
          <a:prstGeom prst="rect">
            <a:avLst/>
          </a:prstGeom>
        </p:spPr>
      </p:pic>
      <p:sp>
        <p:nvSpPr>
          <p:cNvPr id="7" name="Text 3"/>
          <p:cNvSpPr txBox="1"/>
          <p:nvPr/>
        </p:nvSpPr>
        <p:spPr>
          <a:xfrm>
            <a:off x="502920" y="72603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Tuyến ống thoát nước tầng hầm</a:t>
            </a:r>
            <a:endParaRPr lang="en-US" sz="800" dirty="0"/>
          </a:p>
        </p:txBody>
      </p:sp>
      <p:pic>
        <p:nvPicPr>
          <p:cNvPr id="8" name="photo img37.jpg" descr="Tuyến ống, giá treo tầng hầm">    </p:cNvPr>
          <p:cNvPicPr>
            <a:picLocks noChangeAspect="1"/>
          </p:cNvPicPr>
          <p:nvPr/>
        </p:nvPicPr>
        <p:blipFill>
          <a:blip r:embed="rId3"/>
          <a:stretch>
            <a:fillRect/>
          </a:stretch>
        </p:blipFill>
        <p:spPr>
          <a:xfrm>
            <a:off x="3872484" y="4846320"/>
            <a:ext cx="3186684" cy="2377440"/>
          </a:xfrm>
          <a:prstGeom prst="rect">
            <a:avLst/>
          </a:prstGeom>
        </p:spPr>
      </p:pic>
      <p:sp>
        <p:nvSpPr>
          <p:cNvPr id="9" name="Text 4"/>
          <p:cNvSpPr txBox="1"/>
          <p:nvPr/>
        </p:nvSpPr>
        <p:spPr>
          <a:xfrm>
            <a:off x="3872484" y="72603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Tuyến ống, giá treo tầng hầm</a:t>
            </a:r>
            <a:endParaRPr lang="en-US" sz="800" dirty="0"/>
          </a:p>
        </p:txBody>
      </p:sp>
      <p:sp>
        <p:nvSpPr>
          <p:cNvPr id="10" name="Shape 5"/>
          <p:cNvSpPr/>
          <p:nvPr/>
        </p:nvSpPr>
        <p:spPr>
          <a:xfrm>
            <a:off x="502920" y="7635240"/>
            <a:ext cx="3186684" cy="960120"/>
          </a:xfrm>
          <a:prstGeom prst="roundRect">
            <a:avLst>
              <a:gd name="adj" fmla="val 7619"/>
            </a:avLst>
          </a:prstGeom>
          <a:solidFill>
            <a:schemeClr val="bg2"/>
          </a:solidFill>
          <a:ln w="12700">
            <a:solidFill>
              <a:schemeClr val="bg2"/>
            </a:solidFill>
            <a:prstDash val="solid"/>
          </a:ln>
        </p:spPr>
      </p:sp>
      <p:sp>
        <p:nvSpPr>
          <p:cNvPr id="11" name="Shape 6"/>
          <p:cNvSpPr/>
          <p:nvPr/>
        </p:nvSpPr>
        <p:spPr>
          <a:xfrm>
            <a:off x="640080" y="7772400"/>
            <a:ext cx="365760" cy="365760"/>
          </a:xfrm>
          <a:prstGeom prst="ellipse">
            <a:avLst/>
          </a:prstGeom>
          <a:solidFill>
            <a:schemeClr val="accent1"/>
          </a:solidFill>
          <a:ln w="12700">
            <a:solidFill>
              <a:schemeClr val="accent1"/>
            </a:solidFill>
            <a:prstDash val="solid"/>
          </a:ln>
        </p:spPr>
      </p:sp>
      <p:sp>
        <p:nvSpPr>
          <p:cNvPr id="12" name="Text 7"/>
          <p:cNvSpPr txBox="1"/>
          <p:nvPr/>
        </p:nvSpPr>
        <p:spPr>
          <a:xfrm>
            <a:off x="640080" y="77724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3" name="Text 8"/>
          <p:cNvSpPr txBox="1"/>
          <p:nvPr/>
        </p:nvSpPr>
        <p:spPr>
          <a:xfrm>
            <a:off x="1097280" y="77541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CẤP NƯỚC</a:t>
            </a:r>
            <a:endParaRPr lang="en-US" sz="1050" dirty="0"/>
          </a:p>
        </p:txBody>
      </p:sp>
      <p:sp>
        <p:nvSpPr>
          <p:cNvPr id="14" name="Text 9"/>
          <p:cNvSpPr txBox="1"/>
          <p:nvPr/>
        </p:nvSpPr>
        <p:spPr>
          <a:xfrm>
            <a:off x="1097280" y="8183880"/>
            <a:ext cx="2455164" cy="32004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Ống PPR hàn nhiệt, uPVC, HDPE; van, đồng hồ, máy bơm tăng áp.</a:t>
            </a:r>
            <a:endParaRPr lang="en-US" sz="950" dirty="0"/>
          </a:p>
        </p:txBody>
      </p:sp>
      <p:sp>
        <p:nvSpPr>
          <p:cNvPr id="15" name="Shape 10"/>
          <p:cNvSpPr/>
          <p:nvPr/>
        </p:nvSpPr>
        <p:spPr>
          <a:xfrm>
            <a:off x="3872484" y="7635240"/>
            <a:ext cx="3186684" cy="960120"/>
          </a:xfrm>
          <a:prstGeom prst="roundRect">
            <a:avLst>
              <a:gd name="adj" fmla="val 7619"/>
            </a:avLst>
          </a:prstGeom>
          <a:solidFill>
            <a:schemeClr val="bg2"/>
          </a:solidFill>
          <a:ln w="12700">
            <a:solidFill>
              <a:schemeClr val="bg2"/>
            </a:solidFill>
            <a:prstDash val="solid"/>
          </a:ln>
        </p:spPr>
      </p:sp>
      <p:sp>
        <p:nvSpPr>
          <p:cNvPr id="16" name="Shape 11"/>
          <p:cNvSpPr/>
          <p:nvPr/>
        </p:nvSpPr>
        <p:spPr>
          <a:xfrm>
            <a:off x="4009644" y="7772400"/>
            <a:ext cx="365760" cy="365760"/>
          </a:xfrm>
          <a:prstGeom prst="ellipse">
            <a:avLst/>
          </a:prstGeom>
          <a:solidFill>
            <a:schemeClr val="accent1"/>
          </a:solidFill>
          <a:ln w="12700">
            <a:solidFill>
              <a:schemeClr val="accent1"/>
            </a:solidFill>
            <a:prstDash val="solid"/>
          </a:ln>
        </p:spPr>
      </p:sp>
      <p:sp>
        <p:nvSpPr>
          <p:cNvPr id="17" name="Text 12"/>
          <p:cNvSpPr txBox="1"/>
          <p:nvPr/>
        </p:nvSpPr>
        <p:spPr>
          <a:xfrm>
            <a:off x="4009644" y="77724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8" name="Text 13"/>
          <p:cNvSpPr txBox="1"/>
          <p:nvPr/>
        </p:nvSpPr>
        <p:spPr>
          <a:xfrm>
            <a:off x="4466844" y="77541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THOÁT NƯỚC</a:t>
            </a:r>
            <a:endParaRPr lang="en-US" sz="1050" dirty="0"/>
          </a:p>
        </p:txBody>
      </p:sp>
      <p:sp>
        <p:nvSpPr>
          <p:cNvPr id="19" name="Text 14"/>
          <p:cNvSpPr txBox="1"/>
          <p:nvPr/>
        </p:nvSpPr>
        <p:spPr>
          <a:xfrm>
            <a:off x="4466844" y="8183880"/>
            <a:ext cx="2455164" cy="32004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Ống đứng, ống nhánh, thông hơi; đảm bảo độ dốc, chống tắc.</a:t>
            </a:r>
            <a:endParaRPr lang="en-US" sz="950" dirty="0"/>
          </a:p>
        </p:txBody>
      </p:sp>
      <p:sp>
        <p:nvSpPr>
          <p:cNvPr id="20" name="Shape 15"/>
          <p:cNvSpPr/>
          <p:nvPr/>
        </p:nvSpPr>
        <p:spPr>
          <a:xfrm>
            <a:off x="502920" y="8732520"/>
            <a:ext cx="3186684" cy="960120"/>
          </a:xfrm>
          <a:prstGeom prst="roundRect">
            <a:avLst>
              <a:gd name="adj" fmla="val 7619"/>
            </a:avLst>
          </a:prstGeom>
          <a:solidFill>
            <a:schemeClr val="bg2"/>
          </a:solidFill>
          <a:ln w="12700">
            <a:solidFill>
              <a:schemeClr val="bg2"/>
            </a:solidFill>
            <a:prstDash val="solid"/>
          </a:ln>
        </p:spPr>
      </p:sp>
      <p:sp>
        <p:nvSpPr>
          <p:cNvPr id="21" name="Shape 16"/>
          <p:cNvSpPr/>
          <p:nvPr/>
        </p:nvSpPr>
        <p:spPr>
          <a:xfrm>
            <a:off x="640080" y="8869680"/>
            <a:ext cx="365760" cy="365760"/>
          </a:xfrm>
          <a:prstGeom prst="ellipse">
            <a:avLst/>
          </a:prstGeom>
          <a:solidFill>
            <a:schemeClr val="accent1"/>
          </a:solidFill>
          <a:ln w="12700">
            <a:solidFill>
              <a:schemeClr val="accent1"/>
            </a:solidFill>
            <a:prstDash val="solid"/>
          </a:ln>
        </p:spPr>
      </p:sp>
      <p:sp>
        <p:nvSpPr>
          <p:cNvPr id="22" name="Text 17"/>
          <p:cNvSpPr txBox="1"/>
          <p:nvPr/>
        </p:nvSpPr>
        <p:spPr>
          <a:xfrm>
            <a:off x="640080" y="88696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3" name="Text 18"/>
          <p:cNvSpPr txBox="1"/>
          <p:nvPr/>
        </p:nvSpPr>
        <p:spPr>
          <a:xfrm>
            <a:off x="1097280" y="88513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THỬ ÁP LỰC</a:t>
            </a:r>
            <a:endParaRPr lang="en-US" sz="1050" dirty="0"/>
          </a:p>
        </p:txBody>
      </p:sp>
      <p:sp>
        <p:nvSpPr>
          <p:cNvPr id="24" name="Text 19"/>
          <p:cNvSpPr txBox="1"/>
          <p:nvPr/>
        </p:nvSpPr>
        <p:spPr>
          <a:xfrm>
            <a:off x="1097280" y="9281160"/>
            <a:ext cx="2455164" cy="32004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Thử kín, thử áp đường ống cấp trước khi che khuất.</a:t>
            </a:r>
            <a:endParaRPr lang="en-US" sz="950" dirty="0"/>
          </a:p>
        </p:txBody>
      </p:sp>
      <p:sp>
        <p:nvSpPr>
          <p:cNvPr id="25" name="Shape 20"/>
          <p:cNvSpPr/>
          <p:nvPr/>
        </p:nvSpPr>
        <p:spPr>
          <a:xfrm>
            <a:off x="3872484" y="8732520"/>
            <a:ext cx="3186684" cy="960120"/>
          </a:xfrm>
          <a:prstGeom prst="roundRect">
            <a:avLst>
              <a:gd name="adj" fmla="val 7619"/>
            </a:avLst>
          </a:prstGeom>
          <a:solidFill>
            <a:schemeClr val="bg2"/>
          </a:solidFill>
          <a:ln w="12700">
            <a:solidFill>
              <a:schemeClr val="bg2"/>
            </a:solidFill>
            <a:prstDash val="solid"/>
          </a:ln>
        </p:spPr>
      </p:sp>
      <p:sp>
        <p:nvSpPr>
          <p:cNvPr id="26" name="Shape 21"/>
          <p:cNvSpPr/>
          <p:nvPr/>
        </p:nvSpPr>
        <p:spPr>
          <a:xfrm>
            <a:off x="4009644" y="8869680"/>
            <a:ext cx="365760" cy="365760"/>
          </a:xfrm>
          <a:prstGeom prst="ellipse">
            <a:avLst/>
          </a:prstGeom>
          <a:solidFill>
            <a:schemeClr val="accent1"/>
          </a:solidFill>
          <a:ln w="12700">
            <a:solidFill>
              <a:schemeClr val="accent1"/>
            </a:solidFill>
            <a:prstDash val="solid"/>
          </a:ln>
        </p:spPr>
      </p:sp>
      <p:sp>
        <p:nvSpPr>
          <p:cNvPr id="27" name="Text 22"/>
          <p:cNvSpPr txBox="1"/>
          <p:nvPr/>
        </p:nvSpPr>
        <p:spPr>
          <a:xfrm>
            <a:off x="4009644" y="88696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8" name="Text 23"/>
          <p:cNvSpPr txBox="1"/>
          <p:nvPr/>
        </p:nvSpPr>
        <p:spPr>
          <a:xfrm>
            <a:off x="4466844" y="88513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THỬ THÔNG THOÁT</a:t>
            </a:r>
            <a:endParaRPr lang="en-US" sz="1050" dirty="0"/>
          </a:p>
        </p:txBody>
      </p:sp>
      <p:sp>
        <p:nvSpPr>
          <p:cNvPr id="29" name="Text 24"/>
          <p:cNvSpPr txBox="1"/>
          <p:nvPr/>
        </p:nvSpPr>
        <p:spPr>
          <a:xfrm>
            <a:off x="4466844" y="9281160"/>
            <a:ext cx="2455164" cy="32004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Đổ nước kiểm tra, chống rò rỉ, chống mùi.</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photo img19.jpg" descr="Ảnh hiện trường BLT">    </p:cNvPr>
          <p:cNvPicPr>
            <a:picLocks noChangeAspect="1"/>
          </p:cNvPicPr>
          <p:nvPr/>
        </p:nvPicPr>
        <p:blipFill>
          <a:blip r:embed="rId1"/>
          <a:stretch>
            <a:fillRect/>
          </a:stretch>
        </p:blipFill>
        <p:spPr>
          <a:xfrm>
            <a:off x="0" y="0"/>
            <a:ext cx="7562088" cy="6766560"/>
          </a:xfrm>
          <a:prstGeom prst="rect">
            <a:avLst/>
          </a:prstGeom>
        </p:spPr>
      </p:pic>
      <p:sp>
        <p:nvSpPr>
          <p:cNvPr id="3" name="Text 0"/>
          <p:cNvSpPr txBox="1"/>
          <p:nvPr/>
        </p:nvSpPr>
        <p:spPr>
          <a:xfrm>
            <a:off x="502920" y="7132320"/>
            <a:ext cx="6556248" cy="274320"/>
          </a:xfrm>
          <a:prstGeom prst="rect">
            <a:avLst/>
          </a:prstGeom>
          <a:noFill/>
          <a:ln/>
        </p:spPr>
        <p:txBody>
          <a:bodyPr wrap="square" lIns="0" tIns="0" rIns="0" bIns="0" rtlCol="0" anchor="ctr"/>
          <a:lstStyle/>
          <a:p>
            <a:pPr indent="0" marL="0">
              <a:buNone/>
            </a:pPr>
            <a:r>
              <a:rPr lang="en-US" sz="1100" b="1" spc="300" kern="0" dirty="0">
                <a:solidFill>
                  <a:schemeClr val="accent1"/>
                </a:solidFill>
              </a:rPr>
              <a:t>03 / NĂNG LỰC CHUYÊN MÔN</a:t>
            </a:r>
            <a:endParaRPr lang="en-US" sz="1100" dirty="0"/>
          </a:p>
        </p:txBody>
      </p:sp>
      <p:sp>
        <p:nvSpPr>
          <p:cNvPr id="4" name="Text 1"/>
          <p:cNvSpPr txBox="1"/>
          <p:nvPr/>
        </p:nvSpPr>
        <p:spPr>
          <a:xfrm>
            <a:off x="502920" y="7452360"/>
            <a:ext cx="6556248" cy="1280160"/>
          </a:xfrm>
          <a:prstGeom prst="rect">
            <a:avLst/>
          </a:prstGeom>
          <a:noFill/>
          <a:ln/>
        </p:spPr>
        <p:txBody>
          <a:bodyPr wrap="square" lIns="0" tIns="0" rIns="0" bIns="0" rtlCol="0" anchor="t"/>
          <a:lstStyle/>
          <a:p>
            <a:pPr indent="0" marL="0">
              <a:buNone/>
            </a:pPr>
            <a:r>
              <a:rPr lang="en-US" sz="3200" b="1" dirty="0">
                <a:solidFill>
                  <a:schemeClr val="bg1"/>
                </a:solidFill>
                <a:latin typeface="Arial" pitchFamily="34" charset="0"/>
                <a:ea typeface="Arial" pitchFamily="34" charset="-122"/>
                <a:cs typeface="Arial" pitchFamily="34" charset="-120"/>
              </a:rPr>
              <a:t>HÚT SƯƠNG DẦU –</a:t>
            </a:r>
            <a:endParaRPr lang="en-US" sz="3200" dirty="0"/>
          </a:p>
          <a:p>
            <a:pPr indent="0" marL="0">
              <a:buNone/>
            </a:pPr>
            <a:r>
              <a:rPr lang="en-US" sz="3200" b="1" dirty="0">
                <a:solidFill>
                  <a:schemeClr val="bg1"/>
                </a:solidFill>
                <a:latin typeface="Arial" pitchFamily="34" charset="0"/>
                <a:ea typeface="Arial" pitchFamily="34" charset="-122"/>
                <a:cs typeface="Arial" pitchFamily="34" charset="-120"/>
              </a:rPr>
              <a:t>XỬ LÝ KHÍ NHÀ XƯỞNG</a:t>
            </a:r>
            <a:endParaRPr lang="en-US" sz="3200" dirty="0"/>
          </a:p>
        </p:txBody>
      </p:sp>
      <p:sp>
        <p:nvSpPr>
          <p:cNvPr id="5" name="Text 2"/>
          <p:cNvSpPr txBox="1"/>
          <p:nvPr/>
        </p:nvSpPr>
        <p:spPr>
          <a:xfrm>
            <a:off x="502920" y="8823960"/>
            <a:ext cx="6556248" cy="822960"/>
          </a:xfrm>
          <a:prstGeom prst="rect">
            <a:avLst/>
          </a:prstGeom>
          <a:noFill/>
          <a:ln/>
        </p:spPr>
        <p:txBody>
          <a:bodyPr wrap="square" lIns="0" tIns="0" rIns="0" bIns="0" rtlCol="0" anchor="t"/>
          <a:lstStyle/>
          <a:p>
            <a:pPr algn="l" indent="0" marL="0">
              <a:lnSpc>
                <a:spcPct val="110000"/>
              </a:lnSpc>
              <a:spcAft>
                <a:spcPts val="600"/>
              </a:spcAft>
              <a:buNone/>
            </a:pPr>
            <a:r>
              <a:rPr lang="en-US" sz="1100" dirty="0">
                <a:solidFill>
                  <a:schemeClr val="accent4"/>
                </a:solidFill>
              </a:rPr>
              <a:t>Thi công tuyến ống hút cho dãy máy gia công CNC • Lắp đặt máy lọc sương dầu trên máy hoặc trên giá đỡ cột • Đấu nối điện và chạy thử, thi công ngay trong nhà xưởng đang vận hành</a:t>
            </a:r>
            <a:endParaRPr lang="en-US" sz="11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bg1"/>
                </a:solidFill>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CHUYÊN MÔN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Tuyến ống hút cho máy CNC</a:t>
            </a:r>
            <a:endParaRPr lang="en-US" sz="2200" dirty="0"/>
          </a:p>
        </p:txBody>
      </p:sp>
      <p:pic>
        <p:nvPicPr>
          <p:cNvPr id="4" name="photo img34.jpg" descr="Lắp máy lọc và tuyến ống trên đầu máy">    </p:cNvPr>
          <p:cNvPicPr>
            <a:picLocks noChangeAspect="1"/>
          </p:cNvPicPr>
          <p:nvPr/>
        </p:nvPicPr>
        <p:blipFill>
          <a:blip r:embed="rId1"/>
          <a:stretch>
            <a:fillRect/>
          </a:stretch>
        </p:blipFill>
        <p:spPr>
          <a:xfrm>
            <a:off x="502920" y="1463040"/>
            <a:ext cx="3186684" cy="2377440"/>
          </a:xfrm>
          <a:prstGeom prst="rect">
            <a:avLst/>
          </a:prstGeom>
        </p:spPr>
      </p:pic>
      <p:sp>
        <p:nvSpPr>
          <p:cNvPr id="5" name="Text 2"/>
          <p:cNvSpPr txBox="1"/>
          <p:nvPr/>
        </p:nvSpPr>
        <p:spPr>
          <a:xfrm>
            <a:off x="502920" y="387705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máy lọc và tuyến ống trên đầu máy</a:t>
            </a:r>
            <a:endParaRPr lang="en-US" sz="800" dirty="0"/>
          </a:p>
        </p:txBody>
      </p:sp>
      <p:pic>
        <p:nvPicPr>
          <p:cNvPr id="6" name="photo img18.jpg" descr="Cắt, hiệu chỉnh ống hút tại hiện trường">    </p:cNvPr>
          <p:cNvPicPr>
            <a:picLocks noChangeAspect="1"/>
          </p:cNvPicPr>
          <p:nvPr/>
        </p:nvPicPr>
        <p:blipFill>
          <a:blip r:embed="rId2"/>
          <a:stretch>
            <a:fillRect/>
          </a:stretch>
        </p:blipFill>
        <p:spPr>
          <a:xfrm>
            <a:off x="3872484" y="1463040"/>
            <a:ext cx="3186684" cy="2377440"/>
          </a:xfrm>
          <a:prstGeom prst="rect">
            <a:avLst/>
          </a:prstGeom>
        </p:spPr>
      </p:pic>
      <p:sp>
        <p:nvSpPr>
          <p:cNvPr id="7" name="Text 3"/>
          <p:cNvSpPr txBox="1"/>
          <p:nvPr/>
        </p:nvSpPr>
        <p:spPr>
          <a:xfrm>
            <a:off x="3872484" y="387705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Cắt, hiệu chỉnh ống hút tại hiện trường</a:t>
            </a:r>
            <a:endParaRPr lang="en-US" sz="800" dirty="0"/>
          </a:p>
        </p:txBody>
      </p:sp>
      <p:pic>
        <p:nvPicPr>
          <p:cNvPr id="8" name="photo img22.jpg" descr="Đấu nối co ống vào máy lọc">    </p:cNvPr>
          <p:cNvPicPr>
            <a:picLocks noChangeAspect="1"/>
          </p:cNvPicPr>
          <p:nvPr/>
        </p:nvPicPr>
        <p:blipFill>
          <a:blip r:embed="rId3"/>
          <a:stretch>
            <a:fillRect/>
          </a:stretch>
        </p:blipFill>
        <p:spPr>
          <a:xfrm>
            <a:off x="502920" y="4160520"/>
            <a:ext cx="3186684" cy="2377440"/>
          </a:xfrm>
          <a:prstGeom prst="rect">
            <a:avLst/>
          </a:prstGeom>
        </p:spPr>
      </p:pic>
      <p:sp>
        <p:nvSpPr>
          <p:cNvPr id="9" name="Text 4"/>
          <p:cNvSpPr txBox="1"/>
          <p:nvPr/>
        </p:nvSpPr>
        <p:spPr>
          <a:xfrm>
            <a:off x="502920" y="65745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Đấu nối co ống vào máy lọc</a:t>
            </a:r>
            <a:endParaRPr lang="en-US" sz="800" dirty="0"/>
          </a:p>
        </p:txBody>
      </p:sp>
      <p:pic>
        <p:nvPicPr>
          <p:cNvPr id="10" name="photo img40.jpg" descr="Thi công tuyến ống trên xe nâng người">    </p:cNvPr>
          <p:cNvPicPr>
            <a:picLocks noChangeAspect="1"/>
          </p:cNvPicPr>
          <p:nvPr/>
        </p:nvPicPr>
        <p:blipFill>
          <a:blip r:embed="rId4"/>
          <a:stretch>
            <a:fillRect/>
          </a:stretch>
        </p:blipFill>
        <p:spPr>
          <a:xfrm>
            <a:off x="3872484" y="4160520"/>
            <a:ext cx="3186684" cy="2377440"/>
          </a:xfrm>
          <a:prstGeom prst="rect">
            <a:avLst/>
          </a:prstGeom>
        </p:spPr>
      </p:pic>
      <p:sp>
        <p:nvSpPr>
          <p:cNvPr id="11" name="Text 5"/>
          <p:cNvSpPr txBox="1"/>
          <p:nvPr/>
        </p:nvSpPr>
        <p:spPr>
          <a:xfrm>
            <a:off x="3872484" y="65745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Thi công tuyến ống trên xe nâng người</a:t>
            </a:r>
            <a:endParaRPr lang="en-US" sz="800" dirty="0"/>
          </a:p>
        </p:txBody>
      </p:sp>
      <p:sp>
        <p:nvSpPr>
          <p:cNvPr id="12" name="Text 6"/>
          <p:cNvSpPr txBox="1"/>
          <p:nvPr/>
        </p:nvSpPr>
        <p:spPr>
          <a:xfrm>
            <a:off x="502920" y="690372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TRÌNH TỰ THI CÔNG</a:t>
            </a:r>
            <a:endParaRPr lang="en-US" sz="900" dirty="0"/>
          </a:p>
        </p:txBody>
      </p:sp>
      <p:sp>
        <p:nvSpPr>
          <p:cNvPr id="13" name="Shape 7"/>
          <p:cNvSpPr/>
          <p:nvPr/>
        </p:nvSpPr>
        <p:spPr>
          <a:xfrm>
            <a:off x="502920" y="7178040"/>
            <a:ext cx="2063496" cy="1234440"/>
          </a:xfrm>
          <a:prstGeom prst="roundRect">
            <a:avLst>
              <a:gd name="adj" fmla="val 5926"/>
            </a:avLst>
          </a:prstGeom>
          <a:solidFill>
            <a:schemeClr val="bg2"/>
          </a:solidFill>
          <a:ln w="12700">
            <a:solidFill>
              <a:schemeClr val="bg2"/>
            </a:solidFill>
            <a:prstDash val="solid"/>
          </a:ln>
        </p:spPr>
      </p:sp>
      <p:sp>
        <p:nvSpPr>
          <p:cNvPr id="14" name="Shape 8"/>
          <p:cNvSpPr/>
          <p:nvPr/>
        </p:nvSpPr>
        <p:spPr>
          <a:xfrm>
            <a:off x="640080" y="7315200"/>
            <a:ext cx="365760" cy="365760"/>
          </a:xfrm>
          <a:prstGeom prst="ellipse">
            <a:avLst/>
          </a:prstGeom>
          <a:solidFill>
            <a:schemeClr val="accent1"/>
          </a:solidFill>
          <a:ln w="12700">
            <a:solidFill>
              <a:schemeClr val="accent1"/>
            </a:solidFill>
            <a:prstDash val="solid"/>
          </a:ln>
        </p:spPr>
      </p:sp>
      <p:sp>
        <p:nvSpPr>
          <p:cNvPr id="15" name="Text 9"/>
          <p:cNvSpPr txBox="1"/>
          <p:nvPr/>
        </p:nvSpPr>
        <p:spPr>
          <a:xfrm>
            <a:off x="640080" y="73152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6" name="Text 10"/>
          <p:cNvSpPr txBox="1"/>
          <p:nvPr/>
        </p:nvSpPr>
        <p:spPr>
          <a:xfrm>
            <a:off x="1097280" y="72969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Khảo sát</a:t>
            </a:r>
            <a:endParaRPr lang="en-US" sz="1050" dirty="0"/>
          </a:p>
        </p:txBody>
      </p:sp>
      <p:sp>
        <p:nvSpPr>
          <p:cNvPr id="17" name="Text 11"/>
          <p:cNvSpPr txBox="1"/>
          <p:nvPr/>
        </p:nvSpPr>
        <p:spPr>
          <a:xfrm>
            <a:off x="1097280" y="77266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Vị trí máy, cao độ trần, tuyến đi ống, nguồn điện.</a:t>
            </a:r>
            <a:endParaRPr lang="en-US" sz="950" dirty="0"/>
          </a:p>
        </p:txBody>
      </p:sp>
      <p:sp>
        <p:nvSpPr>
          <p:cNvPr id="18" name="Shape 12"/>
          <p:cNvSpPr/>
          <p:nvPr/>
        </p:nvSpPr>
        <p:spPr>
          <a:xfrm>
            <a:off x="2749296" y="7178040"/>
            <a:ext cx="2063496" cy="1234440"/>
          </a:xfrm>
          <a:prstGeom prst="roundRect">
            <a:avLst>
              <a:gd name="adj" fmla="val 5926"/>
            </a:avLst>
          </a:prstGeom>
          <a:solidFill>
            <a:schemeClr val="bg2"/>
          </a:solidFill>
          <a:ln w="12700">
            <a:solidFill>
              <a:schemeClr val="bg2"/>
            </a:solidFill>
            <a:prstDash val="solid"/>
          </a:ln>
        </p:spPr>
      </p:sp>
      <p:sp>
        <p:nvSpPr>
          <p:cNvPr id="19" name="Shape 13"/>
          <p:cNvSpPr/>
          <p:nvPr/>
        </p:nvSpPr>
        <p:spPr>
          <a:xfrm>
            <a:off x="2886456" y="7315200"/>
            <a:ext cx="365760" cy="365760"/>
          </a:xfrm>
          <a:prstGeom prst="ellipse">
            <a:avLst/>
          </a:prstGeom>
          <a:solidFill>
            <a:schemeClr val="accent1"/>
          </a:solidFill>
          <a:ln w="12700">
            <a:solidFill>
              <a:schemeClr val="accent1"/>
            </a:solidFill>
            <a:prstDash val="solid"/>
          </a:ln>
        </p:spPr>
      </p:sp>
      <p:sp>
        <p:nvSpPr>
          <p:cNvPr id="20" name="Text 14"/>
          <p:cNvSpPr txBox="1"/>
          <p:nvPr/>
        </p:nvSpPr>
        <p:spPr>
          <a:xfrm>
            <a:off x="2886456" y="73152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21" name="Text 15"/>
          <p:cNvSpPr txBox="1"/>
          <p:nvPr/>
        </p:nvSpPr>
        <p:spPr>
          <a:xfrm>
            <a:off x="3343656" y="72969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Định vị &amp; treo đỡ</a:t>
            </a:r>
            <a:endParaRPr lang="en-US" sz="1050" dirty="0"/>
          </a:p>
        </p:txBody>
      </p:sp>
      <p:sp>
        <p:nvSpPr>
          <p:cNvPr id="22" name="Text 16"/>
          <p:cNvSpPr txBox="1"/>
          <p:nvPr/>
        </p:nvSpPr>
        <p:spPr>
          <a:xfrm>
            <a:off x="3343656" y="77266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Ty treo, giá đỡ, cùm ống theo tuyến.</a:t>
            </a:r>
            <a:endParaRPr lang="en-US" sz="950" dirty="0"/>
          </a:p>
        </p:txBody>
      </p:sp>
      <p:sp>
        <p:nvSpPr>
          <p:cNvPr id="23" name="Shape 17"/>
          <p:cNvSpPr/>
          <p:nvPr/>
        </p:nvSpPr>
        <p:spPr>
          <a:xfrm>
            <a:off x="4995672" y="7178040"/>
            <a:ext cx="2063496" cy="1234440"/>
          </a:xfrm>
          <a:prstGeom prst="roundRect">
            <a:avLst>
              <a:gd name="adj" fmla="val 5926"/>
            </a:avLst>
          </a:prstGeom>
          <a:solidFill>
            <a:schemeClr val="bg2"/>
          </a:solidFill>
          <a:ln w="12700">
            <a:solidFill>
              <a:schemeClr val="bg2"/>
            </a:solidFill>
            <a:prstDash val="solid"/>
          </a:ln>
        </p:spPr>
      </p:sp>
      <p:sp>
        <p:nvSpPr>
          <p:cNvPr id="24" name="Shape 18"/>
          <p:cNvSpPr/>
          <p:nvPr/>
        </p:nvSpPr>
        <p:spPr>
          <a:xfrm>
            <a:off x="5132832" y="7315200"/>
            <a:ext cx="365760" cy="365760"/>
          </a:xfrm>
          <a:prstGeom prst="ellipse">
            <a:avLst/>
          </a:prstGeom>
          <a:solidFill>
            <a:schemeClr val="accent1"/>
          </a:solidFill>
          <a:ln w="12700">
            <a:solidFill>
              <a:schemeClr val="accent1"/>
            </a:solidFill>
            <a:prstDash val="solid"/>
          </a:ln>
        </p:spPr>
      </p:sp>
      <p:sp>
        <p:nvSpPr>
          <p:cNvPr id="25" name="Text 19"/>
          <p:cNvSpPr txBox="1"/>
          <p:nvPr/>
        </p:nvSpPr>
        <p:spPr>
          <a:xfrm>
            <a:off x="5132832" y="73152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6" name="Text 20"/>
          <p:cNvSpPr txBox="1"/>
          <p:nvPr/>
        </p:nvSpPr>
        <p:spPr>
          <a:xfrm>
            <a:off x="5590032" y="72969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Lắp tuyến ống</a:t>
            </a:r>
            <a:endParaRPr lang="en-US" sz="1050" dirty="0"/>
          </a:p>
        </p:txBody>
      </p:sp>
      <p:sp>
        <p:nvSpPr>
          <p:cNvPr id="27" name="Text 21"/>
          <p:cNvSpPr txBox="1"/>
          <p:nvPr/>
        </p:nvSpPr>
        <p:spPr>
          <a:xfrm>
            <a:off x="5590032" y="77266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Ống chính, chạc, co, ống mềm xuống máy.</a:t>
            </a:r>
            <a:endParaRPr lang="en-US" sz="950" dirty="0"/>
          </a:p>
        </p:txBody>
      </p:sp>
      <p:sp>
        <p:nvSpPr>
          <p:cNvPr id="28" name="Shape 22"/>
          <p:cNvSpPr/>
          <p:nvPr/>
        </p:nvSpPr>
        <p:spPr>
          <a:xfrm>
            <a:off x="502920" y="8549640"/>
            <a:ext cx="2063496" cy="1234440"/>
          </a:xfrm>
          <a:prstGeom prst="roundRect">
            <a:avLst>
              <a:gd name="adj" fmla="val 5926"/>
            </a:avLst>
          </a:prstGeom>
          <a:solidFill>
            <a:schemeClr val="bg2"/>
          </a:solidFill>
          <a:ln w="12700">
            <a:solidFill>
              <a:schemeClr val="bg2"/>
            </a:solidFill>
            <a:prstDash val="solid"/>
          </a:ln>
        </p:spPr>
      </p:sp>
      <p:sp>
        <p:nvSpPr>
          <p:cNvPr id="29" name="Shape 23"/>
          <p:cNvSpPr/>
          <p:nvPr/>
        </p:nvSpPr>
        <p:spPr>
          <a:xfrm>
            <a:off x="640080" y="8686800"/>
            <a:ext cx="365760" cy="365760"/>
          </a:xfrm>
          <a:prstGeom prst="ellipse">
            <a:avLst/>
          </a:prstGeom>
          <a:solidFill>
            <a:schemeClr val="accent1"/>
          </a:solidFill>
          <a:ln w="12700">
            <a:solidFill>
              <a:schemeClr val="accent1"/>
            </a:solidFill>
            <a:prstDash val="solid"/>
          </a:ln>
        </p:spPr>
      </p:sp>
      <p:sp>
        <p:nvSpPr>
          <p:cNvPr id="30" name="Text 24"/>
          <p:cNvSpPr txBox="1"/>
          <p:nvPr/>
        </p:nvSpPr>
        <p:spPr>
          <a:xfrm>
            <a:off x="640080" y="86868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31" name="Text 25"/>
          <p:cNvSpPr txBox="1"/>
          <p:nvPr/>
        </p:nvSpPr>
        <p:spPr>
          <a:xfrm>
            <a:off x="1097280" y="86685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Lắp máy lọc</a:t>
            </a:r>
            <a:endParaRPr lang="en-US" sz="1050" dirty="0"/>
          </a:p>
        </p:txBody>
      </p:sp>
      <p:sp>
        <p:nvSpPr>
          <p:cNvPr id="32" name="Text 26"/>
          <p:cNvSpPr txBox="1"/>
          <p:nvPr/>
        </p:nvSpPr>
        <p:spPr>
          <a:xfrm>
            <a:off x="1097280" y="90982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Đặt máy trên đầu máy CNC hoặc giá đỡ cột.</a:t>
            </a:r>
            <a:endParaRPr lang="en-US" sz="950" dirty="0"/>
          </a:p>
        </p:txBody>
      </p:sp>
      <p:sp>
        <p:nvSpPr>
          <p:cNvPr id="33" name="Shape 27"/>
          <p:cNvSpPr/>
          <p:nvPr/>
        </p:nvSpPr>
        <p:spPr>
          <a:xfrm>
            <a:off x="2749296" y="8549640"/>
            <a:ext cx="2063496" cy="1234440"/>
          </a:xfrm>
          <a:prstGeom prst="roundRect">
            <a:avLst>
              <a:gd name="adj" fmla="val 5926"/>
            </a:avLst>
          </a:prstGeom>
          <a:solidFill>
            <a:schemeClr val="bg2"/>
          </a:solidFill>
          <a:ln w="12700">
            <a:solidFill>
              <a:schemeClr val="bg2"/>
            </a:solidFill>
            <a:prstDash val="solid"/>
          </a:ln>
        </p:spPr>
      </p:sp>
      <p:sp>
        <p:nvSpPr>
          <p:cNvPr id="34" name="Shape 28"/>
          <p:cNvSpPr/>
          <p:nvPr/>
        </p:nvSpPr>
        <p:spPr>
          <a:xfrm>
            <a:off x="2886456" y="8686800"/>
            <a:ext cx="365760" cy="365760"/>
          </a:xfrm>
          <a:prstGeom prst="ellipse">
            <a:avLst/>
          </a:prstGeom>
          <a:solidFill>
            <a:schemeClr val="accent1"/>
          </a:solidFill>
          <a:ln w="12700">
            <a:solidFill>
              <a:schemeClr val="accent1"/>
            </a:solidFill>
            <a:prstDash val="solid"/>
          </a:ln>
        </p:spPr>
      </p:sp>
      <p:sp>
        <p:nvSpPr>
          <p:cNvPr id="35" name="Text 29"/>
          <p:cNvSpPr txBox="1"/>
          <p:nvPr/>
        </p:nvSpPr>
        <p:spPr>
          <a:xfrm>
            <a:off x="2886456" y="86868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36" name="Text 30"/>
          <p:cNvSpPr txBox="1"/>
          <p:nvPr/>
        </p:nvSpPr>
        <p:spPr>
          <a:xfrm>
            <a:off x="3343656" y="86685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Làm kín &amp; đấu điện</a:t>
            </a:r>
            <a:endParaRPr lang="en-US" sz="1050" dirty="0"/>
          </a:p>
        </p:txBody>
      </p:sp>
      <p:sp>
        <p:nvSpPr>
          <p:cNvPr id="37" name="Text 31"/>
          <p:cNvSpPr txBox="1"/>
          <p:nvPr/>
        </p:nvSpPr>
        <p:spPr>
          <a:xfrm>
            <a:off x="3343656" y="90982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Bơm keo mối nối, đấu nguồn, đèn báo.</a:t>
            </a:r>
            <a:endParaRPr lang="en-US" sz="950" dirty="0"/>
          </a:p>
        </p:txBody>
      </p:sp>
      <p:sp>
        <p:nvSpPr>
          <p:cNvPr id="38" name="Shape 32"/>
          <p:cNvSpPr/>
          <p:nvPr/>
        </p:nvSpPr>
        <p:spPr>
          <a:xfrm>
            <a:off x="4995672" y="8549640"/>
            <a:ext cx="2063496" cy="1234440"/>
          </a:xfrm>
          <a:prstGeom prst="roundRect">
            <a:avLst>
              <a:gd name="adj" fmla="val 5926"/>
            </a:avLst>
          </a:prstGeom>
          <a:solidFill>
            <a:schemeClr val="bg2"/>
          </a:solidFill>
          <a:ln w="12700">
            <a:solidFill>
              <a:schemeClr val="bg2"/>
            </a:solidFill>
            <a:prstDash val="solid"/>
          </a:ln>
        </p:spPr>
      </p:sp>
      <p:sp>
        <p:nvSpPr>
          <p:cNvPr id="39" name="Shape 33"/>
          <p:cNvSpPr/>
          <p:nvPr/>
        </p:nvSpPr>
        <p:spPr>
          <a:xfrm>
            <a:off x="5132832" y="8686800"/>
            <a:ext cx="365760" cy="365760"/>
          </a:xfrm>
          <a:prstGeom prst="ellipse">
            <a:avLst/>
          </a:prstGeom>
          <a:solidFill>
            <a:schemeClr val="accent1"/>
          </a:solidFill>
          <a:ln w="12700">
            <a:solidFill>
              <a:schemeClr val="accent1"/>
            </a:solidFill>
            <a:prstDash val="solid"/>
          </a:ln>
        </p:spPr>
      </p:sp>
      <p:sp>
        <p:nvSpPr>
          <p:cNvPr id="40" name="Text 34"/>
          <p:cNvSpPr txBox="1"/>
          <p:nvPr/>
        </p:nvSpPr>
        <p:spPr>
          <a:xfrm>
            <a:off x="5132832" y="86868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41" name="Text 35"/>
          <p:cNvSpPr txBox="1"/>
          <p:nvPr/>
        </p:nvSpPr>
        <p:spPr>
          <a:xfrm>
            <a:off x="5590032" y="866851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Chạy thử</a:t>
            </a:r>
            <a:endParaRPr lang="en-US" sz="1050" dirty="0"/>
          </a:p>
        </p:txBody>
      </p:sp>
      <p:sp>
        <p:nvSpPr>
          <p:cNvPr id="42" name="Text 36"/>
          <p:cNvSpPr txBox="1"/>
          <p:nvPr/>
        </p:nvSpPr>
        <p:spPr>
          <a:xfrm>
            <a:off x="5590032" y="9098280"/>
            <a:ext cx="1331976" cy="5943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Kiểm tra lực hút, rò rỉ, độ rung, bàn giao.</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CHUYÊN MÔN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Lắp đặt máy lọc &amp; giá đỡ</a:t>
            </a:r>
            <a:endParaRPr lang="en-US" sz="2200" dirty="0"/>
          </a:p>
        </p:txBody>
      </p:sp>
      <p:pic>
        <p:nvPicPr>
          <p:cNvPr id="4" name="photo img27.jpg" descr="Máy lọc sương dầu treo trên giá đỡ, có ống xả và đường hồi dầu">    </p:cNvPr>
          <p:cNvPicPr>
            <a:picLocks noChangeAspect="1"/>
          </p:cNvPicPr>
          <p:nvPr/>
        </p:nvPicPr>
        <p:blipFill>
          <a:blip r:embed="rId1"/>
          <a:stretch>
            <a:fillRect/>
          </a:stretch>
        </p:blipFill>
        <p:spPr>
          <a:xfrm>
            <a:off x="502920" y="1463040"/>
            <a:ext cx="6556248" cy="3291840"/>
          </a:xfrm>
          <a:prstGeom prst="rect">
            <a:avLst/>
          </a:prstGeom>
        </p:spPr>
      </p:pic>
      <p:sp>
        <p:nvSpPr>
          <p:cNvPr id="5" name="Text 2"/>
          <p:cNvSpPr txBox="1"/>
          <p:nvPr/>
        </p:nvSpPr>
        <p:spPr>
          <a:xfrm>
            <a:off x="502920" y="479145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Máy lọc sương dầu treo trên giá đỡ, có ống xả và đường hồi dầu</a:t>
            </a:r>
            <a:endParaRPr lang="en-US" sz="800" dirty="0"/>
          </a:p>
        </p:txBody>
      </p:sp>
      <p:pic>
        <p:nvPicPr>
          <p:cNvPr id="6" name="photo img26.jpg" descr="Hoàn thiện máy lọc trên giá đỡ">    </p:cNvPr>
          <p:cNvPicPr>
            <a:picLocks noChangeAspect="1"/>
          </p:cNvPicPr>
          <p:nvPr/>
        </p:nvPicPr>
        <p:blipFill>
          <a:blip r:embed="rId2"/>
          <a:stretch>
            <a:fillRect/>
          </a:stretch>
        </p:blipFill>
        <p:spPr>
          <a:xfrm>
            <a:off x="502920" y="5120640"/>
            <a:ext cx="2063496" cy="2377440"/>
          </a:xfrm>
          <a:prstGeom prst="rect">
            <a:avLst/>
          </a:prstGeom>
        </p:spPr>
      </p:pic>
      <p:sp>
        <p:nvSpPr>
          <p:cNvPr id="7" name="Text 3"/>
          <p:cNvSpPr txBox="1"/>
          <p:nvPr/>
        </p:nvSpPr>
        <p:spPr>
          <a:xfrm>
            <a:off x="502920" y="753465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Hoàn thiện máy lọc trên giá đỡ</a:t>
            </a:r>
            <a:endParaRPr lang="en-US" sz="800" dirty="0"/>
          </a:p>
        </p:txBody>
      </p:sp>
      <p:pic>
        <p:nvPicPr>
          <p:cNvPr id="8" name="photo img30.jpg" descr="Máy lọc trên giá đỡ cột">    </p:cNvPr>
          <p:cNvPicPr>
            <a:picLocks noChangeAspect="1"/>
          </p:cNvPicPr>
          <p:nvPr/>
        </p:nvPicPr>
        <p:blipFill>
          <a:blip r:embed="rId3"/>
          <a:stretch>
            <a:fillRect/>
          </a:stretch>
        </p:blipFill>
        <p:spPr>
          <a:xfrm>
            <a:off x="2749296" y="5120640"/>
            <a:ext cx="2063496" cy="2377440"/>
          </a:xfrm>
          <a:prstGeom prst="rect">
            <a:avLst/>
          </a:prstGeom>
        </p:spPr>
      </p:pic>
      <p:sp>
        <p:nvSpPr>
          <p:cNvPr id="9" name="Text 4"/>
          <p:cNvSpPr txBox="1"/>
          <p:nvPr/>
        </p:nvSpPr>
        <p:spPr>
          <a:xfrm>
            <a:off x="2749296" y="753465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Máy lọc trên giá đỡ cột</a:t>
            </a:r>
            <a:endParaRPr lang="en-US" sz="800" dirty="0"/>
          </a:p>
        </p:txBody>
      </p:sp>
      <p:pic>
        <p:nvPicPr>
          <p:cNvPr id="10" name="photo img29.jpg" descr="Gia công giá đỡ thép">    </p:cNvPr>
          <p:cNvPicPr>
            <a:picLocks noChangeAspect="1"/>
          </p:cNvPicPr>
          <p:nvPr/>
        </p:nvPicPr>
        <p:blipFill>
          <a:blip r:embed="rId4"/>
          <a:stretch>
            <a:fillRect/>
          </a:stretch>
        </p:blipFill>
        <p:spPr>
          <a:xfrm>
            <a:off x="4995672" y="5120640"/>
            <a:ext cx="2063496" cy="2377440"/>
          </a:xfrm>
          <a:prstGeom prst="rect">
            <a:avLst/>
          </a:prstGeom>
        </p:spPr>
      </p:pic>
      <p:sp>
        <p:nvSpPr>
          <p:cNvPr id="11" name="Text 5"/>
          <p:cNvSpPr txBox="1"/>
          <p:nvPr/>
        </p:nvSpPr>
        <p:spPr>
          <a:xfrm>
            <a:off x="4995672" y="753465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Gia công giá đỡ thép</a:t>
            </a:r>
            <a:endParaRPr lang="en-US" sz="800" dirty="0"/>
          </a:p>
        </p:txBody>
      </p:sp>
      <p:sp>
        <p:nvSpPr>
          <p:cNvPr id="12" name="Text 6"/>
          <p:cNvSpPr txBox="1"/>
          <p:nvPr/>
        </p:nvSpPr>
        <p:spPr>
          <a:xfrm>
            <a:off x="502920" y="786384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ĐIỂM KIỂM SOÁT</a:t>
            </a:r>
            <a:endParaRPr lang="en-US" sz="900" dirty="0"/>
          </a:p>
        </p:txBody>
      </p:sp>
      <p:sp>
        <p:nvSpPr>
          <p:cNvPr id="13" name="Shape 7"/>
          <p:cNvSpPr/>
          <p:nvPr/>
        </p:nvSpPr>
        <p:spPr>
          <a:xfrm>
            <a:off x="502920" y="8138160"/>
            <a:ext cx="2063496" cy="1463040"/>
          </a:xfrm>
          <a:prstGeom prst="roundRect">
            <a:avLst>
              <a:gd name="adj" fmla="val 5000"/>
            </a:avLst>
          </a:prstGeom>
          <a:solidFill>
            <a:schemeClr val="bg2"/>
          </a:solidFill>
          <a:ln w="12700">
            <a:solidFill>
              <a:schemeClr val="bg2"/>
            </a:solidFill>
            <a:prstDash val="solid"/>
          </a:ln>
        </p:spPr>
      </p:sp>
      <p:sp>
        <p:nvSpPr>
          <p:cNvPr id="14" name="Shape 8"/>
          <p:cNvSpPr/>
          <p:nvPr/>
        </p:nvSpPr>
        <p:spPr>
          <a:xfrm>
            <a:off x="640080" y="8275320"/>
            <a:ext cx="365760" cy="365760"/>
          </a:xfrm>
          <a:prstGeom prst="ellipse">
            <a:avLst/>
          </a:prstGeom>
          <a:solidFill>
            <a:schemeClr val="accent1"/>
          </a:solidFill>
          <a:ln w="12700">
            <a:solidFill>
              <a:schemeClr val="accent1"/>
            </a:solidFill>
            <a:prstDash val="solid"/>
          </a:ln>
        </p:spPr>
      </p:sp>
      <p:sp>
        <p:nvSpPr>
          <p:cNvPr id="15" name="Text 9"/>
          <p:cNvSpPr txBox="1"/>
          <p:nvPr/>
        </p:nvSpPr>
        <p:spPr>
          <a:xfrm>
            <a:off x="640080" y="82753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6" name="Text 10"/>
          <p:cNvSpPr txBox="1"/>
          <p:nvPr/>
        </p:nvSpPr>
        <p:spPr>
          <a:xfrm>
            <a:off x="1097280" y="825703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GIÁ ĐỠ CHẮC CHẮN</a:t>
            </a:r>
            <a:endParaRPr lang="en-US" sz="1050" dirty="0"/>
          </a:p>
        </p:txBody>
      </p:sp>
      <p:sp>
        <p:nvSpPr>
          <p:cNvPr id="17" name="Text 11"/>
          <p:cNvSpPr txBox="1"/>
          <p:nvPr/>
        </p:nvSpPr>
        <p:spPr>
          <a:xfrm>
            <a:off x="1097280" y="8686800"/>
            <a:ext cx="1331976" cy="8229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Bắt nở, hàn, sơn chống gỉ; chịu tải và chống rung.</a:t>
            </a:r>
            <a:endParaRPr lang="en-US" sz="950" dirty="0"/>
          </a:p>
        </p:txBody>
      </p:sp>
      <p:sp>
        <p:nvSpPr>
          <p:cNvPr id="18" name="Shape 12"/>
          <p:cNvSpPr/>
          <p:nvPr/>
        </p:nvSpPr>
        <p:spPr>
          <a:xfrm>
            <a:off x="2749296" y="8138160"/>
            <a:ext cx="2063496" cy="1463040"/>
          </a:xfrm>
          <a:prstGeom prst="roundRect">
            <a:avLst>
              <a:gd name="adj" fmla="val 5000"/>
            </a:avLst>
          </a:prstGeom>
          <a:solidFill>
            <a:schemeClr val="bg2"/>
          </a:solidFill>
          <a:ln w="12700">
            <a:solidFill>
              <a:schemeClr val="bg2"/>
            </a:solidFill>
            <a:prstDash val="solid"/>
          </a:ln>
        </p:spPr>
      </p:sp>
      <p:sp>
        <p:nvSpPr>
          <p:cNvPr id="19" name="Shape 13"/>
          <p:cNvSpPr/>
          <p:nvPr/>
        </p:nvSpPr>
        <p:spPr>
          <a:xfrm>
            <a:off x="2886456" y="8275320"/>
            <a:ext cx="365760" cy="365760"/>
          </a:xfrm>
          <a:prstGeom prst="ellipse">
            <a:avLst/>
          </a:prstGeom>
          <a:solidFill>
            <a:schemeClr val="accent1"/>
          </a:solidFill>
          <a:ln w="12700">
            <a:solidFill>
              <a:schemeClr val="accent1"/>
            </a:solidFill>
            <a:prstDash val="solid"/>
          </a:ln>
        </p:spPr>
      </p:sp>
      <p:sp>
        <p:nvSpPr>
          <p:cNvPr id="20" name="Text 14"/>
          <p:cNvSpPr txBox="1"/>
          <p:nvPr/>
        </p:nvSpPr>
        <p:spPr>
          <a:xfrm>
            <a:off x="2886456" y="82753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21" name="Text 15"/>
          <p:cNvSpPr txBox="1"/>
          <p:nvPr/>
        </p:nvSpPr>
        <p:spPr>
          <a:xfrm>
            <a:off x="3343656" y="825703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MỐI NỐI KÍN</a:t>
            </a:r>
            <a:endParaRPr lang="en-US" sz="1050" dirty="0"/>
          </a:p>
        </p:txBody>
      </p:sp>
      <p:sp>
        <p:nvSpPr>
          <p:cNvPr id="22" name="Text 16"/>
          <p:cNvSpPr txBox="1"/>
          <p:nvPr/>
        </p:nvSpPr>
        <p:spPr>
          <a:xfrm>
            <a:off x="3343656" y="8686800"/>
            <a:ext cx="1331976" cy="8229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Bơm keo, đai siết; không rò khí, không nhỏ dầu.</a:t>
            </a:r>
            <a:endParaRPr lang="en-US" sz="950" dirty="0"/>
          </a:p>
        </p:txBody>
      </p:sp>
      <p:sp>
        <p:nvSpPr>
          <p:cNvPr id="23" name="Shape 17"/>
          <p:cNvSpPr/>
          <p:nvPr/>
        </p:nvSpPr>
        <p:spPr>
          <a:xfrm>
            <a:off x="4995672" y="8138160"/>
            <a:ext cx="2063496" cy="1463040"/>
          </a:xfrm>
          <a:prstGeom prst="roundRect">
            <a:avLst>
              <a:gd name="adj" fmla="val 5000"/>
            </a:avLst>
          </a:prstGeom>
          <a:solidFill>
            <a:schemeClr val="bg2"/>
          </a:solidFill>
          <a:ln w="12700">
            <a:solidFill>
              <a:schemeClr val="bg2"/>
            </a:solidFill>
            <a:prstDash val="solid"/>
          </a:ln>
        </p:spPr>
      </p:sp>
      <p:sp>
        <p:nvSpPr>
          <p:cNvPr id="24" name="Shape 18"/>
          <p:cNvSpPr/>
          <p:nvPr/>
        </p:nvSpPr>
        <p:spPr>
          <a:xfrm>
            <a:off x="5132832" y="8275320"/>
            <a:ext cx="365760" cy="365760"/>
          </a:xfrm>
          <a:prstGeom prst="ellipse">
            <a:avLst/>
          </a:prstGeom>
          <a:solidFill>
            <a:schemeClr val="accent1"/>
          </a:solidFill>
          <a:ln w="12700">
            <a:solidFill>
              <a:schemeClr val="accent1"/>
            </a:solidFill>
            <a:prstDash val="solid"/>
          </a:ln>
        </p:spPr>
      </p:sp>
      <p:sp>
        <p:nvSpPr>
          <p:cNvPr id="25" name="Text 19"/>
          <p:cNvSpPr txBox="1"/>
          <p:nvPr/>
        </p:nvSpPr>
        <p:spPr>
          <a:xfrm>
            <a:off x="5132832" y="82753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6" name="Text 20"/>
          <p:cNvSpPr txBox="1"/>
          <p:nvPr/>
        </p:nvSpPr>
        <p:spPr>
          <a:xfrm>
            <a:off x="5590032" y="8257032"/>
            <a:ext cx="1331976"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ĐIỆN AN TOÀN</a:t>
            </a:r>
            <a:endParaRPr lang="en-US" sz="1050" dirty="0"/>
          </a:p>
        </p:txBody>
      </p:sp>
      <p:sp>
        <p:nvSpPr>
          <p:cNvPr id="27" name="Text 21"/>
          <p:cNvSpPr txBox="1"/>
          <p:nvPr/>
        </p:nvSpPr>
        <p:spPr>
          <a:xfrm>
            <a:off x="5590032" y="8686800"/>
            <a:ext cx="1331976" cy="82296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Ống ruột gà bảo vệ, phích công nghiệp, tiếp địa.</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CHUYÊN MÔN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Hệ thống bơm &amp; xử lý nước</a:t>
            </a:r>
            <a:endParaRPr lang="en-US" sz="2200" dirty="0"/>
          </a:p>
        </p:txBody>
      </p:sp>
      <p:pic>
        <p:nvPicPr>
          <p:cNvPr id="4" name="photo img60.jpg" descr="Bồn hóa chất, máy khuấy, bơm định lượng và hệ màng UF/RO – Thành phố Huế (09/2026)">    </p:cNvPr>
          <p:cNvPicPr>
            <a:picLocks noChangeAspect="1"/>
          </p:cNvPicPr>
          <p:nvPr/>
        </p:nvPicPr>
        <p:blipFill>
          <a:blip r:embed="rId1"/>
          <a:stretch>
            <a:fillRect/>
          </a:stretch>
        </p:blipFill>
        <p:spPr>
          <a:xfrm>
            <a:off x="502920" y="1463040"/>
            <a:ext cx="6556248" cy="5394960"/>
          </a:xfrm>
          <a:prstGeom prst="rect">
            <a:avLst/>
          </a:prstGeom>
        </p:spPr>
      </p:pic>
      <p:sp>
        <p:nvSpPr>
          <p:cNvPr id="5" name="Text 2"/>
          <p:cNvSpPr txBox="1"/>
          <p:nvPr/>
        </p:nvSpPr>
        <p:spPr>
          <a:xfrm>
            <a:off x="502920" y="689457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Bồn hóa chất, máy khuấy, bơm định lượng và hệ màng UF/RO – Thành phố Huế (09/2026)</a:t>
            </a:r>
            <a:endParaRPr lang="en-US" sz="800" dirty="0"/>
          </a:p>
        </p:txBody>
      </p:sp>
      <p:sp>
        <p:nvSpPr>
          <p:cNvPr id="6" name="Text 3"/>
          <p:cNvSpPr txBox="1"/>
          <p:nvPr/>
        </p:nvSpPr>
        <p:spPr>
          <a:xfrm>
            <a:off x="502920" y="7269480"/>
            <a:ext cx="3140964"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PHẠM VI THI CÔNG</a:t>
            </a:r>
            <a:endParaRPr lang="en-US" sz="900" dirty="0"/>
          </a:p>
        </p:txBody>
      </p:sp>
      <p:sp>
        <p:nvSpPr>
          <p:cNvPr id="7" name="Shape 4"/>
          <p:cNvSpPr/>
          <p:nvPr/>
        </p:nvSpPr>
        <p:spPr>
          <a:xfrm>
            <a:off x="502920" y="7543800"/>
            <a:ext cx="3140964" cy="1874520"/>
          </a:xfrm>
          <a:prstGeom prst="roundRect">
            <a:avLst>
              <a:gd name="adj" fmla="val 3902"/>
            </a:avLst>
          </a:prstGeom>
          <a:solidFill>
            <a:schemeClr val="bg2"/>
          </a:solidFill>
          <a:ln w="12700">
            <a:solidFill>
              <a:schemeClr val="bg2"/>
            </a:solidFill>
            <a:prstDash val="solid"/>
          </a:ln>
        </p:spPr>
      </p:sp>
      <p:sp>
        <p:nvSpPr>
          <p:cNvPr id="8" name="Text 5"/>
          <p:cNvSpPr txBox="1"/>
          <p:nvPr/>
        </p:nvSpPr>
        <p:spPr>
          <a:xfrm>
            <a:off x="640080" y="7680960"/>
            <a:ext cx="2866644" cy="1645920"/>
          </a:xfrm>
          <a:prstGeom prst="rect">
            <a:avLst/>
          </a:prstGeom>
          <a:noFill/>
          <a:ln/>
        </p:spPr>
        <p:txBody>
          <a:bodyPr wrap="square" lIns="0" tIns="0" rIns="0" bIns="0" rtlCol="0" anchor="t"/>
          <a:lstStyle/>
          <a:p>
            <a:pPr marL="152400" indent="-152400">
              <a:spcAft>
                <a:spcPts val="700"/>
              </a:spcAft>
              <a:buSzPct val="100000"/>
              <a:buChar char="•"/>
            </a:pPr>
            <a:r>
              <a:rPr lang="en-US" sz="1000" dirty="0">
                <a:solidFill>
                  <a:schemeClr val="tx1"/>
                </a:solidFill>
              </a:rPr>
              <a:t>Lắp đặt bơm ly tâm, bơm định lượng hóa chất</a:t>
            </a:r>
            <a:endParaRPr lang="en-US" sz="1000" dirty="0"/>
          </a:p>
          <a:p>
            <a:pPr marL="152400" indent="-152400">
              <a:spcAft>
                <a:spcPts val="700"/>
              </a:spcAft>
              <a:buSzPct val="100000"/>
              <a:buChar char="•"/>
            </a:pPr>
            <a:r>
              <a:rPr lang="en-US" sz="1000" dirty="0">
                <a:solidFill>
                  <a:schemeClr val="tx1"/>
                </a:solidFill>
              </a:rPr>
              <a:t>Lắp bồn chứa, cột lọc, lọc túi, cụm màng lọc</a:t>
            </a:r>
            <a:endParaRPr lang="en-US" sz="1000" dirty="0"/>
          </a:p>
          <a:p>
            <a:pPr marL="152400" indent="-152400">
              <a:spcAft>
                <a:spcPts val="700"/>
              </a:spcAft>
              <a:buSzPct val="100000"/>
              <a:buChar char="•"/>
            </a:pPr>
            <a:r>
              <a:rPr lang="en-US" sz="1000" dirty="0">
                <a:solidFill>
                  <a:schemeClr val="tx1"/>
                </a:solidFill>
              </a:rPr>
              <a:t>Đường ống uPVC / PVC công nghiệp, mặt bích</a:t>
            </a:r>
            <a:endParaRPr lang="en-US" sz="1000" dirty="0"/>
          </a:p>
          <a:p>
            <a:pPr marL="152400" indent="-152400">
              <a:spcAft>
                <a:spcPts val="700"/>
              </a:spcAft>
              <a:buSzPct val="100000"/>
              <a:buChar char="•"/>
            </a:pPr>
            <a:r>
              <a:rPr lang="en-US" sz="1000" dirty="0">
                <a:solidFill>
                  <a:schemeClr val="tx1"/>
                </a:solidFill>
              </a:rPr>
              <a:t>Van bi, van một chiều, đồng hồ áp, lưu lượng kế</a:t>
            </a:r>
            <a:endParaRPr lang="en-US" sz="1000" dirty="0"/>
          </a:p>
          <a:p>
            <a:pPr marL="152400" indent="-152400">
              <a:spcAft>
                <a:spcPts val="700"/>
              </a:spcAft>
              <a:buSzPct val="100000"/>
              <a:buChar char="•"/>
            </a:pPr>
            <a:r>
              <a:rPr lang="en-US" sz="1000" dirty="0">
                <a:solidFill>
                  <a:schemeClr val="tx1"/>
                </a:solidFill>
              </a:rPr>
              <a:t>Khung đỡ ống, sàn thao tác, giá đỡ thiết bị</a:t>
            </a:r>
            <a:endParaRPr lang="en-US" sz="1000" dirty="0"/>
          </a:p>
          <a:p>
            <a:pPr marL="152400" indent="-152400">
              <a:spcAft>
                <a:spcPts val="700"/>
              </a:spcAft>
              <a:buSzPct val="100000"/>
              <a:buChar char="•"/>
            </a:pPr>
            <a:r>
              <a:rPr lang="en-US" sz="1000" dirty="0">
                <a:solidFill>
                  <a:schemeClr val="tx1"/>
                </a:solidFill>
              </a:rPr>
              <a:t>Đấu nối tủ điện điều khiển bơm</a:t>
            </a:r>
            <a:endParaRPr lang="en-US" sz="1000" dirty="0"/>
          </a:p>
        </p:txBody>
      </p:sp>
      <p:sp>
        <p:nvSpPr>
          <p:cNvPr id="9" name="Text 6"/>
          <p:cNvSpPr txBox="1"/>
          <p:nvPr/>
        </p:nvSpPr>
        <p:spPr>
          <a:xfrm>
            <a:off x="3918204" y="7269480"/>
            <a:ext cx="3140964"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CHẠY THỬ &amp; BÀN GIAO</a:t>
            </a:r>
            <a:endParaRPr lang="en-US" sz="900" dirty="0"/>
          </a:p>
        </p:txBody>
      </p:sp>
      <p:sp>
        <p:nvSpPr>
          <p:cNvPr id="10" name="Shape 7"/>
          <p:cNvSpPr/>
          <p:nvPr/>
        </p:nvSpPr>
        <p:spPr>
          <a:xfrm>
            <a:off x="3918204" y="7543800"/>
            <a:ext cx="3140964" cy="1874520"/>
          </a:xfrm>
          <a:prstGeom prst="roundRect">
            <a:avLst>
              <a:gd name="adj" fmla="val 3902"/>
            </a:avLst>
          </a:prstGeom>
          <a:solidFill>
            <a:schemeClr val="bg2"/>
          </a:solidFill>
          <a:ln w="12700">
            <a:solidFill>
              <a:schemeClr val="bg2"/>
            </a:solidFill>
            <a:prstDash val="solid"/>
          </a:ln>
        </p:spPr>
      </p:sp>
      <p:sp>
        <p:nvSpPr>
          <p:cNvPr id="11" name="Text 8"/>
          <p:cNvSpPr txBox="1"/>
          <p:nvPr/>
        </p:nvSpPr>
        <p:spPr>
          <a:xfrm>
            <a:off x="4055364" y="7680960"/>
            <a:ext cx="2866644" cy="1645920"/>
          </a:xfrm>
          <a:prstGeom prst="rect">
            <a:avLst/>
          </a:prstGeom>
          <a:noFill/>
          <a:ln/>
        </p:spPr>
        <p:txBody>
          <a:bodyPr wrap="square" lIns="0" tIns="0" rIns="0" bIns="0" rtlCol="0" anchor="t"/>
          <a:lstStyle/>
          <a:p>
            <a:pPr marL="152400" indent="-152400">
              <a:spcAft>
                <a:spcPts val="700"/>
              </a:spcAft>
              <a:buSzPct val="100000"/>
              <a:buChar char="•"/>
            </a:pPr>
            <a:r>
              <a:rPr lang="en-US" sz="1000" dirty="0">
                <a:solidFill>
                  <a:schemeClr val="tx1"/>
                </a:solidFill>
              </a:rPr>
              <a:t>Súc rửa, vệ sinh đường ống trước vận hành</a:t>
            </a:r>
            <a:endParaRPr lang="en-US" sz="1000" dirty="0"/>
          </a:p>
          <a:p>
            <a:pPr marL="152400" indent="-152400">
              <a:spcAft>
                <a:spcPts val="700"/>
              </a:spcAft>
              <a:buSzPct val="100000"/>
              <a:buChar char="•"/>
            </a:pPr>
            <a:r>
              <a:rPr lang="en-US" sz="1000" dirty="0">
                <a:solidFill>
                  <a:schemeClr val="tx1"/>
                </a:solidFill>
              </a:rPr>
              <a:t>Thử kín đường ống, mặt bích, van</a:t>
            </a:r>
            <a:endParaRPr lang="en-US" sz="1000" dirty="0"/>
          </a:p>
          <a:p>
            <a:pPr marL="152400" indent="-152400">
              <a:spcAft>
                <a:spcPts val="700"/>
              </a:spcAft>
              <a:buSzPct val="100000"/>
              <a:buChar char="•"/>
            </a:pPr>
            <a:r>
              <a:rPr lang="en-US" sz="1000" dirty="0">
                <a:solidFill>
                  <a:schemeClr val="tx1"/>
                </a:solidFill>
              </a:rPr>
              <a:t>Kiểm tra chiều quay, dòng điện, độ rung bơm</a:t>
            </a:r>
            <a:endParaRPr lang="en-US" sz="1000" dirty="0"/>
          </a:p>
          <a:p>
            <a:pPr marL="152400" indent="-152400">
              <a:spcAft>
                <a:spcPts val="700"/>
              </a:spcAft>
              <a:buSzPct val="100000"/>
              <a:buChar char="•"/>
            </a:pPr>
            <a:r>
              <a:rPr lang="en-US" sz="1000" dirty="0">
                <a:solidFill>
                  <a:schemeClr val="tx1"/>
                </a:solidFill>
              </a:rPr>
              <a:t>Cân chỉnh áp suất và lưu lượng</a:t>
            </a:r>
            <a:endParaRPr lang="en-US" sz="1000" dirty="0"/>
          </a:p>
          <a:p>
            <a:pPr marL="152400" indent="-152400">
              <a:spcAft>
                <a:spcPts val="700"/>
              </a:spcAft>
              <a:buSzPct val="100000"/>
              <a:buChar char="•"/>
            </a:pPr>
            <a:r>
              <a:rPr lang="en-US" sz="1000" dirty="0">
                <a:solidFill>
                  <a:schemeClr val="tx1"/>
                </a:solidFill>
              </a:rPr>
              <a:t>Hướng dẫn vận hành cho nhân sự nhà máy</a:t>
            </a:r>
            <a:endParaRPr lang="en-US" sz="1000" dirty="0"/>
          </a:p>
          <a:p>
            <a:pPr marL="152400" indent="-152400">
              <a:spcAft>
                <a:spcPts val="700"/>
              </a:spcAft>
              <a:buSzPct val="100000"/>
              <a:buChar char="•"/>
            </a:pPr>
            <a:r>
              <a:rPr lang="en-US" sz="1000" dirty="0">
                <a:solidFill>
                  <a:schemeClr val="tx1"/>
                </a:solidFill>
              </a:rPr>
              <a:t>Bàn giao hồ sơ hoàn công, biên bản nghiệm thu</a:t>
            </a:r>
            <a:endParaRPr lang="en-US" sz="10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QUẢN TRỊ DỰ ÁN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Quy trình triển khai 10 bước</a:t>
            </a:r>
            <a:endParaRPr lang="en-US" sz="2200" dirty="0"/>
          </a:p>
        </p:txBody>
      </p:sp>
      <p:sp>
        <p:nvSpPr>
          <p:cNvPr id="4" name="Shape 2"/>
          <p:cNvSpPr/>
          <p:nvPr/>
        </p:nvSpPr>
        <p:spPr>
          <a:xfrm>
            <a:off x="502920" y="1508760"/>
            <a:ext cx="3186684" cy="1481328"/>
          </a:xfrm>
          <a:prstGeom prst="roundRect">
            <a:avLst>
              <a:gd name="adj" fmla="val 4938"/>
            </a:avLst>
          </a:prstGeom>
          <a:solidFill>
            <a:schemeClr val="bg2"/>
          </a:solidFill>
          <a:ln w="12700">
            <a:solidFill>
              <a:schemeClr val="bg2"/>
            </a:solidFill>
            <a:prstDash val="solid"/>
          </a:ln>
        </p:spPr>
      </p:sp>
      <p:sp>
        <p:nvSpPr>
          <p:cNvPr id="5" name="Shape 3"/>
          <p:cNvSpPr/>
          <p:nvPr/>
        </p:nvSpPr>
        <p:spPr>
          <a:xfrm>
            <a:off x="640080" y="1645920"/>
            <a:ext cx="365760" cy="365760"/>
          </a:xfrm>
          <a:prstGeom prst="ellipse">
            <a:avLst/>
          </a:prstGeom>
          <a:solidFill>
            <a:schemeClr val="tx2"/>
          </a:solidFill>
          <a:ln w="12700">
            <a:solidFill>
              <a:schemeClr val="tx2"/>
            </a:solidFill>
            <a:prstDash val="solid"/>
          </a:ln>
        </p:spPr>
      </p:sp>
      <p:sp>
        <p:nvSpPr>
          <p:cNvPr id="6" name="Text 4"/>
          <p:cNvSpPr txBox="1"/>
          <p:nvPr/>
        </p:nvSpPr>
        <p:spPr>
          <a:xfrm>
            <a:off x="640080" y="16459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7" name="Text 5"/>
          <p:cNvSpPr txBox="1"/>
          <p:nvPr/>
        </p:nvSpPr>
        <p:spPr>
          <a:xfrm>
            <a:off x="1097280" y="162763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Tiếp nhận yêu cầu</a:t>
            </a:r>
            <a:endParaRPr lang="en-US" sz="1050" dirty="0"/>
          </a:p>
        </p:txBody>
      </p:sp>
      <p:sp>
        <p:nvSpPr>
          <p:cNvPr id="8" name="Text 6"/>
          <p:cNvSpPr txBox="1"/>
          <p:nvPr/>
        </p:nvSpPr>
        <p:spPr>
          <a:xfrm>
            <a:off x="1097280" y="205740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Phạm vi, bản vẽ, tiến độ, ngân sách dự kiến.</a:t>
            </a:r>
            <a:endParaRPr lang="en-US" sz="950" dirty="0"/>
          </a:p>
        </p:txBody>
      </p:sp>
      <p:sp>
        <p:nvSpPr>
          <p:cNvPr id="9" name="Shape 7"/>
          <p:cNvSpPr/>
          <p:nvPr/>
        </p:nvSpPr>
        <p:spPr>
          <a:xfrm>
            <a:off x="3872484" y="1508760"/>
            <a:ext cx="3186684" cy="1481328"/>
          </a:xfrm>
          <a:prstGeom prst="roundRect">
            <a:avLst>
              <a:gd name="adj" fmla="val 4938"/>
            </a:avLst>
          </a:prstGeom>
          <a:solidFill>
            <a:schemeClr val="bg2"/>
          </a:solidFill>
          <a:ln w="12700">
            <a:solidFill>
              <a:schemeClr val="bg2"/>
            </a:solidFill>
            <a:prstDash val="solid"/>
          </a:ln>
        </p:spPr>
      </p:sp>
      <p:sp>
        <p:nvSpPr>
          <p:cNvPr id="10" name="Shape 8"/>
          <p:cNvSpPr/>
          <p:nvPr/>
        </p:nvSpPr>
        <p:spPr>
          <a:xfrm>
            <a:off x="4009644" y="1645920"/>
            <a:ext cx="365760" cy="365760"/>
          </a:xfrm>
          <a:prstGeom prst="ellipse">
            <a:avLst/>
          </a:prstGeom>
          <a:solidFill>
            <a:schemeClr val="accent1"/>
          </a:solidFill>
          <a:ln w="12700">
            <a:solidFill>
              <a:schemeClr val="accent1"/>
            </a:solidFill>
            <a:prstDash val="solid"/>
          </a:ln>
        </p:spPr>
      </p:sp>
      <p:sp>
        <p:nvSpPr>
          <p:cNvPr id="11" name="Text 9"/>
          <p:cNvSpPr txBox="1"/>
          <p:nvPr/>
        </p:nvSpPr>
        <p:spPr>
          <a:xfrm>
            <a:off x="4009644" y="16459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2" name="Text 10"/>
          <p:cNvSpPr txBox="1"/>
          <p:nvPr/>
        </p:nvSpPr>
        <p:spPr>
          <a:xfrm>
            <a:off x="4466844" y="162763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Khảo sát hiện trường</a:t>
            </a:r>
            <a:endParaRPr lang="en-US" sz="1050" dirty="0"/>
          </a:p>
        </p:txBody>
      </p:sp>
      <p:sp>
        <p:nvSpPr>
          <p:cNvPr id="13" name="Text 11"/>
          <p:cNvSpPr txBox="1"/>
          <p:nvPr/>
        </p:nvSpPr>
        <p:spPr>
          <a:xfrm>
            <a:off x="4466844" y="205740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Đo đạc, tuyến ống, nguồn điện, điều kiện thi công.</a:t>
            </a:r>
            <a:endParaRPr lang="en-US" sz="950" dirty="0"/>
          </a:p>
        </p:txBody>
      </p:sp>
      <p:sp>
        <p:nvSpPr>
          <p:cNvPr id="14" name="Shape 12"/>
          <p:cNvSpPr/>
          <p:nvPr/>
        </p:nvSpPr>
        <p:spPr>
          <a:xfrm>
            <a:off x="502920" y="3154680"/>
            <a:ext cx="3186684" cy="1481328"/>
          </a:xfrm>
          <a:prstGeom prst="roundRect">
            <a:avLst>
              <a:gd name="adj" fmla="val 4938"/>
            </a:avLst>
          </a:prstGeom>
          <a:solidFill>
            <a:schemeClr val="bg2"/>
          </a:solidFill>
          <a:ln w="12700">
            <a:solidFill>
              <a:schemeClr val="bg2"/>
            </a:solidFill>
            <a:prstDash val="solid"/>
          </a:ln>
        </p:spPr>
      </p:sp>
      <p:sp>
        <p:nvSpPr>
          <p:cNvPr id="15" name="Shape 13"/>
          <p:cNvSpPr/>
          <p:nvPr/>
        </p:nvSpPr>
        <p:spPr>
          <a:xfrm>
            <a:off x="640080" y="3291840"/>
            <a:ext cx="365760" cy="365760"/>
          </a:xfrm>
          <a:prstGeom prst="ellipse">
            <a:avLst/>
          </a:prstGeom>
          <a:solidFill>
            <a:schemeClr val="tx2"/>
          </a:solidFill>
          <a:ln w="12700">
            <a:solidFill>
              <a:schemeClr val="tx2"/>
            </a:solidFill>
            <a:prstDash val="solid"/>
          </a:ln>
        </p:spPr>
      </p:sp>
      <p:sp>
        <p:nvSpPr>
          <p:cNvPr id="16" name="Text 14"/>
          <p:cNvSpPr txBox="1"/>
          <p:nvPr/>
        </p:nvSpPr>
        <p:spPr>
          <a:xfrm>
            <a:off x="640080" y="329184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17" name="Text 15"/>
          <p:cNvSpPr txBox="1"/>
          <p:nvPr/>
        </p:nvSpPr>
        <p:spPr>
          <a:xfrm>
            <a:off x="1097280" y="327355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Đề xuất giải pháp</a:t>
            </a:r>
            <a:endParaRPr lang="en-US" sz="1050" dirty="0"/>
          </a:p>
        </p:txBody>
      </p:sp>
      <p:sp>
        <p:nvSpPr>
          <p:cNvPr id="18" name="Text 16"/>
          <p:cNvSpPr txBox="1"/>
          <p:nvPr/>
        </p:nvSpPr>
        <p:spPr>
          <a:xfrm>
            <a:off x="1097280" y="370332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Phương án kỹ thuật, chủng loại vật tư phù hợp.</a:t>
            </a:r>
            <a:endParaRPr lang="en-US" sz="950" dirty="0"/>
          </a:p>
        </p:txBody>
      </p:sp>
      <p:sp>
        <p:nvSpPr>
          <p:cNvPr id="19" name="Shape 17"/>
          <p:cNvSpPr/>
          <p:nvPr/>
        </p:nvSpPr>
        <p:spPr>
          <a:xfrm>
            <a:off x="3872484" y="3154680"/>
            <a:ext cx="3186684" cy="1481328"/>
          </a:xfrm>
          <a:prstGeom prst="roundRect">
            <a:avLst>
              <a:gd name="adj" fmla="val 4938"/>
            </a:avLst>
          </a:prstGeom>
          <a:solidFill>
            <a:schemeClr val="bg2"/>
          </a:solidFill>
          <a:ln w="12700">
            <a:solidFill>
              <a:schemeClr val="bg2"/>
            </a:solidFill>
            <a:prstDash val="solid"/>
          </a:ln>
        </p:spPr>
      </p:sp>
      <p:sp>
        <p:nvSpPr>
          <p:cNvPr id="20" name="Shape 18"/>
          <p:cNvSpPr/>
          <p:nvPr/>
        </p:nvSpPr>
        <p:spPr>
          <a:xfrm>
            <a:off x="4009644" y="3291840"/>
            <a:ext cx="365760" cy="365760"/>
          </a:xfrm>
          <a:prstGeom prst="ellipse">
            <a:avLst/>
          </a:prstGeom>
          <a:solidFill>
            <a:schemeClr val="accent1"/>
          </a:solidFill>
          <a:ln w="12700">
            <a:solidFill>
              <a:schemeClr val="accent1"/>
            </a:solidFill>
            <a:prstDash val="solid"/>
          </a:ln>
        </p:spPr>
      </p:sp>
      <p:sp>
        <p:nvSpPr>
          <p:cNvPr id="21" name="Text 19"/>
          <p:cNvSpPr txBox="1"/>
          <p:nvPr/>
        </p:nvSpPr>
        <p:spPr>
          <a:xfrm>
            <a:off x="4009644" y="329184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2" name="Text 20"/>
          <p:cNvSpPr txBox="1"/>
          <p:nvPr/>
        </p:nvSpPr>
        <p:spPr>
          <a:xfrm>
            <a:off x="4466844" y="327355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Báo giá &amp; dự toán</a:t>
            </a:r>
            <a:endParaRPr lang="en-US" sz="1050" dirty="0"/>
          </a:p>
        </p:txBody>
      </p:sp>
      <p:sp>
        <p:nvSpPr>
          <p:cNvPr id="23" name="Text 21"/>
          <p:cNvSpPr txBox="1"/>
          <p:nvPr/>
        </p:nvSpPr>
        <p:spPr>
          <a:xfrm>
            <a:off x="4466844" y="370332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Bóc tách khối lượng, đơn giá, mốc tiến độ.</a:t>
            </a:r>
            <a:endParaRPr lang="en-US" sz="950" dirty="0"/>
          </a:p>
        </p:txBody>
      </p:sp>
      <p:sp>
        <p:nvSpPr>
          <p:cNvPr id="24" name="Shape 22"/>
          <p:cNvSpPr/>
          <p:nvPr/>
        </p:nvSpPr>
        <p:spPr>
          <a:xfrm>
            <a:off x="502920" y="4800600"/>
            <a:ext cx="3186684" cy="1481328"/>
          </a:xfrm>
          <a:prstGeom prst="roundRect">
            <a:avLst>
              <a:gd name="adj" fmla="val 4938"/>
            </a:avLst>
          </a:prstGeom>
          <a:solidFill>
            <a:schemeClr val="bg2"/>
          </a:solidFill>
          <a:ln w="12700">
            <a:solidFill>
              <a:schemeClr val="bg2"/>
            </a:solidFill>
            <a:prstDash val="solid"/>
          </a:ln>
        </p:spPr>
      </p:sp>
      <p:sp>
        <p:nvSpPr>
          <p:cNvPr id="25" name="Shape 23"/>
          <p:cNvSpPr/>
          <p:nvPr/>
        </p:nvSpPr>
        <p:spPr>
          <a:xfrm>
            <a:off x="640080" y="4937760"/>
            <a:ext cx="365760" cy="365760"/>
          </a:xfrm>
          <a:prstGeom prst="ellipse">
            <a:avLst/>
          </a:prstGeom>
          <a:solidFill>
            <a:schemeClr val="tx2"/>
          </a:solidFill>
          <a:ln w="12700">
            <a:solidFill>
              <a:schemeClr val="tx2"/>
            </a:solidFill>
            <a:prstDash val="solid"/>
          </a:ln>
        </p:spPr>
      </p:sp>
      <p:sp>
        <p:nvSpPr>
          <p:cNvPr id="26" name="Text 24"/>
          <p:cNvSpPr txBox="1"/>
          <p:nvPr/>
        </p:nvSpPr>
        <p:spPr>
          <a:xfrm>
            <a:off x="640080" y="49377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27" name="Text 25"/>
          <p:cNvSpPr txBox="1"/>
          <p:nvPr/>
        </p:nvSpPr>
        <p:spPr>
          <a:xfrm>
            <a:off x="1097280" y="49194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Ký kết hợp đồng</a:t>
            </a:r>
            <a:endParaRPr lang="en-US" sz="1050" dirty="0"/>
          </a:p>
        </p:txBody>
      </p:sp>
      <p:sp>
        <p:nvSpPr>
          <p:cNvPr id="28" name="Text 26"/>
          <p:cNvSpPr txBox="1"/>
          <p:nvPr/>
        </p:nvSpPr>
        <p:spPr>
          <a:xfrm>
            <a:off x="1097280" y="534924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Phạm vi, trách nhiệm, tiêu chuẩn nghiệm thu.</a:t>
            </a:r>
            <a:endParaRPr lang="en-US" sz="950" dirty="0"/>
          </a:p>
        </p:txBody>
      </p:sp>
      <p:sp>
        <p:nvSpPr>
          <p:cNvPr id="29" name="Shape 27"/>
          <p:cNvSpPr/>
          <p:nvPr/>
        </p:nvSpPr>
        <p:spPr>
          <a:xfrm>
            <a:off x="3872484" y="4800600"/>
            <a:ext cx="3186684" cy="1481328"/>
          </a:xfrm>
          <a:prstGeom prst="roundRect">
            <a:avLst>
              <a:gd name="adj" fmla="val 4938"/>
            </a:avLst>
          </a:prstGeom>
          <a:solidFill>
            <a:schemeClr val="bg2"/>
          </a:solidFill>
          <a:ln w="12700">
            <a:solidFill>
              <a:schemeClr val="bg2"/>
            </a:solidFill>
            <a:prstDash val="solid"/>
          </a:ln>
        </p:spPr>
      </p:sp>
      <p:sp>
        <p:nvSpPr>
          <p:cNvPr id="30" name="Shape 28"/>
          <p:cNvSpPr/>
          <p:nvPr/>
        </p:nvSpPr>
        <p:spPr>
          <a:xfrm>
            <a:off x="4009644" y="4937760"/>
            <a:ext cx="365760" cy="365760"/>
          </a:xfrm>
          <a:prstGeom prst="ellipse">
            <a:avLst/>
          </a:prstGeom>
          <a:solidFill>
            <a:schemeClr val="accent1"/>
          </a:solidFill>
          <a:ln w="12700">
            <a:solidFill>
              <a:schemeClr val="accent1"/>
            </a:solidFill>
            <a:prstDash val="solid"/>
          </a:ln>
        </p:spPr>
      </p:sp>
      <p:sp>
        <p:nvSpPr>
          <p:cNvPr id="31" name="Text 29"/>
          <p:cNvSpPr txBox="1"/>
          <p:nvPr/>
        </p:nvSpPr>
        <p:spPr>
          <a:xfrm>
            <a:off x="4009644" y="49377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32" name="Text 30"/>
          <p:cNvSpPr txBox="1"/>
          <p:nvPr/>
        </p:nvSpPr>
        <p:spPr>
          <a:xfrm>
            <a:off x="4466844" y="49194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Chuẩn bị nguồn lực</a:t>
            </a:r>
            <a:endParaRPr lang="en-US" sz="1050" dirty="0"/>
          </a:p>
        </p:txBody>
      </p:sp>
      <p:sp>
        <p:nvSpPr>
          <p:cNvPr id="33" name="Text 31"/>
          <p:cNvSpPr txBox="1"/>
          <p:nvPr/>
        </p:nvSpPr>
        <p:spPr>
          <a:xfrm>
            <a:off x="4466844" y="534924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Vật tư, xe nâng, giàn giáo, nhân lực, bảo hộ.</a:t>
            </a:r>
            <a:endParaRPr lang="en-US" sz="950" dirty="0"/>
          </a:p>
        </p:txBody>
      </p:sp>
      <p:sp>
        <p:nvSpPr>
          <p:cNvPr id="34" name="Shape 32"/>
          <p:cNvSpPr/>
          <p:nvPr/>
        </p:nvSpPr>
        <p:spPr>
          <a:xfrm>
            <a:off x="502920" y="6446520"/>
            <a:ext cx="3186684" cy="1481328"/>
          </a:xfrm>
          <a:prstGeom prst="roundRect">
            <a:avLst>
              <a:gd name="adj" fmla="val 4938"/>
            </a:avLst>
          </a:prstGeom>
          <a:solidFill>
            <a:schemeClr val="bg2"/>
          </a:solidFill>
          <a:ln w="12700">
            <a:solidFill>
              <a:schemeClr val="bg2"/>
            </a:solidFill>
            <a:prstDash val="solid"/>
          </a:ln>
        </p:spPr>
      </p:sp>
      <p:sp>
        <p:nvSpPr>
          <p:cNvPr id="35" name="Shape 33"/>
          <p:cNvSpPr/>
          <p:nvPr/>
        </p:nvSpPr>
        <p:spPr>
          <a:xfrm>
            <a:off x="640080" y="6583680"/>
            <a:ext cx="365760" cy="365760"/>
          </a:xfrm>
          <a:prstGeom prst="ellipse">
            <a:avLst/>
          </a:prstGeom>
          <a:solidFill>
            <a:schemeClr val="tx2"/>
          </a:solidFill>
          <a:ln w="12700">
            <a:solidFill>
              <a:schemeClr val="tx2"/>
            </a:solidFill>
            <a:prstDash val="solid"/>
          </a:ln>
        </p:spPr>
      </p:sp>
      <p:sp>
        <p:nvSpPr>
          <p:cNvPr id="36" name="Text 34"/>
          <p:cNvSpPr txBox="1"/>
          <p:nvPr/>
        </p:nvSpPr>
        <p:spPr>
          <a:xfrm>
            <a:off x="640080" y="65836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07</a:t>
            </a:r>
            <a:endParaRPr lang="en-US" sz="1050" dirty="0"/>
          </a:p>
        </p:txBody>
      </p:sp>
      <p:sp>
        <p:nvSpPr>
          <p:cNvPr id="37" name="Text 35"/>
          <p:cNvSpPr txBox="1"/>
          <p:nvPr/>
        </p:nvSpPr>
        <p:spPr>
          <a:xfrm>
            <a:off x="1097280" y="65653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Tổ chức thi công</a:t>
            </a:r>
            <a:endParaRPr lang="en-US" sz="1050" dirty="0"/>
          </a:p>
        </p:txBody>
      </p:sp>
      <p:sp>
        <p:nvSpPr>
          <p:cNvPr id="38" name="Text 36"/>
          <p:cNvSpPr txBox="1"/>
          <p:nvPr/>
        </p:nvSpPr>
        <p:spPr>
          <a:xfrm>
            <a:off x="1097280" y="699516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Theo kế hoạch, phối hợp tổng thầu và các nhà thầu khác.</a:t>
            </a:r>
            <a:endParaRPr lang="en-US" sz="950" dirty="0"/>
          </a:p>
        </p:txBody>
      </p:sp>
      <p:sp>
        <p:nvSpPr>
          <p:cNvPr id="39" name="Shape 37"/>
          <p:cNvSpPr/>
          <p:nvPr/>
        </p:nvSpPr>
        <p:spPr>
          <a:xfrm>
            <a:off x="3872484" y="6446520"/>
            <a:ext cx="3186684" cy="1481328"/>
          </a:xfrm>
          <a:prstGeom prst="roundRect">
            <a:avLst>
              <a:gd name="adj" fmla="val 4938"/>
            </a:avLst>
          </a:prstGeom>
          <a:solidFill>
            <a:schemeClr val="bg2"/>
          </a:solidFill>
          <a:ln w="12700">
            <a:solidFill>
              <a:schemeClr val="bg2"/>
            </a:solidFill>
            <a:prstDash val="solid"/>
          </a:ln>
        </p:spPr>
      </p:sp>
      <p:sp>
        <p:nvSpPr>
          <p:cNvPr id="40" name="Shape 38"/>
          <p:cNvSpPr/>
          <p:nvPr/>
        </p:nvSpPr>
        <p:spPr>
          <a:xfrm>
            <a:off x="4009644" y="6583680"/>
            <a:ext cx="365760" cy="365760"/>
          </a:xfrm>
          <a:prstGeom prst="ellipse">
            <a:avLst/>
          </a:prstGeom>
          <a:solidFill>
            <a:schemeClr val="accent1"/>
          </a:solidFill>
          <a:ln w="12700">
            <a:solidFill>
              <a:schemeClr val="accent1"/>
            </a:solidFill>
            <a:prstDash val="solid"/>
          </a:ln>
        </p:spPr>
      </p:sp>
      <p:sp>
        <p:nvSpPr>
          <p:cNvPr id="41" name="Text 39"/>
          <p:cNvSpPr txBox="1"/>
          <p:nvPr/>
        </p:nvSpPr>
        <p:spPr>
          <a:xfrm>
            <a:off x="4009644" y="658368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08</a:t>
            </a:r>
            <a:endParaRPr lang="en-US" sz="1050" dirty="0"/>
          </a:p>
        </p:txBody>
      </p:sp>
      <p:sp>
        <p:nvSpPr>
          <p:cNvPr id="42" name="Text 40"/>
          <p:cNvSpPr txBox="1"/>
          <p:nvPr/>
        </p:nvSpPr>
        <p:spPr>
          <a:xfrm>
            <a:off x="4466844" y="656539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Kiểm tra – thử nghiệm</a:t>
            </a:r>
            <a:endParaRPr lang="en-US" sz="1050" dirty="0"/>
          </a:p>
        </p:txBody>
      </p:sp>
      <p:sp>
        <p:nvSpPr>
          <p:cNvPr id="43" name="Text 41"/>
          <p:cNvSpPr txBox="1"/>
          <p:nvPr/>
        </p:nvSpPr>
        <p:spPr>
          <a:xfrm>
            <a:off x="4466844" y="699516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Thử áp, đo cách điện, chạy thử thiết bị.</a:t>
            </a:r>
            <a:endParaRPr lang="en-US" sz="950" dirty="0"/>
          </a:p>
        </p:txBody>
      </p:sp>
      <p:sp>
        <p:nvSpPr>
          <p:cNvPr id="44" name="Shape 42"/>
          <p:cNvSpPr/>
          <p:nvPr/>
        </p:nvSpPr>
        <p:spPr>
          <a:xfrm>
            <a:off x="502920" y="8092440"/>
            <a:ext cx="3186684" cy="1481328"/>
          </a:xfrm>
          <a:prstGeom prst="roundRect">
            <a:avLst>
              <a:gd name="adj" fmla="val 4938"/>
            </a:avLst>
          </a:prstGeom>
          <a:solidFill>
            <a:schemeClr val="bg2"/>
          </a:solidFill>
          <a:ln w="12700">
            <a:solidFill>
              <a:schemeClr val="bg2"/>
            </a:solidFill>
            <a:prstDash val="solid"/>
          </a:ln>
        </p:spPr>
      </p:sp>
      <p:sp>
        <p:nvSpPr>
          <p:cNvPr id="45" name="Shape 43"/>
          <p:cNvSpPr/>
          <p:nvPr/>
        </p:nvSpPr>
        <p:spPr>
          <a:xfrm>
            <a:off x="640080" y="8229600"/>
            <a:ext cx="365760" cy="365760"/>
          </a:xfrm>
          <a:prstGeom prst="ellipse">
            <a:avLst/>
          </a:prstGeom>
          <a:solidFill>
            <a:schemeClr val="tx2"/>
          </a:solidFill>
          <a:ln w="12700">
            <a:solidFill>
              <a:schemeClr val="tx2"/>
            </a:solidFill>
            <a:prstDash val="solid"/>
          </a:ln>
        </p:spPr>
      </p:sp>
      <p:sp>
        <p:nvSpPr>
          <p:cNvPr id="46" name="Text 44"/>
          <p:cNvSpPr txBox="1"/>
          <p:nvPr/>
        </p:nvSpPr>
        <p:spPr>
          <a:xfrm>
            <a:off x="640080" y="8229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09</a:t>
            </a:r>
            <a:endParaRPr lang="en-US" sz="1050" dirty="0"/>
          </a:p>
        </p:txBody>
      </p:sp>
      <p:sp>
        <p:nvSpPr>
          <p:cNvPr id="47" name="Text 45"/>
          <p:cNvSpPr txBox="1"/>
          <p:nvPr/>
        </p:nvSpPr>
        <p:spPr>
          <a:xfrm>
            <a:off x="1097280" y="8211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Nghiệm thu &amp; bàn giao</a:t>
            </a:r>
            <a:endParaRPr lang="en-US" sz="1050" dirty="0"/>
          </a:p>
        </p:txBody>
      </p:sp>
      <p:sp>
        <p:nvSpPr>
          <p:cNvPr id="48" name="Text 46"/>
          <p:cNvSpPr txBox="1"/>
          <p:nvPr/>
        </p:nvSpPr>
        <p:spPr>
          <a:xfrm>
            <a:off x="1097280" y="864108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Biên bản, bản vẽ hoàn công, hướng dẫn vận hành.</a:t>
            </a:r>
            <a:endParaRPr lang="en-US" sz="950" dirty="0"/>
          </a:p>
        </p:txBody>
      </p:sp>
      <p:sp>
        <p:nvSpPr>
          <p:cNvPr id="49" name="Shape 47"/>
          <p:cNvSpPr/>
          <p:nvPr/>
        </p:nvSpPr>
        <p:spPr>
          <a:xfrm>
            <a:off x="3872484" y="8092440"/>
            <a:ext cx="3186684" cy="1481328"/>
          </a:xfrm>
          <a:prstGeom prst="roundRect">
            <a:avLst>
              <a:gd name="adj" fmla="val 4938"/>
            </a:avLst>
          </a:prstGeom>
          <a:solidFill>
            <a:schemeClr val="bg2"/>
          </a:solidFill>
          <a:ln w="12700">
            <a:solidFill>
              <a:schemeClr val="bg2"/>
            </a:solidFill>
            <a:prstDash val="solid"/>
          </a:ln>
        </p:spPr>
      </p:sp>
      <p:sp>
        <p:nvSpPr>
          <p:cNvPr id="50" name="Shape 48"/>
          <p:cNvSpPr/>
          <p:nvPr/>
        </p:nvSpPr>
        <p:spPr>
          <a:xfrm>
            <a:off x="4009644" y="8229600"/>
            <a:ext cx="365760" cy="365760"/>
          </a:xfrm>
          <a:prstGeom prst="ellipse">
            <a:avLst/>
          </a:prstGeom>
          <a:solidFill>
            <a:schemeClr val="accent1"/>
          </a:solidFill>
          <a:ln w="12700">
            <a:solidFill>
              <a:schemeClr val="accent1"/>
            </a:solidFill>
            <a:prstDash val="solid"/>
          </a:ln>
        </p:spPr>
      </p:sp>
      <p:sp>
        <p:nvSpPr>
          <p:cNvPr id="51" name="Text 49"/>
          <p:cNvSpPr txBox="1"/>
          <p:nvPr/>
        </p:nvSpPr>
        <p:spPr>
          <a:xfrm>
            <a:off x="4009644" y="8229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10</a:t>
            </a:r>
            <a:endParaRPr lang="en-US" sz="1050" dirty="0"/>
          </a:p>
        </p:txBody>
      </p:sp>
      <p:sp>
        <p:nvSpPr>
          <p:cNvPr id="52" name="Text 50"/>
          <p:cNvSpPr txBox="1"/>
          <p:nvPr/>
        </p:nvSpPr>
        <p:spPr>
          <a:xfrm>
            <a:off x="4466844" y="8211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Bảo hành – bảo trì</a:t>
            </a:r>
            <a:endParaRPr lang="en-US" sz="1050" dirty="0"/>
          </a:p>
        </p:txBody>
      </p:sp>
      <p:sp>
        <p:nvSpPr>
          <p:cNvPr id="53" name="Text 51"/>
          <p:cNvSpPr txBox="1"/>
          <p:nvPr/>
        </p:nvSpPr>
        <p:spPr>
          <a:xfrm>
            <a:off x="4466844" y="8641080"/>
            <a:ext cx="2455164" cy="8412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Tiếp nhận phản hồi, xử lý sự cố theo cam kết.</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QUẢN TRỊ DỰ ÁN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Quản lý chất lượng</a:t>
            </a:r>
            <a:endParaRPr lang="en-US" sz="2200" dirty="0"/>
          </a:p>
        </p:txBody>
      </p:sp>
      <p:sp>
        <p:nvSpPr>
          <p:cNvPr id="4" name="Shape 2"/>
          <p:cNvSpPr/>
          <p:nvPr/>
        </p:nvSpPr>
        <p:spPr>
          <a:xfrm>
            <a:off x="502920" y="1463040"/>
            <a:ext cx="6556248" cy="685800"/>
          </a:xfrm>
          <a:prstGeom prst="roundRect">
            <a:avLst>
              <a:gd name="adj" fmla="val 10667"/>
            </a:avLst>
          </a:prstGeom>
          <a:solidFill>
            <a:schemeClr val="tx2"/>
          </a:solidFill>
          <a:ln w="12700">
            <a:solidFill>
              <a:schemeClr val="tx2"/>
            </a:solidFill>
            <a:prstDash val="solid"/>
          </a:ln>
        </p:spPr>
      </p:sp>
      <p:sp>
        <p:nvSpPr>
          <p:cNvPr id="5" name="Text 3"/>
          <p:cNvSpPr txBox="1"/>
          <p:nvPr/>
        </p:nvSpPr>
        <p:spPr>
          <a:xfrm>
            <a:off x="731520" y="1463040"/>
            <a:ext cx="6099048" cy="685800"/>
          </a:xfrm>
          <a:prstGeom prst="rect">
            <a:avLst/>
          </a:prstGeom>
          <a:noFill/>
          <a:ln/>
        </p:spPr>
        <p:txBody>
          <a:bodyPr wrap="square" lIns="0" tIns="0" rIns="0" bIns="0" rtlCol="0" anchor="ctr"/>
          <a:lstStyle/>
          <a:p>
            <a:pPr indent="0" marL="0">
              <a:buNone/>
            </a:pPr>
            <a:r>
              <a:rPr lang="en-US" sz="1000" b="1" dirty="0">
                <a:solidFill>
                  <a:schemeClr val="accent1"/>
                </a:solidFill>
              </a:rPr>
              <a:t>NGUYÊN TẮC:  </a:t>
            </a:r>
            <a:pPr indent="0" marL="0">
              <a:buNone/>
            </a:pPr>
            <a:r>
              <a:rPr lang="en-US" sz="1000" dirty="0">
                <a:solidFill>
                  <a:schemeClr val="bg1"/>
                </a:solidFill>
              </a:rPr>
              <a:t>Kiểm soát vật tư đầu vào  •  Kiểm tra trong quá trình  •  Thử nghiệm trước khi che khuất  •  Lưu hồ sơ bàn giao</a:t>
            </a:r>
            <a:endParaRPr lang="en-US" sz="1000" dirty="0"/>
          </a:p>
        </p:txBody>
      </p:sp>
      <p:sp>
        <p:nvSpPr>
          <p:cNvPr id="6" name="Shape 4"/>
          <p:cNvSpPr/>
          <p:nvPr/>
        </p:nvSpPr>
        <p:spPr>
          <a:xfrm>
            <a:off x="502920" y="2377440"/>
            <a:ext cx="3186684" cy="1024128"/>
          </a:xfrm>
          <a:prstGeom prst="roundRect">
            <a:avLst>
              <a:gd name="adj" fmla="val 7143"/>
            </a:avLst>
          </a:prstGeom>
          <a:solidFill>
            <a:schemeClr val="bg2"/>
          </a:solidFill>
          <a:ln w="12700">
            <a:solidFill>
              <a:schemeClr val="bg2"/>
            </a:solidFill>
            <a:prstDash val="solid"/>
          </a:ln>
        </p:spPr>
      </p:sp>
      <p:sp>
        <p:nvSpPr>
          <p:cNvPr id="7" name="Shape 5"/>
          <p:cNvSpPr/>
          <p:nvPr/>
        </p:nvSpPr>
        <p:spPr>
          <a:xfrm>
            <a:off x="640080" y="2514600"/>
            <a:ext cx="365760" cy="365760"/>
          </a:xfrm>
          <a:prstGeom prst="ellipse">
            <a:avLst/>
          </a:prstGeom>
          <a:solidFill>
            <a:schemeClr val="accent1"/>
          </a:solidFill>
          <a:ln w="12700">
            <a:solidFill>
              <a:schemeClr val="accent1"/>
            </a:solidFill>
            <a:prstDash val="solid"/>
          </a:ln>
        </p:spPr>
      </p:sp>
      <p:sp>
        <p:nvSpPr>
          <p:cNvPr id="8" name="Text 6"/>
          <p:cNvSpPr txBox="1"/>
          <p:nvPr/>
        </p:nvSpPr>
        <p:spPr>
          <a:xfrm>
            <a:off x="640080" y="2514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9" name="Text 7"/>
          <p:cNvSpPr txBox="1"/>
          <p:nvPr/>
        </p:nvSpPr>
        <p:spPr>
          <a:xfrm>
            <a:off x="1097280" y="2496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VẬT TƯ ĐẦU VÀO</a:t>
            </a:r>
            <a:endParaRPr lang="en-US" sz="1050" dirty="0"/>
          </a:p>
        </p:txBody>
      </p:sp>
      <p:sp>
        <p:nvSpPr>
          <p:cNvPr id="10" name="Text 8"/>
          <p:cNvSpPr txBox="1"/>
          <p:nvPr/>
        </p:nvSpPr>
        <p:spPr>
          <a:xfrm>
            <a:off x="1097280" y="2926080"/>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Đúng chủng loại, thương hiệu, quy cách; có CO/CQ khi yêu cầu.</a:t>
            </a:r>
            <a:endParaRPr lang="en-US" sz="950" dirty="0"/>
          </a:p>
        </p:txBody>
      </p:sp>
      <p:sp>
        <p:nvSpPr>
          <p:cNvPr id="11" name="Shape 9"/>
          <p:cNvSpPr/>
          <p:nvPr/>
        </p:nvSpPr>
        <p:spPr>
          <a:xfrm>
            <a:off x="3872484" y="2377440"/>
            <a:ext cx="3186684" cy="1024128"/>
          </a:xfrm>
          <a:prstGeom prst="roundRect">
            <a:avLst>
              <a:gd name="adj" fmla="val 7143"/>
            </a:avLst>
          </a:prstGeom>
          <a:solidFill>
            <a:schemeClr val="bg2"/>
          </a:solidFill>
          <a:ln w="12700">
            <a:solidFill>
              <a:schemeClr val="bg2"/>
            </a:solidFill>
            <a:prstDash val="solid"/>
          </a:ln>
        </p:spPr>
      </p:sp>
      <p:sp>
        <p:nvSpPr>
          <p:cNvPr id="12" name="Shape 10"/>
          <p:cNvSpPr/>
          <p:nvPr/>
        </p:nvSpPr>
        <p:spPr>
          <a:xfrm>
            <a:off x="4009644" y="2514600"/>
            <a:ext cx="365760" cy="365760"/>
          </a:xfrm>
          <a:prstGeom prst="ellipse">
            <a:avLst/>
          </a:prstGeom>
          <a:solidFill>
            <a:schemeClr val="accent1"/>
          </a:solidFill>
          <a:ln w="12700">
            <a:solidFill>
              <a:schemeClr val="accent1"/>
            </a:solidFill>
            <a:prstDash val="solid"/>
          </a:ln>
        </p:spPr>
      </p:sp>
      <p:sp>
        <p:nvSpPr>
          <p:cNvPr id="13" name="Text 11"/>
          <p:cNvSpPr txBox="1"/>
          <p:nvPr/>
        </p:nvSpPr>
        <p:spPr>
          <a:xfrm>
            <a:off x="4009644" y="2514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4" name="Text 12"/>
          <p:cNvSpPr txBox="1"/>
          <p:nvPr/>
        </p:nvSpPr>
        <p:spPr>
          <a:xfrm>
            <a:off x="4466844" y="2496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TUYẾN &amp; CAO ĐỘ</a:t>
            </a:r>
            <a:endParaRPr lang="en-US" sz="1050" dirty="0"/>
          </a:p>
        </p:txBody>
      </p:sp>
      <p:sp>
        <p:nvSpPr>
          <p:cNvPr id="15" name="Text 13"/>
          <p:cNvSpPr txBox="1"/>
          <p:nvPr/>
        </p:nvSpPr>
        <p:spPr>
          <a:xfrm>
            <a:off x="4466844" y="2926080"/>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Đối chiếu bản vẽ, phối hợp với các hệ khác trên trần.</a:t>
            </a:r>
            <a:endParaRPr lang="en-US" sz="950" dirty="0"/>
          </a:p>
        </p:txBody>
      </p:sp>
      <p:sp>
        <p:nvSpPr>
          <p:cNvPr id="16" name="Shape 14"/>
          <p:cNvSpPr/>
          <p:nvPr/>
        </p:nvSpPr>
        <p:spPr>
          <a:xfrm>
            <a:off x="502920" y="3538728"/>
            <a:ext cx="3186684" cy="1024128"/>
          </a:xfrm>
          <a:prstGeom prst="roundRect">
            <a:avLst>
              <a:gd name="adj" fmla="val 7143"/>
            </a:avLst>
          </a:prstGeom>
          <a:solidFill>
            <a:schemeClr val="bg2"/>
          </a:solidFill>
          <a:ln w="12700">
            <a:solidFill>
              <a:schemeClr val="bg2"/>
            </a:solidFill>
            <a:prstDash val="solid"/>
          </a:ln>
        </p:spPr>
      </p:sp>
      <p:sp>
        <p:nvSpPr>
          <p:cNvPr id="17" name="Shape 15"/>
          <p:cNvSpPr/>
          <p:nvPr/>
        </p:nvSpPr>
        <p:spPr>
          <a:xfrm>
            <a:off x="640080" y="3675888"/>
            <a:ext cx="365760" cy="365760"/>
          </a:xfrm>
          <a:prstGeom prst="ellipse">
            <a:avLst/>
          </a:prstGeom>
          <a:solidFill>
            <a:schemeClr val="accent1"/>
          </a:solidFill>
          <a:ln w="12700">
            <a:solidFill>
              <a:schemeClr val="accent1"/>
            </a:solidFill>
            <a:prstDash val="solid"/>
          </a:ln>
        </p:spPr>
      </p:sp>
      <p:sp>
        <p:nvSpPr>
          <p:cNvPr id="18" name="Text 16"/>
          <p:cNvSpPr txBox="1"/>
          <p:nvPr/>
        </p:nvSpPr>
        <p:spPr>
          <a:xfrm>
            <a:off x="640080" y="3675888"/>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19" name="Text 17"/>
          <p:cNvSpPr txBox="1"/>
          <p:nvPr/>
        </p:nvSpPr>
        <p:spPr>
          <a:xfrm>
            <a:off x="1097280" y="3657600"/>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MỐI NỐI ỐNG</a:t>
            </a:r>
            <a:endParaRPr lang="en-US" sz="1050" dirty="0"/>
          </a:p>
        </p:txBody>
      </p:sp>
      <p:sp>
        <p:nvSpPr>
          <p:cNvPr id="20" name="Text 18"/>
          <p:cNvSpPr txBox="1"/>
          <p:nvPr/>
        </p:nvSpPr>
        <p:spPr>
          <a:xfrm>
            <a:off x="1097280" y="4087368"/>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Hàn nhiệt PPR đúng nhiệt độ, dán keo uPVC, bơm keo ống hút.</a:t>
            </a:r>
            <a:endParaRPr lang="en-US" sz="950" dirty="0"/>
          </a:p>
        </p:txBody>
      </p:sp>
      <p:sp>
        <p:nvSpPr>
          <p:cNvPr id="21" name="Shape 19"/>
          <p:cNvSpPr/>
          <p:nvPr/>
        </p:nvSpPr>
        <p:spPr>
          <a:xfrm>
            <a:off x="3872484" y="3538728"/>
            <a:ext cx="3186684" cy="1024128"/>
          </a:xfrm>
          <a:prstGeom prst="roundRect">
            <a:avLst>
              <a:gd name="adj" fmla="val 7143"/>
            </a:avLst>
          </a:prstGeom>
          <a:solidFill>
            <a:schemeClr val="bg2"/>
          </a:solidFill>
          <a:ln w="12700">
            <a:solidFill>
              <a:schemeClr val="bg2"/>
            </a:solidFill>
            <a:prstDash val="solid"/>
          </a:ln>
        </p:spPr>
      </p:sp>
      <p:sp>
        <p:nvSpPr>
          <p:cNvPr id="22" name="Shape 20"/>
          <p:cNvSpPr/>
          <p:nvPr/>
        </p:nvSpPr>
        <p:spPr>
          <a:xfrm>
            <a:off x="4009644" y="3675888"/>
            <a:ext cx="365760" cy="365760"/>
          </a:xfrm>
          <a:prstGeom prst="ellipse">
            <a:avLst/>
          </a:prstGeom>
          <a:solidFill>
            <a:schemeClr val="accent1"/>
          </a:solidFill>
          <a:ln w="12700">
            <a:solidFill>
              <a:schemeClr val="accent1"/>
            </a:solidFill>
            <a:prstDash val="solid"/>
          </a:ln>
        </p:spPr>
      </p:sp>
      <p:sp>
        <p:nvSpPr>
          <p:cNvPr id="23" name="Text 21"/>
          <p:cNvSpPr txBox="1"/>
          <p:nvPr/>
        </p:nvSpPr>
        <p:spPr>
          <a:xfrm>
            <a:off x="4009644" y="3675888"/>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4" name="Text 22"/>
          <p:cNvSpPr txBox="1"/>
          <p:nvPr/>
        </p:nvSpPr>
        <p:spPr>
          <a:xfrm>
            <a:off x="4466844" y="3657600"/>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THỬ ÁP – THỬ KÍN</a:t>
            </a:r>
            <a:endParaRPr lang="en-US" sz="1050" dirty="0"/>
          </a:p>
        </p:txBody>
      </p:sp>
      <p:sp>
        <p:nvSpPr>
          <p:cNvPr id="25" name="Text 23"/>
          <p:cNvSpPr txBox="1"/>
          <p:nvPr/>
        </p:nvSpPr>
        <p:spPr>
          <a:xfrm>
            <a:off x="4466844" y="4087368"/>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Thử áp đường cấp nước; thử kín ống thoát, ống hút.</a:t>
            </a:r>
            <a:endParaRPr lang="en-US" sz="950" dirty="0"/>
          </a:p>
        </p:txBody>
      </p:sp>
      <p:sp>
        <p:nvSpPr>
          <p:cNvPr id="26" name="Shape 24"/>
          <p:cNvSpPr/>
          <p:nvPr/>
        </p:nvSpPr>
        <p:spPr>
          <a:xfrm>
            <a:off x="502920" y="4700016"/>
            <a:ext cx="3186684" cy="1024128"/>
          </a:xfrm>
          <a:prstGeom prst="roundRect">
            <a:avLst>
              <a:gd name="adj" fmla="val 7143"/>
            </a:avLst>
          </a:prstGeom>
          <a:solidFill>
            <a:schemeClr val="bg2"/>
          </a:solidFill>
          <a:ln w="12700">
            <a:solidFill>
              <a:schemeClr val="bg2"/>
            </a:solidFill>
            <a:prstDash val="solid"/>
          </a:ln>
        </p:spPr>
      </p:sp>
      <p:sp>
        <p:nvSpPr>
          <p:cNvPr id="27" name="Shape 25"/>
          <p:cNvSpPr/>
          <p:nvPr/>
        </p:nvSpPr>
        <p:spPr>
          <a:xfrm>
            <a:off x="640080" y="4837176"/>
            <a:ext cx="365760" cy="365760"/>
          </a:xfrm>
          <a:prstGeom prst="ellipse">
            <a:avLst/>
          </a:prstGeom>
          <a:solidFill>
            <a:schemeClr val="accent1"/>
          </a:solidFill>
          <a:ln w="12700">
            <a:solidFill>
              <a:schemeClr val="accent1"/>
            </a:solidFill>
            <a:prstDash val="solid"/>
          </a:ln>
        </p:spPr>
      </p:sp>
      <p:sp>
        <p:nvSpPr>
          <p:cNvPr id="28" name="Text 26"/>
          <p:cNvSpPr txBox="1"/>
          <p:nvPr/>
        </p:nvSpPr>
        <p:spPr>
          <a:xfrm>
            <a:off x="640080" y="4837176"/>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29" name="Text 27"/>
          <p:cNvSpPr txBox="1"/>
          <p:nvPr/>
        </p:nvSpPr>
        <p:spPr>
          <a:xfrm>
            <a:off x="1097280" y="4818888"/>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ĐIỆN</a:t>
            </a:r>
            <a:endParaRPr lang="en-US" sz="1050" dirty="0"/>
          </a:p>
        </p:txBody>
      </p:sp>
      <p:sp>
        <p:nvSpPr>
          <p:cNvPr id="30" name="Text 28"/>
          <p:cNvSpPr txBox="1"/>
          <p:nvPr/>
        </p:nvSpPr>
        <p:spPr>
          <a:xfrm>
            <a:off x="1097280" y="5248656"/>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Đo điện trở cách điện, kiểm tra tiếp địa, đánh dấu mạch.</a:t>
            </a:r>
            <a:endParaRPr lang="en-US" sz="950" dirty="0"/>
          </a:p>
        </p:txBody>
      </p:sp>
      <p:sp>
        <p:nvSpPr>
          <p:cNvPr id="31" name="Shape 29"/>
          <p:cNvSpPr/>
          <p:nvPr/>
        </p:nvSpPr>
        <p:spPr>
          <a:xfrm>
            <a:off x="3872484" y="4700016"/>
            <a:ext cx="3186684" cy="1024128"/>
          </a:xfrm>
          <a:prstGeom prst="roundRect">
            <a:avLst>
              <a:gd name="adj" fmla="val 7143"/>
            </a:avLst>
          </a:prstGeom>
          <a:solidFill>
            <a:schemeClr val="bg2"/>
          </a:solidFill>
          <a:ln w="12700">
            <a:solidFill>
              <a:schemeClr val="bg2"/>
            </a:solidFill>
            <a:prstDash val="solid"/>
          </a:ln>
        </p:spPr>
      </p:sp>
      <p:sp>
        <p:nvSpPr>
          <p:cNvPr id="32" name="Shape 30"/>
          <p:cNvSpPr/>
          <p:nvPr/>
        </p:nvSpPr>
        <p:spPr>
          <a:xfrm>
            <a:off x="4009644" y="4837176"/>
            <a:ext cx="365760" cy="365760"/>
          </a:xfrm>
          <a:prstGeom prst="ellipse">
            <a:avLst/>
          </a:prstGeom>
          <a:solidFill>
            <a:schemeClr val="accent1"/>
          </a:solidFill>
          <a:ln w="12700">
            <a:solidFill>
              <a:schemeClr val="accent1"/>
            </a:solidFill>
            <a:prstDash val="solid"/>
          </a:ln>
        </p:spPr>
      </p:sp>
      <p:sp>
        <p:nvSpPr>
          <p:cNvPr id="33" name="Text 31"/>
          <p:cNvSpPr txBox="1"/>
          <p:nvPr/>
        </p:nvSpPr>
        <p:spPr>
          <a:xfrm>
            <a:off x="4009644" y="4837176"/>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34" name="Text 32"/>
          <p:cNvSpPr txBox="1"/>
          <p:nvPr/>
        </p:nvSpPr>
        <p:spPr>
          <a:xfrm>
            <a:off x="4466844" y="4818888"/>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GIÁ ĐỠ &amp; TREO</a:t>
            </a:r>
            <a:endParaRPr lang="en-US" sz="1050" dirty="0"/>
          </a:p>
        </p:txBody>
      </p:sp>
      <p:sp>
        <p:nvSpPr>
          <p:cNvPr id="35" name="Text 33"/>
          <p:cNvSpPr txBox="1"/>
          <p:nvPr/>
        </p:nvSpPr>
        <p:spPr>
          <a:xfrm>
            <a:off x="4466844" y="5248656"/>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Khoảng cách treo đỡ, chống rung, chống gỉ.</a:t>
            </a:r>
            <a:endParaRPr lang="en-US" sz="950" dirty="0"/>
          </a:p>
        </p:txBody>
      </p:sp>
      <p:sp>
        <p:nvSpPr>
          <p:cNvPr id="36" name="Shape 34"/>
          <p:cNvSpPr/>
          <p:nvPr/>
        </p:nvSpPr>
        <p:spPr>
          <a:xfrm>
            <a:off x="502920" y="5861304"/>
            <a:ext cx="3186684" cy="1024128"/>
          </a:xfrm>
          <a:prstGeom prst="roundRect">
            <a:avLst>
              <a:gd name="adj" fmla="val 7143"/>
            </a:avLst>
          </a:prstGeom>
          <a:solidFill>
            <a:schemeClr val="bg2"/>
          </a:solidFill>
          <a:ln w="12700">
            <a:solidFill>
              <a:schemeClr val="bg2"/>
            </a:solidFill>
            <a:prstDash val="solid"/>
          </a:ln>
        </p:spPr>
      </p:sp>
      <p:sp>
        <p:nvSpPr>
          <p:cNvPr id="37" name="Shape 35"/>
          <p:cNvSpPr/>
          <p:nvPr/>
        </p:nvSpPr>
        <p:spPr>
          <a:xfrm>
            <a:off x="640080" y="5998464"/>
            <a:ext cx="365760" cy="365760"/>
          </a:xfrm>
          <a:prstGeom prst="ellipse">
            <a:avLst/>
          </a:prstGeom>
          <a:solidFill>
            <a:schemeClr val="accent1"/>
          </a:solidFill>
          <a:ln w="12700">
            <a:solidFill>
              <a:schemeClr val="accent1"/>
            </a:solidFill>
            <a:prstDash val="solid"/>
          </a:ln>
        </p:spPr>
      </p:sp>
      <p:sp>
        <p:nvSpPr>
          <p:cNvPr id="38" name="Text 36"/>
          <p:cNvSpPr txBox="1"/>
          <p:nvPr/>
        </p:nvSpPr>
        <p:spPr>
          <a:xfrm>
            <a:off x="640080" y="599846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07</a:t>
            </a:r>
            <a:endParaRPr lang="en-US" sz="1050" dirty="0"/>
          </a:p>
        </p:txBody>
      </p:sp>
      <p:sp>
        <p:nvSpPr>
          <p:cNvPr id="39" name="Text 37"/>
          <p:cNvSpPr txBox="1"/>
          <p:nvPr/>
        </p:nvSpPr>
        <p:spPr>
          <a:xfrm>
            <a:off x="1097280" y="598017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ẢNH NGHIỆM THU</a:t>
            </a:r>
            <a:endParaRPr lang="en-US" sz="1050" dirty="0"/>
          </a:p>
        </p:txBody>
      </p:sp>
      <p:sp>
        <p:nvSpPr>
          <p:cNvPr id="40" name="Text 38"/>
          <p:cNvSpPr txBox="1"/>
          <p:nvPr/>
        </p:nvSpPr>
        <p:spPr>
          <a:xfrm>
            <a:off x="1097280" y="6409944"/>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Chụp ảnh có dấu thời gian, vị trí trước khi đóng trần, trát.</a:t>
            </a:r>
            <a:endParaRPr lang="en-US" sz="950" dirty="0"/>
          </a:p>
        </p:txBody>
      </p:sp>
      <p:sp>
        <p:nvSpPr>
          <p:cNvPr id="41" name="Shape 39"/>
          <p:cNvSpPr/>
          <p:nvPr/>
        </p:nvSpPr>
        <p:spPr>
          <a:xfrm>
            <a:off x="3872484" y="5861304"/>
            <a:ext cx="3186684" cy="1024128"/>
          </a:xfrm>
          <a:prstGeom prst="roundRect">
            <a:avLst>
              <a:gd name="adj" fmla="val 7143"/>
            </a:avLst>
          </a:prstGeom>
          <a:solidFill>
            <a:schemeClr val="bg2"/>
          </a:solidFill>
          <a:ln w="12700">
            <a:solidFill>
              <a:schemeClr val="bg2"/>
            </a:solidFill>
            <a:prstDash val="solid"/>
          </a:ln>
        </p:spPr>
      </p:sp>
      <p:sp>
        <p:nvSpPr>
          <p:cNvPr id="42" name="Shape 40"/>
          <p:cNvSpPr/>
          <p:nvPr/>
        </p:nvSpPr>
        <p:spPr>
          <a:xfrm>
            <a:off x="4009644" y="5998464"/>
            <a:ext cx="365760" cy="365760"/>
          </a:xfrm>
          <a:prstGeom prst="ellipse">
            <a:avLst/>
          </a:prstGeom>
          <a:solidFill>
            <a:schemeClr val="accent1"/>
          </a:solidFill>
          <a:ln w="12700">
            <a:solidFill>
              <a:schemeClr val="accent1"/>
            </a:solidFill>
            <a:prstDash val="solid"/>
          </a:ln>
        </p:spPr>
      </p:sp>
      <p:sp>
        <p:nvSpPr>
          <p:cNvPr id="43" name="Text 41"/>
          <p:cNvSpPr txBox="1"/>
          <p:nvPr/>
        </p:nvSpPr>
        <p:spPr>
          <a:xfrm>
            <a:off x="4009644" y="599846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08</a:t>
            </a:r>
            <a:endParaRPr lang="en-US" sz="1050" dirty="0"/>
          </a:p>
        </p:txBody>
      </p:sp>
      <p:sp>
        <p:nvSpPr>
          <p:cNvPr id="44" name="Text 42"/>
          <p:cNvSpPr txBox="1"/>
          <p:nvPr/>
        </p:nvSpPr>
        <p:spPr>
          <a:xfrm>
            <a:off x="4466844" y="598017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HỒ SƠ BÀN GIAO</a:t>
            </a:r>
            <a:endParaRPr lang="en-US" sz="1050" dirty="0"/>
          </a:p>
        </p:txBody>
      </p:sp>
      <p:sp>
        <p:nvSpPr>
          <p:cNvPr id="45" name="Text 43"/>
          <p:cNvSpPr txBox="1"/>
          <p:nvPr/>
        </p:nvSpPr>
        <p:spPr>
          <a:xfrm>
            <a:off x="4466844" y="6409944"/>
            <a:ext cx="2455164" cy="384048"/>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Biên bản, bản vẽ hoàn công, hướng dẫn sử dụng.</a:t>
            </a:r>
            <a:endParaRPr lang="en-US" sz="950" dirty="0"/>
          </a:p>
        </p:txBody>
      </p:sp>
      <p:pic>
        <p:nvPicPr>
          <p:cNvPr id="46" name="photo img23.jpg" descr="Đấu nối, kiểm tra mối nối ống hút">    </p:cNvPr>
          <p:cNvPicPr>
            <a:picLocks noChangeAspect="1"/>
          </p:cNvPicPr>
          <p:nvPr/>
        </p:nvPicPr>
        <p:blipFill>
          <a:blip r:embed="rId1"/>
          <a:stretch>
            <a:fillRect/>
          </a:stretch>
        </p:blipFill>
        <p:spPr>
          <a:xfrm>
            <a:off x="502920" y="7086600"/>
            <a:ext cx="3186684" cy="2514600"/>
          </a:xfrm>
          <a:prstGeom prst="rect">
            <a:avLst/>
          </a:prstGeom>
        </p:spPr>
      </p:pic>
      <p:sp>
        <p:nvSpPr>
          <p:cNvPr id="47" name="Text 44"/>
          <p:cNvSpPr txBox="1"/>
          <p:nvPr/>
        </p:nvSpPr>
        <p:spPr>
          <a:xfrm>
            <a:off x="502920"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Đấu nối, kiểm tra mối nối ống hút</a:t>
            </a:r>
            <a:endParaRPr lang="en-US" sz="800" dirty="0"/>
          </a:p>
        </p:txBody>
      </p:sp>
      <p:pic>
        <p:nvPicPr>
          <p:cNvPr id="48" name="photo img31.jpg" descr="Ống mềm, đai siết hoàn thiện">    </p:cNvPr>
          <p:cNvPicPr>
            <a:picLocks noChangeAspect="1"/>
          </p:cNvPicPr>
          <p:nvPr/>
        </p:nvPicPr>
        <p:blipFill>
          <a:blip r:embed="rId2"/>
          <a:stretch>
            <a:fillRect/>
          </a:stretch>
        </p:blipFill>
        <p:spPr>
          <a:xfrm>
            <a:off x="3872484" y="7086600"/>
            <a:ext cx="3186684" cy="2514600"/>
          </a:xfrm>
          <a:prstGeom prst="rect">
            <a:avLst/>
          </a:prstGeom>
        </p:spPr>
      </p:pic>
      <p:sp>
        <p:nvSpPr>
          <p:cNvPr id="49" name="Text 45"/>
          <p:cNvSpPr txBox="1"/>
          <p:nvPr/>
        </p:nvSpPr>
        <p:spPr>
          <a:xfrm>
            <a:off x="3872484"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Ống mềm, đai siết hoàn thiện</a:t>
            </a:r>
            <a:endParaRPr lang="en-US" sz="8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QUẢN TRỊ DỰ ÁN</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An toàn lao động</a:t>
            </a:r>
            <a:endParaRPr lang="en-US" sz="2200" dirty="0"/>
          </a:p>
        </p:txBody>
      </p:sp>
      <p:pic>
        <p:nvPicPr>
          <p:cNvPr id="4" name="photo img17.jpg" descr="Thi công trên xe nâng người có lan can – Nghệ An">    </p:cNvPr>
          <p:cNvPicPr>
            <a:picLocks noChangeAspect="1"/>
          </p:cNvPicPr>
          <p:nvPr/>
        </p:nvPicPr>
        <p:blipFill>
          <a:blip r:embed="rId1"/>
          <a:stretch>
            <a:fillRect/>
          </a:stretch>
        </p:blipFill>
        <p:spPr>
          <a:xfrm>
            <a:off x="502920" y="1463040"/>
            <a:ext cx="3186684" cy="2651760"/>
          </a:xfrm>
          <a:prstGeom prst="rect">
            <a:avLst/>
          </a:prstGeom>
        </p:spPr>
      </p:pic>
      <p:sp>
        <p:nvSpPr>
          <p:cNvPr id="5" name="Text 2"/>
          <p:cNvSpPr txBox="1"/>
          <p:nvPr/>
        </p:nvSpPr>
        <p:spPr>
          <a:xfrm>
            <a:off x="502920" y="41513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Thi công trên xe nâng người có lan can – Nghệ An</a:t>
            </a:r>
            <a:endParaRPr lang="en-US" sz="800" dirty="0"/>
          </a:p>
        </p:txBody>
      </p:sp>
      <p:pic>
        <p:nvPicPr>
          <p:cNvPr id="6" name="photo img09.jpg" descr="Thao tác trên sàn công tác giàn giáo – Ninh Bình">    </p:cNvPr>
          <p:cNvPicPr>
            <a:picLocks noChangeAspect="1"/>
          </p:cNvPicPr>
          <p:nvPr/>
        </p:nvPicPr>
        <p:blipFill>
          <a:blip r:embed="rId2"/>
          <a:stretch>
            <a:fillRect/>
          </a:stretch>
        </p:blipFill>
        <p:spPr>
          <a:xfrm>
            <a:off x="3872484" y="1463040"/>
            <a:ext cx="3186684" cy="2651760"/>
          </a:xfrm>
          <a:prstGeom prst="rect">
            <a:avLst/>
          </a:prstGeom>
        </p:spPr>
      </p:pic>
      <p:sp>
        <p:nvSpPr>
          <p:cNvPr id="7" name="Text 3"/>
          <p:cNvSpPr txBox="1"/>
          <p:nvPr/>
        </p:nvSpPr>
        <p:spPr>
          <a:xfrm>
            <a:off x="3872484" y="41513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Thao tác trên sàn công tác giàn giáo – Ninh Bình</a:t>
            </a:r>
            <a:endParaRPr lang="en-US" sz="800" dirty="0"/>
          </a:p>
        </p:txBody>
      </p:sp>
      <p:sp>
        <p:nvSpPr>
          <p:cNvPr id="8" name="Shape 4"/>
          <p:cNvSpPr/>
          <p:nvPr/>
        </p:nvSpPr>
        <p:spPr>
          <a:xfrm>
            <a:off x="502920" y="4526280"/>
            <a:ext cx="3186684" cy="1143000"/>
          </a:xfrm>
          <a:prstGeom prst="roundRect">
            <a:avLst>
              <a:gd name="adj" fmla="val 6400"/>
            </a:avLst>
          </a:prstGeom>
          <a:solidFill>
            <a:schemeClr val="bg2"/>
          </a:solidFill>
          <a:ln w="12700">
            <a:solidFill>
              <a:schemeClr val="bg2"/>
            </a:solidFill>
            <a:prstDash val="solid"/>
          </a:ln>
        </p:spPr>
      </p:sp>
      <p:sp>
        <p:nvSpPr>
          <p:cNvPr id="9" name="Shape 5"/>
          <p:cNvSpPr/>
          <p:nvPr/>
        </p:nvSpPr>
        <p:spPr>
          <a:xfrm>
            <a:off x="640080" y="4663440"/>
            <a:ext cx="365760" cy="365760"/>
          </a:xfrm>
          <a:prstGeom prst="ellipse">
            <a:avLst/>
          </a:prstGeom>
          <a:solidFill>
            <a:schemeClr val="accent1"/>
          </a:solidFill>
          <a:ln w="12700">
            <a:solidFill>
              <a:schemeClr val="accent1"/>
            </a:solidFill>
            <a:prstDash val="solid"/>
          </a:ln>
        </p:spPr>
      </p:sp>
      <p:sp>
        <p:nvSpPr>
          <p:cNvPr id="10" name="Text 6"/>
          <p:cNvSpPr txBox="1"/>
          <p:nvPr/>
        </p:nvSpPr>
        <p:spPr>
          <a:xfrm>
            <a:off x="640080" y="466344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1" name="Text 7"/>
          <p:cNvSpPr txBox="1"/>
          <p:nvPr/>
        </p:nvSpPr>
        <p:spPr>
          <a:xfrm>
            <a:off x="1097280" y="464515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BẢO HỘ CÁ NHÂN</a:t>
            </a:r>
            <a:endParaRPr lang="en-US" sz="1050" dirty="0"/>
          </a:p>
        </p:txBody>
      </p:sp>
      <p:sp>
        <p:nvSpPr>
          <p:cNvPr id="12" name="Text 8"/>
          <p:cNvSpPr txBox="1"/>
          <p:nvPr/>
        </p:nvSpPr>
        <p:spPr>
          <a:xfrm>
            <a:off x="1097280" y="507492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Mũ, giày, áo phản quang, găng tay, kính, dây đai an toàn.</a:t>
            </a:r>
            <a:endParaRPr lang="en-US" sz="950" dirty="0"/>
          </a:p>
        </p:txBody>
      </p:sp>
      <p:sp>
        <p:nvSpPr>
          <p:cNvPr id="13" name="Shape 9"/>
          <p:cNvSpPr/>
          <p:nvPr/>
        </p:nvSpPr>
        <p:spPr>
          <a:xfrm>
            <a:off x="3872484" y="4526280"/>
            <a:ext cx="3186684" cy="1143000"/>
          </a:xfrm>
          <a:prstGeom prst="roundRect">
            <a:avLst>
              <a:gd name="adj" fmla="val 6400"/>
            </a:avLst>
          </a:prstGeom>
          <a:solidFill>
            <a:schemeClr val="bg2"/>
          </a:solidFill>
          <a:ln w="12700">
            <a:solidFill>
              <a:schemeClr val="bg2"/>
            </a:solidFill>
            <a:prstDash val="solid"/>
          </a:ln>
        </p:spPr>
      </p:sp>
      <p:sp>
        <p:nvSpPr>
          <p:cNvPr id="14" name="Shape 10"/>
          <p:cNvSpPr/>
          <p:nvPr/>
        </p:nvSpPr>
        <p:spPr>
          <a:xfrm>
            <a:off x="4009644" y="4663440"/>
            <a:ext cx="365760" cy="365760"/>
          </a:xfrm>
          <a:prstGeom prst="ellipse">
            <a:avLst/>
          </a:prstGeom>
          <a:solidFill>
            <a:schemeClr val="accent1"/>
          </a:solidFill>
          <a:ln w="12700">
            <a:solidFill>
              <a:schemeClr val="accent1"/>
            </a:solidFill>
            <a:prstDash val="solid"/>
          </a:ln>
        </p:spPr>
      </p:sp>
      <p:sp>
        <p:nvSpPr>
          <p:cNvPr id="15" name="Text 11"/>
          <p:cNvSpPr txBox="1"/>
          <p:nvPr/>
        </p:nvSpPr>
        <p:spPr>
          <a:xfrm>
            <a:off x="4009644" y="466344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6" name="Text 12"/>
          <p:cNvSpPr txBox="1"/>
          <p:nvPr/>
        </p:nvSpPr>
        <p:spPr>
          <a:xfrm>
            <a:off x="4466844" y="464515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LÀM VIỆC TRÊN CAO</a:t>
            </a:r>
            <a:endParaRPr lang="en-US" sz="1050" dirty="0"/>
          </a:p>
        </p:txBody>
      </p:sp>
      <p:sp>
        <p:nvSpPr>
          <p:cNvPr id="17" name="Text 13"/>
          <p:cNvSpPr txBox="1"/>
          <p:nvPr/>
        </p:nvSpPr>
        <p:spPr>
          <a:xfrm>
            <a:off x="4466844" y="507492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Xe nâng người có lan can, giàn giáo khóa chân, móc dây đai.</a:t>
            </a:r>
            <a:endParaRPr lang="en-US" sz="950" dirty="0"/>
          </a:p>
        </p:txBody>
      </p:sp>
      <p:sp>
        <p:nvSpPr>
          <p:cNvPr id="18" name="Shape 14"/>
          <p:cNvSpPr/>
          <p:nvPr/>
        </p:nvSpPr>
        <p:spPr>
          <a:xfrm>
            <a:off x="502920" y="5806440"/>
            <a:ext cx="3186684" cy="1143000"/>
          </a:xfrm>
          <a:prstGeom prst="roundRect">
            <a:avLst>
              <a:gd name="adj" fmla="val 6400"/>
            </a:avLst>
          </a:prstGeom>
          <a:solidFill>
            <a:schemeClr val="bg2"/>
          </a:solidFill>
          <a:ln w="12700">
            <a:solidFill>
              <a:schemeClr val="bg2"/>
            </a:solidFill>
            <a:prstDash val="solid"/>
          </a:ln>
        </p:spPr>
      </p:sp>
      <p:sp>
        <p:nvSpPr>
          <p:cNvPr id="19" name="Shape 15"/>
          <p:cNvSpPr/>
          <p:nvPr/>
        </p:nvSpPr>
        <p:spPr>
          <a:xfrm>
            <a:off x="640080" y="5943600"/>
            <a:ext cx="365760" cy="365760"/>
          </a:xfrm>
          <a:prstGeom prst="ellipse">
            <a:avLst/>
          </a:prstGeom>
          <a:solidFill>
            <a:schemeClr val="accent1"/>
          </a:solidFill>
          <a:ln w="12700">
            <a:solidFill>
              <a:schemeClr val="accent1"/>
            </a:solidFill>
            <a:prstDash val="solid"/>
          </a:ln>
        </p:spPr>
      </p:sp>
      <p:sp>
        <p:nvSpPr>
          <p:cNvPr id="20" name="Text 16"/>
          <p:cNvSpPr txBox="1"/>
          <p:nvPr/>
        </p:nvSpPr>
        <p:spPr>
          <a:xfrm>
            <a:off x="640080" y="5943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1" name="Text 17"/>
          <p:cNvSpPr txBox="1"/>
          <p:nvPr/>
        </p:nvSpPr>
        <p:spPr>
          <a:xfrm>
            <a:off x="1097280" y="5925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ĐIỆN THI CÔNG</a:t>
            </a:r>
            <a:endParaRPr lang="en-US" sz="1050" dirty="0"/>
          </a:p>
        </p:txBody>
      </p:sp>
      <p:sp>
        <p:nvSpPr>
          <p:cNvPr id="22" name="Text 18"/>
          <p:cNvSpPr txBox="1"/>
          <p:nvPr/>
        </p:nvSpPr>
        <p:spPr>
          <a:xfrm>
            <a:off x="1097280" y="635508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Ổ cắm có aptomat chống giật, dây không hở, ngắt điện khi đấu nối.</a:t>
            </a:r>
            <a:endParaRPr lang="en-US" sz="950" dirty="0"/>
          </a:p>
        </p:txBody>
      </p:sp>
      <p:sp>
        <p:nvSpPr>
          <p:cNvPr id="23" name="Shape 19"/>
          <p:cNvSpPr/>
          <p:nvPr/>
        </p:nvSpPr>
        <p:spPr>
          <a:xfrm>
            <a:off x="3872484" y="5806440"/>
            <a:ext cx="3186684" cy="1143000"/>
          </a:xfrm>
          <a:prstGeom prst="roundRect">
            <a:avLst>
              <a:gd name="adj" fmla="val 6400"/>
            </a:avLst>
          </a:prstGeom>
          <a:solidFill>
            <a:schemeClr val="bg2"/>
          </a:solidFill>
          <a:ln w="12700">
            <a:solidFill>
              <a:schemeClr val="bg2"/>
            </a:solidFill>
            <a:prstDash val="solid"/>
          </a:ln>
        </p:spPr>
      </p:sp>
      <p:sp>
        <p:nvSpPr>
          <p:cNvPr id="24" name="Shape 20"/>
          <p:cNvSpPr/>
          <p:nvPr/>
        </p:nvSpPr>
        <p:spPr>
          <a:xfrm>
            <a:off x="4009644" y="5943600"/>
            <a:ext cx="365760" cy="365760"/>
          </a:xfrm>
          <a:prstGeom prst="ellipse">
            <a:avLst/>
          </a:prstGeom>
          <a:solidFill>
            <a:schemeClr val="accent1"/>
          </a:solidFill>
          <a:ln w="12700">
            <a:solidFill>
              <a:schemeClr val="accent1"/>
            </a:solidFill>
            <a:prstDash val="solid"/>
          </a:ln>
        </p:spPr>
      </p:sp>
      <p:sp>
        <p:nvSpPr>
          <p:cNvPr id="25" name="Text 21"/>
          <p:cNvSpPr txBox="1"/>
          <p:nvPr/>
        </p:nvSpPr>
        <p:spPr>
          <a:xfrm>
            <a:off x="4009644" y="594360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6" name="Text 22"/>
          <p:cNvSpPr txBox="1"/>
          <p:nvPr/>
        </p:nvSpPr>
        <p:spPr>
          <a:xfrm>
            <a:off x="4466844" y="592531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DỤNG CỤ CẦM TAY</a:t>
            </a:r>
            <a:endParaRPr lang="en-US" sz="1050" dirty="0"/>
          </a:p>
        </p:txBody>
      </p:sp>
      <p:sp>
        <p:nvSpPr>
          <p:cNvPr id="27" name="Text 23"/>
          <p:cNvSpPr txBox="1"/>
          <p:nvPr/>
        </p:nvSpPr>
        <p:spPr>
          <a:xfrm>
            <a:off x="4466844" y="635508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Máy cắt, máy khoan có che chắn; kiểm tra trước ca.</a:t>
            </a:r>
            <a:endParaRPr lang="en-US" sz="950" dirty="0"/>
          </a:p>
        </p:txBody>
      </p:sp>
      <p:sp>
        <p:nvSpPr>
          <p:cNvPr id="28" name="Shape 24"/>
          <p:cNvSpPr/>
          <p:nvPr/>
        </p:nvSpPr>
        <p:spPr>
          <a:xfrm>
            <a:off x="502920" y="7086600"/>
            <a:ext cx="3186684" cy="1143000"/>
          </a:xfrm>
          <a:prstGeom prst="roundRect">
            <a:avLst>
              <a:gd name="adj" fmla="val 6400"/>
            </a:avLst>
          </a:prstGeom>
          <a:solidFill>
            <a:schemeClr val="bg2"/>
          </a:solidFill>
          <a:ln w="12700">
            <a:solidFill>
              <a:schemeClr val="bg2"/>
            </a:solidFill>
            <a:prstDash val="solid"/>
          </a:ln>
        </p:spPr>
      </p:sp>
      <p:sp>
        <p:nvSpPr>
          <p:cNvPr id="29" name="Shape 25"/>
          <p:cNvSpPr/>
          <p:nvPr/>
        </p:nvSpPr>
        <p:spPr>
          <a:xfrm>
            <a:off x="640080" y="7223760"/>
            <a:ext cx="365760" cy="365760"/>
          </a:xfrm>
          <a:prstGeom prst="ellipse">
            <a:avLst/>
          </a:prstGeom>
          <a:solidFill>
            <a:schemeClr val="accent1"/>
          </a:solidFill>
          <a:ln w="12700">
            <a:solidFill>
              <a:schemeClr val="accent1"/>
            </a:solidFill>
            <a:prstDash val="solid"/>
          </a:ln>
        </p:spPr>
      </p:sp>
      <p:sp>
        <p:nvSpPr>
          <p:cNvPr id="30" name="Text 26"/>
          <p:cNvSpPr txBox="1"/>
          <p:nvPr/>
        </p:nvSpPr>
        <p:spPr>
          <a:xfrm>
            <a:off x="640080" y="72237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31" name="Text 27"/>
          <p:cNvSpPr txBox="1"/>
          <p:nvPr/>
        </p:nvSpPr>
        <p:spPr>
          <a:xfrm>
            <a:off x="1097280" y="72054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KHOANH VÙNG</a:t>
            </a:r>
            <a:endParaRPr lang="en-US" sz="1050" dirty="0"/>
          </a:p>
        </p:txBody>
      </p:sp>
      <p:sp>
        <p:nvSpPr>
          <p:cNvPr id="32" name="Text 28"/>
          <p:cNvSpPr txBox="1"/>
          <p:nvPr/>
        </p:nvSpPr>
        <p:spPr>
          <a:xfrm>
            <a:off x="1097280" y="763524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Biển báo, cảnh giới khu vực thi công phía dưới.</a:t>
            </a:r>
            <a:endParaRPr lang="en-US" sz="950" dirty="0"/>
          </a:p>
        </p:txBody>
      </p:sp>
      <p:sp>
        <p:nvSpPr>
          <p:cNvPr id="33" name="Shape 29"/>
          <p:cNvSpPr/>
          <p:nvPr/>
        </p:nvSpPr>
        <p:spPr>
          <a:xfrm>
            <a:off x="3872484" y="7086600"/>
            <a:ext cx="3186684" cy="1143000"/>
          </a:xfrm>
          <a:prstGeom prst="roundRect">
            <a:avLst>
              <a:gd name="adj" fmla="val 6400"/>
            </a:avLst>
          </a:prstGeom>
          <a:solidFill>
            <a:schemeClr val="bg2"/>
          </a:solidFill>
          <a:ln w="12700">
            <a:solidFill>
              <a:schemeClr val="bg2"/>
            </a:solidFill>
            <a:prstDash val="solid"/>
          </a:ln>
        </p:spPr>
      </p:sp>
      <p:sp>
        <p:nvSpPr>
          <p:cNvPr id="34" name="Shape 30"/>
          <p:cNvSpPr/>
          <p:nvPr/>
        </p:nvSpPr>
        <p:spPr>
          <a:xfrm>
            <a:off x="4009644" y="7223760"/>
            <a:ext cx="365760" cy="365760"/>
          </a:xfrm>
          <a:prstGeom prst="ellipse">
            <a:avLst/>
          </a:prstGeom>
          <a:solidFill>
            <a:schemeClr val="accent1"/>
          </a:solidFill>
          <a:ln w="12700">
            <a:solidFill>
              <a:schemeClr val="accent1"/>
            </a:solidFill>
            <a:prstDash val="solid"/>
          </a:ln>
        </p:spPr>
      </p:sp>
      <p:sp>
        <p:nvSpPr>
          <p:cNvPr id="35" name="Text 31"/>
          <p:cNvSpPr txBox="1"/>
          <p:nvPr/>
        </p:nvSpPr>
        <p:spPr>
          <a:xfrm>
            <a:off x="4009644" y="72237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36" name="Text 32"/>
          <p:cNvSpPr txBox="1"/>
          <p:nvPr/>
        </p:nvSpPr>
        <p:spPr>
          <a:xfrm>
            <a:off x="4466844" y="72054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PCCC</a:t>
            </a:r>
            <a:endParaRPr lang="en-US" sz="1050" dirty="0"/>
          </a:p>
        </p:txBody>
      </p:sp>
      <p:sp>
        <p:nvSpPr>
          <p:cNvPr id="37" name="Text 33"/>
          <p:cNvSpPr txBox="1"/>
          <p:nvPr/>
        </p:nvSpPr>
        <p:spPr>
          <a:xfrm>
            <a:off x="4466844" y="763524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Kiểm soát tia lửa khi cắt, mài; bình chữa cháy gần vị trí.</a:t>
            </a:r>
            <a:endParaRPr lang="en-US" sz="950" dirty="0"/>
          </a:p>
        </p:txBody>
      </p:sp>
      <p:sp>
        <p:nvSpPr>
          <p:cNvPr id="38" name="Shape 34"/>
          <p:cNvSpPr/>
          <p:nvPr/>
        </p:nvSpPr>
        <p:spPr>
          <a:xfrm>
            <a:off x="502920" y="8366760"/>
            <a:ext cx="3186684" cy="1143000"/>
          </a:xfrm>
          <a:prstGeom prst="roundRect">
            <a:avLst>
              <a:gd name="adj" fmla="val 6400"/>
            </a:avLst>
          </a:prstGeom>
          <a:solidFill>
            <a:schemeClr val="bg2"/>
          </a:solidFill>
          <a:ln w="12700">
            <a:solidFill>
              <a:schemeClr val="bg2"/>
            </a:solidFill>
            <a:prstDash val="solid"/>
          </a:ln>
        </p:spPr>
      </p:sp>
      <p:sp>
        <p:nvSpPr>
          <p:cNvPr id="39" name="Shape 35"/>
          <p:cNvSpPr/>
          <p:nvPr/>
        </p:nvSpPr>
        <p:spPr>
          <a:xfrm>
            <a:off x="640080" y="8503920"/>
            <a:ext cx="365760" cy="365760"/>
          </a:xfrm>
          <a:prstGeom prst="ellipse">
            <a:avLst/>
          </a:prstGeom>
          <a:solidFill>
            <a:schemeClr val="accent1"/>
          </a:solidFill>
          <a:ln w="12700">
            <a:solidFill>
              <a:schemeClr val="accent1"/>
            </a:solidFill>
            <a:prstDash val="solid"/>
          </a:ln>
        </p:spPr>
      </p:sp>
      <p:sp>
        <p:nvSpPr>
          <p:cNvPr id="40" name="Text 36"/>
          <p:cNvSpPr txBox="1"/>
          <p:nvPr/>
        </p:nvSpPr>
        <p:spPr>
          <a:xfrm>
            <a:off x="640080" y="85039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07</a:t>
            </a:r>
            <a:endParaRPr lang="en-US" sz="1050" dirty="0"/>
          </a:p>
        </p:txBody>
      </p:sp>
      <p:sp>
        <p:nvSpPr>
          <p:cNvPr id="41" name="Text 37"/>
          <p:cNvSpPr txBox="1"/>
          <p:nvPr/>
        </p:nvSpPr>
        <p:spPr>
          <a:xfrm>
            <a:off x="1097280" y="848563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NHÀ XƯỞNG ĐANG CHẠY</a:t>
            </a:r>
            <a:endParaRPr lang="en-US" sz="1050" dirty="0"/>
          </a:p>
        </p:txBody>
      </p:sp>
      <p:sp>
        <p:nvSpPr>
          <p:cNvPr id="42" name="Text 38"/>
          <p:cNvSpPr txBox="1"/>
          <p:nvPr/>
        </p:nvSpPr>
        <p:spPr>
          <a:xfrm>
            <a:off x="1097280" y="891540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Tuân thủ nội quy nhà máy, phối hợp lịch dừng máy.</a:t>
            </a:r>
            <a:endParaRPr lang="en-US" sz="950" dirty="0"/>
          </a:p>
        </p:txBody>
      </p:sp>
      <p:sp>
        <p:nvSpPr>
          <p:cNvPr id="43" name="Shape 39"/>
          <p:cNvSpPr/>
          <p:nvPr/>
        </p:nvSpPr>
        <p:spPr>
          <a:xfrm>
            <a:off x="3872484" y="8366760"/>
            <a:ext cx="3186684" cy="1143000"/>
          </a:xfrm>
          <a:prstGeom prst="roundRect">
            <a:avLst>
              <a:gd name="adj" fmla="val 6400"/>
            </a:avLst>
          </a:prstGeom>
          <a:solidFill>
            <a:schemeClr val="bg2"/>
          </a:solidFill>
          <a:ln w="12700">
            <a:solidFill>
              <a:schemeClr val="bg2"/>
            </a:solidFill>
            <a:prstDash val="solid"/>
          </a:ln>
        </p:spPr>
      </p:sp>
      <p:sp>
        <p:nvSpPr>
          <p:cNvPr id="44" name="Shape 40"/>
          <p:cNvSpPr/>
          <p:nvPr/>
        </p:nvSpPr>
        <p:spPr>
          <a:xfrm>
            <a:off x="4009644" y="8503920"/>
            <a:ext cx="365760" cy="365760"/>
          </a:xfrm>
          <a:prstGeom prst="ellipse">
            <a:avLst/>
          </a:prstGeom>
          <a:solidFill>
            <a:schemeClr val="accent1"/>
          </a:solidFill>
          <a:ln w="12700">
            <a:solidFill>
              <a:schemeClr val="accent1"/>
            </a:solidFill>
            <a:prstDash val="solid"/>
          </a:ln>
        </p:spPr>
      </p:sp>
      <p:sp>
        <p:nvSpPr>
          <p:cNvPr id="45" name="Text 41"/>
          <p:cNvSpPr txBox="1"/>
          <p:nvPr/>
        </p:nvSpPr>
        <p:spPr>
          <a:xfrm>
            <a:off x="4009644" y="850392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08</a:t>
            </a:r>
            <a:endParaRPr lang="en-US" sz="1050" dirty="0"/>
          </a:p>
        </p:txBody>
      </p:sp>
      <p:sp>
        <p:nvSpPr>
          <p:cNvPr id="46" name="Text 42"/>
          <p:cNvSpPr txBox="1"/>
          <p:nvPr/>
        </p:nvSpPr>
        <p:spPr>
          <a:xfrm>
            <a:off x="4466844" y="848563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VỆ SINH</a:t>
            </a:r>
            <a:endParaRPr lang="en-US" sz="1050" dirty="0"/>
          </a:p>
        </p:txBody>
      </p:sp>
      <p:sp>
        <p:nvSpPr>
          <p:cNvPr id="47" name="Text 43"/>
          <p:cNvSpPr txBox="1"/>
          <p:nvPr/>
        </p:nvSpPr>
        <p:spPr>
          <a:xfrm>
            <a:off x="4466844" y="8915400"/>
            <a:ext cx="2455164" cy="50292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Thu gom vật tư thừa, hoàn trả mặt bằng cuối ca.</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NGUỒN LỰC</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Cơ cấu nhân sự</a:t>
            </a:r>
            <a:endParaRPr lang="en-US" sz="2200" dirty="0"/>
          </a:p>
        </p:txBody>
      </p:sp>
      <p:sp>
        <p:nvSpPr>
          <p:cNvPr id="4" name="Shape 2"/>
          <p:cNvSpPr/>
          <p:nvPr/>
        </p:nvSpPr>
        <p:spPr>
          <a:xfrm>
            <a:off x="502920" y="1463040"/>
            <a:ext cx="2063496" cy="2651760"/>
          </a:xfrm>
          <a:prstGeom prst="roundRect">
            <a:avLst>
              <a:gd name="adj" fmla="val 3545"/>
            </a:avLst>
          </a:prstGeom>
          <a:solidFill>
            <a:schemeClr val="tx2"/>
          </a:solidFill>
          <a:ln w="12700">
            <a:solidFill>
              <a:schemeClr val="tx2"/>
            </a:solidFill>
            <a:prstDash val="solid"/>
          </a:ln>
        </p:spPr>
      </p:sp>
      <p:sp>
        <p:nvSpPr>
          <p:cNvPr id="5" name="Text 3"/>
          <p:cNvSpPr txBox="1"/>
          <p:nvPr/>
        </p:nvSpPr>
        <p:spPr>
          <a:xfrm>
            <a:off x="640080" y="1645920"/>
            <a:ext cx="1789176" cy="914400"/>
          </a:xfrm>
          <a:prstGeom prst="rect">
            <a:avLst/>
          </a:prstGeom>
          <a:noFill/>
          <a:ln/>
        </p:spPr>
        <p:txBody>
          <a:bodyPr wrap="square" lIns="0" tIns="0" rIns="0" bIns="0" rtlCol="0" anchor="ctr"/>
          <a:lstStyle/>
          <a:p>
            <a:pPr algn="ctr" indent="0" marL="0">
              <a:buNone/>
            </a:pPr>
            <a:r>
              <a:rPr lang="en-US" sz="4800" b="1" dirty="0">
                <a:solidFill>
                  <a:schemeClr val="accent1"/>
                </a:solidFill>
                <a:latin typeface="Arial" pitchFamily="34" charset="0"/>
                <a:ea typeface="Arial" pitchFamily="34" charset="-122"/>
                <a:cs typeface="Arial" pitchFamily="34" charset="-120"/>
              </a:rPr>
              <a:t>100</a:t>
            </a:r>
            <a:endParaRPr lang="en-US" sz="4800" dirty="0"/>
          </a:p>
        </p:txBody>
      </p:sp>
      <p:sp>
        <p:nvSpPr>
          <p:cNvPr id="6" name="Text 4"/>
          <p:cNvSpPr txBox="1"/>
          <p:nvPr/>
        </p:nvSpPr>
        <p:spPr>
          <a:xfrm>
            <a:off x="640080" y="2606040"/>
            <a:ext cx="1789176" cy="320040"/>
          </a:xfrm>
          <a:prstGeom prst="rect">
            <a:avLst/>
          </a:prstGeom>
          <a:noFill/>
          <a:ln/>
        </p:spPr>
        <p:txBody>
          <a:bodyPr wrap="square" lIns="0" tIns="0" rIns="0" bIns="0" rtlCol="0" anchor="ctr"/>
          <a:lstStyle/>
          <a:p>
            <a:pPr algn="ctr" indent="0" marL="0">
              <a:buNone/>
            </a:pPr>
            <a:r>
              <a:rPr lang="en-US" sz="1200" b="1" spc="200" kern="0" dirty="0">
                <a:solidFill>
                  <a:schemeClr val="bg1"/>
                </a:solidFill>
                <a:latin typeface="Arial" pitchFamily="34" charset="0"/>
                <a:ea typeface="Arial" pitchFamily="34" charset="-122"/>
                <a:cs typeface="Arial" pitchFamily="34" charset="-120"/>
              </a:rPr>
              <a:t>NHÂN SỰ</a:t>
            </a:r>
            <a:endParaRPr lang="en-US" sz="1200" dirty="0"/>
          </a:p>
        </p:txBody>
      </p:sp>
      <p:sp>
        <p:nvSpPr>
          <p:cNvPr id="7" name="Text 5"/>
          <p:cNvSpPr txBox="1"/>
          <p:nvPr/>
        </p:nvSpPr>
        <p:spPr>
          <a:xfrm>
            <a:off x="685800" y="3017520"/>
            <a:ext cx="1697736" cy="914400"/>
          </a:xfrm>
          <a:prstGeom prst="rect">
            <a:avLst/>
          </a:prstGeom>
          <a:noFill/>
          <a:ln/>
        </p:spPr>
        <p:txBody>
          <a:bodyPr wrap="square" lIns="0" tIns="0" rIns="0" bIns="0" rtlCol="0" anchor="t"/>
          <a:lstStyle/>
          <a:p>
            <a:pPr algn="ctr" indent="0" marL="0">
              <a:buNone/>
            </a:pPr>
            <a:r>
              <a:rPr lang="en-US" sz="950" dirty="0">
                <a:solidFill>
                  <a:schemeClr val="accent4"/>
                </a:solidFill>
              </a:rPr>
              <a:t>Kỹ thuật, văn phòng, chỉ huy công trường và công nhân lành nghề</a:t>
            </a:r>
            <a:endParaRPr lang="en-US" sz="950" dirty="0"/>
          </a:p>
        </p:txBody>
      </p:sp>
      <p:sp>
        <p:nvSpPr>
          <p:cNvPr id="8" name="Shape 6"/>
          <p:cNvSpPr/>
          <p:nvPr/>
        </p:nvSpPr>
        <p:spPr>
          <a:xfrm>
            <a:off x="2749296" y="1463040"/>
            <a:ext cx="2063496" cy="2651760"/>
          </a:xfrm>
          <a:prstGeom prst="roundRect">
            <a:avLst>
              <a:gd name="adj" fmla="val 3545"/>
            </a:avLst>
          </a:prstGeom>
          <a:solidFill>
            <a:schemeClr val="tx2"/>
          </a:solidFill>
          <a:ln w="12700">
            <a:solidFill>
              <a:schemeClr val="tx2"/>
            </a:solidFill>
            <a:prstDash val="solid"/>
          </a:ln>
        </p:spPr>
      </p:sp>
      <p:sp>
        <p:nvSpPr>
          <p:cNvPr id="9" name="Text 7"/>
          <p:cNvSpPr txBox="1"/>
          <p:nvPr/>
        </p:nvSpPr>
        <p:spPr>
          <a:xfrm>
            <a:off x="2886456" y="1645920"/>
            <a:ext cx="1789176" cy="914400"/>
          </a:xfrm>
          <a:prstGeom prst="rect">
            <a:avLst/>
          </a:prstGeom>
          <a:noFill/>
          <a:ln/>
        </p:spPr>
        <p:txBody>
          <a:bodyPr wrap="square" lIns="0" tIns="0" rIns="0" bIns="0" rtlCol="0" anchor="ctr"/>
          <a:lstStyle/>
          <a:p>
            <a:pPr algn="ctr" indent="0" marL="0">
              <a:buNone/>
            </a:pPr>
            <a:r>
              <a:rPr lang="en-US" sz="4800" b="1" dirty="0">
                <a:solidFill>
                  <a:schemeClr val="accent1"/>
                </a:solidFill>
                <a:latin typeface="Arial" pitchFamily="34" charset="0"/>
                <a:ea typeface="Arial" pitchFamily="34" charset="-122"/>
                <a:cs typeface="Arial" pitchFamily="34" charset="-120"/>
              </a:rPr>
              <a:t>4</a:t>
            </a:r>
            <a:endParaRPr lang="en-US" sz="4800" dirty="0"/>
          </a:p>
        </p:txBody>
      </p:sp>
      <p:sp>
        <p:nvSpPr>
          <p:cNvPr id="10" name="Text 8"/>
          <p:cNvSpPr txBox="1"/>
          <p:nvPr/>
        </p:nvSpPr>
        <p:spPr>
          <a:xfrm>
            <a:off x="2886456" y="2606040"/>
            <a:ext cx="1789176" cy="320040"/>
          </a:xfrm>
          <a:prstGeom prst="rect">
            <a:avLst/>
          </a:prstGeom>
          <a:noFill/>
          <a:ln/>
        </p:spPr>
        <p:txBody>
          <a:bodyPr wrap="square" lIns="0" tIns="0" rIns="0" bIns="0" rtlCol="0" anchor="ctr"/>
          <a:lstStyle/>
          <a:p>
            <a:pPr algn="ctr" indent="0" marL="0">
              <a:buNone/>
            </a:pPr>
            <a:r>
              <a:rPr lang="en-US" sz="1200" b="1" spc="200" kern="0" dirty="0">
                <a:solidFill>
                  <a:schemeClr val="bg1"/>
                </a:solidFill>
                <a:latin typeface="Arial" pitchFamily="34" charset="0"/>
                <a:ea typeface="Arial" pitchFamily="34" charset="-122"/>
                <a:cs typeface="Arial" pitchFamily="34" charset="-120"/>
              </a:rPr>
              <a:t>BỘ PHẬN</a:t>
            </a:r>
            <a:endParaRPr lang="en-US" sz="1200" dirty="0"/>
          </a:p>
        </p:txBody>
      </p:sp>
      <p:sp>
        <p:nvSpPr>
          <p:cNvPr id="11" name="Text 9"/>
          <p:cNvSpPr txBox="1"/>
          <p:nvPr/>
        </p:nvSpPr>
        <p:spPr>
          <a:xfrm>
            <a:off x="2932176" y="3017520"/>
            <a:ext cx="1697736" cy="914400"/>
          </a:xfrm>
          <a:prstGeom prst="rect">
            <a:avLst/>
          </a:prstGeom>
          <a:noFill/>
          <a:ln/>
        </p:spPr>
        <p:txBody>
          <a:bodyPr wrap="square" lIns="0" tIns="0" rIns="0" bIns="0" rtlCol="0" anchor="t"/>
          <a:lstStyle/>
          <a:p>
            <a:pPr algn="ctr" indent="0" marL="0">
              <a:buNone/>
            </a:pPr>
            <a:r>
              <a:rPr lang="en-US" sz="950" dirty="0">
                <a:solidFill>
                  <a:schemeClr val="accent4"/>
                </a:solidFill>
              </a:rPr>
              <a:t>Kỹ thuật – dự toán, chỉ huy công trường, vật tư, an toàn lao động</a:t>
            </a:r>
            <a:endParaRPr lang="en-US" sz="950" dirty="0"/>
          </a:p>
        </p:txBody>
      </p:sp>
      <p:sp>
        <p:nvSpPr>
          <p:cNvPr id="12" name="Shape 10"/>
          <p:cNvSpPr/>
          <p:nvPr/>
        </p:nvSpPr>
        <p:spPr>
          <a:xfrm>
            <a:off x="4995672" y="1463040"/>
            <a:ext cx="2063496" cy="2651760"/>
          </a:xfrm>
          <a:prstGeom prst="roundRect">
            <a:avLst>
              <a:gd name="adj" fmla="val 3545"/>
            </a:avLst>
          </a:prstGeom>
          <a:solidFill>
            <a:schemeClr val="tx2"/>
          </a:solidFill>
          <a:ln w="12700">
            <a:solidFill>
              <a:schemeClr val="tx2"/>
            </a:solidFill>
            <a:prstDash val="solid"/>
          </a:ln>
        </p:spPr>
      </p:sp>
      <p:sp>
        <p:nvSpPr>
          <p:cNvPr id="13" name="Text 11"/>
          <p:cNvSpPr txBox="1"/>
          <p:nvPr/>
        </p:nvSpPr>
        <p:spPr>
          <a:xfrm>
            <a:off x="5132832" y="1645920"/>
            <a:ext cx="1789176" cy="914400"/>
          </a:xfrm>
          <a:prstGeom prst="rect">
            <a:avLst/>
          </a:prstGeom>
          <a:noFill/>
          <a:ln/>
        </p:spPr>
        <p:txBody>
          <a:bodyPr wrap="square" lIns="0" tIns="0" rIns="0" bIns="0" rtlCol="0" anchor="ctr"/>
          <a:lstStyle/>
          <a:p>
            <a:pPr algn="ctr" indent="0" marL="0">
              <a:buNone/>
            </a:pPr>
            <a:r>
              <a:rPr lang="en-US" sz="4800" b="1" dirty="0">
                <a:solidFill>
                  <a:schemeClr val="accent1"/>
                </a:solidFill>
                <a:latin typeface="Arial" pitchFamily="34" charset="0"/>
                <a:ea typeface="Arial" pitchFamily="34" charset="-122"/>
                <a:cs typeface="Arial" pitchFamily="34" charset="-120"/>
              </a:rPr>
              <a:t>3</a:t>
            </a:r>
            <a:endParaRPr lang="en-US" sz="4800" dirty="0"/>
          </a:p>
        </p:txBody>
      </p:sp>
      <p:sp>
        <p:nvSpPr>
          <p:cNvPr id="14" name="Text 12"/>
          <p:cNvSpPr txBox="1"/>
          <p:nvPr/>
        </p:nvSpPr>
        <p:spPr>
          <a:xfrm>
            <a:off x="5132832" y="2606040"/>
            <a:ext cx="1789176" cy="320040"/>
          </a:xfrm>
          <a:prstGeom prst="rect">
            <a:avLst/>
          </a:prstGeom>
          <a:noFill/>
          <a:ln/>
        </p:spPr>
        <p:txBody>
          <a:bodyPr wrap="square" lIns="0" tIns="0" rIns="0" bIns="0" rtlCol="0" anchor="ctr"/>
          <a:lstStyle/>
          <a:p>
            <a:pPr algn="ctr" indent="0" marL="0">
              <a:buNone/>
            </a:pPr>
            <a:r>
              <a:rPr lang="en-US" sz="1200" b="1" spc="200" kern="0" dirty="0">
                <a:solidFill>
                  <a:schemeClr val="bg1"/>
                </a:solidFill>
                <a:latin typeface="Arial" pitchFamily="34" charset="0"/>
                <a:ea typeface="Arial" pitchFamily="34" charset="-122"/>
                <a:cs typeface="Arial" pitchFamily="34" charset="-120"/>
              </a:rPr>
              <a:t>ĐỘI THI CÔNG</a:t>
            </a:r>
            <a:endParaRPr lang="en-US" sz="1200" dirty="0"/>
          </a:p>
        </p:txBody>
      </p:sp>
      <p:sp>
        <p:nvSpPr>
          <p:cNvPr id="15" name="Text 13"/>
          <p:cNvSpPr txBox="1"/>
          <p:nvPr/>
        </p:nvSpPr>
        <p:spPr>
          <a:xfrm>
            <a:off x="5178552" y="3017520"/>
            <a:ext cx="1697736" cy="914400"/>
          </a:xfrm>
          <a:prstGeom prst="rect">
            <a:avLst/>
          </a:prstGeom>
          <a:noFill/>
          <a:ln/>
        </p:spPr>
        <p:txBody>
          <a:bodyPr wrap="square" lIns="0" tIns="0" rIns="0" bIns="0" rtlCol="0" anchor="t"/>
          <a:lstStyle/>
          <a:p>
            <a:pPr algn="ctr" indent="0" marL="0">
              <a:buNone/>
            </a:pPr>
            <a:r>
              <a:rPr lang="en-US" sz="950" dirty="0">
                <a:solidFill>
                  <a:schemeClr val="accent4"/>
                </a:solidFill>
              </a:rPr>
              <a:t>Điện • Cấp thoát nước • Ống công nghệ – hút sương dầu</a:t>
            </a:r>
            <a:endParaRPr lang="en-US" sz="950" dirty="0"/>
          </a:p>
        </p:txBody>
      </p:sp>
      <p:sp>
        <p:nvSpPr>
          <p:cNvPr id="16" name="Shape 14"/>
          <p:cNvSpPr/>
          <p:nvPr/>
        </p:nvSpPr>
        <p:spPr>
          <a:xfrm>
            <a:off x="2500884" y="4709160"/>
            <a:ext cx="2560320" cy="777240"/>
          </a:xfrm>
          <a:prstGeom prst="roundRect">
            <a:avLst>
              <a:gd name="adj" fmla="val 7059"/>
            </a:avLst>
          </a:prstGeom>
          <a:solidFill>
            <a:schemeClr val="tx2"/>
          </a:solidFill>
          <a:ln w="12700">
            <a:solidFill>
              <a:schemeClr val="tx2"/>
            </a:solidFill>
            <a:prstDash val="solid"/>
          </a:ln>
        </p:spPr>
      </p:sp>
      <p:sp>
        <p:nvSpPr>
          <p:cNvPr id="17" name="Text 15"/>
          <p:cNvSpPr txBox="1"/>
          <p:nvPr/>
        </p:nvSpPr>
        <p:spPr>
          <a:xfrm>
            <a:off x="2574036" y="4782312"/>
            <a:ext cx="2414016" cy="292608"/>
          </a:xfrm>
          <a:prstGeom prst="rect">
            <a:avLst/>
          </a:prstGeom>
          <a:noFill/>
          <a:ln/>
        </p:spPr>
        <p:txBody>
          <a:bodyPr wrap="square" lIns="0" tIns="0" rIns="0" bIns="0" rtlCol="0" anchor="ctr"/>
          <a:lstStyle/>
          <a:p>
            <a:pPr algn="ctr" indent="0" marL="0">
              <a:buNone/>
            </a:pPr>
            <a:r>
              <a:rPr lang="en-US" sz="950" b="1" dirty="0">
                <a:solidFill>
                  <a:schemeClr val="bg1"/>
                </a:solidFill>
                <a:latin typeface="Arial" pitchFamily="34" charset="0"/>
                <a:ea typeface="Arial" pitchFamily="34" charset="-122"/>
                <a:cs typeface="Arial" pitchFamily="34" charset="-120"/>
              </a:rPr>
              <a:t>GIÁM ĐỐC</a:t>
            </a:r>
            <a:endParaRPr lang="en-US" sz="950" dirty="0"/>
          </a:p>
        </p:txBody>
      </p:sp>
      <p:sp>
        <p:nvSpPr>
          <p:cNvPr id="18" name="Text 16"/>
          <p:cNvSpPr txBox="1"/>
          <p:nvPr/>
        </p:nvSpPr>
        <p:spPr>
          <a:xfrm>
            <a:off x="2574036" y="5093208"/>
            <a:ext cx="2414016" cy="320040"/>
          </a:xfrm>
          <a:prstGeom prst="rect">
            <a:avLst/>
          </a:prstGeom>
          <a:noFill/>
          <a:ln/>
        </p:spPr>
        <p:txBody>
          <a:bodyPr wrap="square" lIns="0" tIns="0" rIns="0" bIns="0" rtlCol="0" anchor="ctr"/>
          <a:lstStyle/>
          <a:p>
            <a:pPr algn="ctr" indent="0" marL="0">
              <a:buNone/>
            </a:pPr>
            <a:r>
              <a:rPr lang="en-US" sz="850" b="1" dirty="0">
                <a:solidFill>
                  <a:schemeClr val="accent1"/>
                </a:solidFill>
              </a:rPr>
              <a:t>Ông HỒ VĂN BÌNH</a:t>
            </a:r>
            <a:endParaRPr lang="en-US" sz="850" dirty="0"/>
          </a:p>
        </p:txBody>
      </p:sp>
      <p:sp>
        <p:nvSpPr>
          <p:cNvPr id="19" name="Shape 17"/>
          <p:cNvSpPr/>
          <p:nvPr/>
        </p:nvSpPr>
        <p:spPr>
          <a:xfrm>
            <a:off x="3781044" y="5486400"/>
            <a:ext cx="0" cy="274320"/>
          </a:xfrm>
          <a:prstGeom prst="line">
            <a:avLst/>
          </a:prstGeom>
          <a:noFill/>
          <a:ln w="12700">
            <a:solidFill>
              <a:schemeClr val="accent3"/>
            </a:solidFill>
            <a:prstDash val="solid"/>
          </a:ln>
        </p:spPr>
      </p:sp>
      <p:sp>
        <p:nvSpPr>
          <p:cNvPr id="20" name="Shape 18"/>
          <p:cNvSpPr/>
          <p:nvPr/>
        </p:nvSpPr>
        <p:spPr>
          <a:xfrm>
            <a:off x="1271016" y="5760720"/>
            <a:ext cx="5020056" cy="0"/>
          </a:xfrm>
          <a:prstGeom prst="line">
            <a:avLst/>
          </a:prstGeom>
          <a:noFill/>
          <a:ln w="12700">
            <a:solidFill>
              <a:schemeClr val="accent3"/>
            </a:solidFill>
            <a:prstDash val="solid"/>
          </a:ln>
        </p:spPr>
      </p:sp>
      <p:sp>
        <p:nvSpPr>
          <p:cNvPr id="21" name="Shape 19"/>
          <p:cNvSpPr/>
          <p:nvPr/>
        </p:nvSpPr>
        <p:spPr>
          <a:xfrm>
            <a:off x="1271016" y="5760720"/>
            <a:ext cx="0" cy="228600"/>
          </a:xfrm>
          <a:prstGeom prst="line">
            <a:avLst/>
          </a:prstGeom>
          <a:noFill/>
          <a:ln w="12700">
            <a:solidFill>
              <a:schemeClr val="accent3"/>
            </a:solidFill>
            <a:prstDash val="solid"/>
          </a:ln>
        </p:spPr>
      </p:sp>
      <p:sp>
        <p:nvSpPr>
          <p:cNvPr id="22" name="Shape 20"/>
          <p:cNvSpPr/>
          <p:nvPr/>
        </p:nvSpPr>
        <p:spPr>
          <a:xfrm>
            <a:off x="502920" y="5989320"/>
            <a:ext cx="1536192" cy="777240"/>
          </a:xfrm>
          <a:prstGeom prst="roundRect">
            <a:avLst>
              <a:gd name="adj" fmla="val 7059"/>
            </a:avLst>
          </a:prstGeom>
          <a:solidFill>
            <a:schemeClr val="bg2"/>
          </a:solidFill>
          <a:ln w="12700">
            <a:solidFill>
              <a:schemeClr val="accent4"/>
            </a:solidFill>
            <a:prstDash val="solid"/>
          </a:ln>
        </p:spPr>
      </p:sp>
      <p:sp>
        <p:nvSpPr>
          <p:cNvPr id="23" name="Text 21"/>
          <p:cNvSpPr txBox="1"/>
          <p:nvPr/>
        </p:nvSpPr>
        <p:spPr>
          <a:xfrm>
            <a:off x="576072" y="6062472"/>
            <a:ext cx="1389888"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KỸ THUẬT – DỰ TOÁN</a:t>
            </a:r>
            <a:endParaRPr lang="en-US" sz="950" dirty="0"/>
          </a:p>
        </p:txBody>
      </p:sp>
      <p:sp>
        <p:nvSpPr>
          <p:cNvPr id="24" name="Text 22"/>
          <p:cNvSpPr txBox="1"/>
          <p:nvPr/>
        </p:nvSpPr>
        <p:spPr>
          <a:xfrm>
            <a:off x="576072" y="6373368"/>
            <a:ext cx="1389888" cy="320040"/>
          </a:xfrm>
          <a:prstGeom prst="rect">
            <a:avLst/>
          </a:prstGeom>
          <a:noFill/>
          <a:ln/>
        </p:spPr>
        <p:txBody>
          <a:bodyPr wrap="square" lIns="0" tIns="0" rIns="0" bIns="0" rtlCol="0" anchor="ctr"/>
          <a:lstStyle/>
          <a:p>
            <a:pPr algn="ctr" indent="0" marL="0">
              <a:buNone/>
            </a:pPr>
            <a:r>
              <a:rPr lang="en-US" sz="850" dirty="0">
                <a:solidFill>
                  <a:schemeClr val="accent3"/>
                </a:solidFill>
              </a:rPr>
              <a:t>Bản vẽ thi công, khối lượng</a:t>
            </a:r>
            <a:endParaRPr lang="en-US" sz="850" dirty="0"/>
          </a:p>
        </p:txBody>
      </p:sp>
      <p:sp>
        <p:nvSpPr>
          <p:cNvPr id="25" name="Shape 23"/>
          <p:cNvSpPr/>
          <p:nvPr/>
        </p:nvSpPr>
        <p:spPr>
          <a:xfrm>
            <a:off x="2944368" y="5760720"/>
            <a:ext cx="0" cy="228600"/>
          </a:xfrm>
          <a:prstGeom prst="line">
            <a:avLst/>
          </a:prstGeom>
          <a:noFill/>
          <a:ln w="12700">
            <a:solidFill>
              <a:schemeClr val="accent3"/>
            </a:solidFill>
            <a:prstDash val="solid"/>
          </a:ln>
        </p:spPr>
      </p:sp>
      <p:sp>
        <p:nvSpPr>
          <p:cNvPr id="26" name="Shape 24"/>
          <p:cNvSpPr/>
          <p:nvPr/>
        </p:nvSpPr>
        <p:spPr>
          <a:xfrm>
            <a:off x="2176272" y="5989320"/>
            <a:ext cx="1536192" cy="777240"/>
          </a:xfrm>
          <a:prstGeom prst="roundRect">
            <a:avLst>
              <a:gd name="adj" fmla="val 7059"/>
            </a:avLst>
          </a:prstGeom>
          <a:solidFill>
            <a:schemeClr val="bg2"/>
          </a:solidFill>
          <a:ln w="12700">
            <a:solidFill>
              <a:schemeClr val="accent4"/>
            </a:solidFill>
            <a:prstDash val="solid"/>
          </a:ln>
        </p:spPr>
      </p:sp>
      <p:sp>
        <p:nvSpPr>
          <p:cNvPr id="27" name="Text 25"/>
          <p:cNvSpPr txBox="1"/>
          <p:nvPr/>
        </p:nvSpPr>
        <p:spPr>
          <a:xfrm>
            <a:off x="2249424" y="6062472"/>
            <a:ext cx="1389888"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CHỈ HUY CÔNG TRƯỜNG</a:t>
            </a:r>
            <a:endParaRPr lang="en-US" sz="950" dirty="0"/>
          </a:p>
        </p:txBody>
      </p:sp>
      <p:sp>
        <p:nvSpPr>
          <p:cNvPr id="28" name="Text 26"/>
          <p:cNvSpPr txBox="1"/>
          <p:nvPr/>
        </p:nvSpPr>
        <p:spPr>
          <a:xfrm>
            <a:off x="2249424" y="6373368"/>
            <a:ext cx="1389888" cy="320040"/>
          </a:xfrm>
          <a:prstGeom prst="rect">
            <a:avLst/>
          </a:prstGeom>
          <a:noFill/>
          <a:ln/>
        </p:spPr>
        <p:txBody>
          <a:bodyPr wrap="square" lIns="0" tIns="0" rIns="0" bIns="0" rtlCol="0" anchor="ctr"/>
          <a:lstStyle/>
          <a:p>
            <a:pPr algn="ctr" indent="0" marL="0">
              <a:buNone/>
            </a:pPr>
            <a:r>
              <a:rPr lang="en-US" sz="850" dirty="0">
                <a:solidFill>
                  <a:schemeClr val="accent3"/>
                </a:solidFill>
              </a:rPr>
              <a:t>Điều phối thi công, tiến độ</a:t>
            </a:r>
            <a:endParaRPr lang="en-US" sz="850" dirty="0"/>
          </a:p>
        </p:txBody>
      </p:sp>
      <p:sp>
        <p:nvSpPr>
          <p:cNvPr id="29" name="Shape 27"/>
          <p:cNvSpPr/>
          <p:nvPr/>
        </p:nvSpPr>
        <p:spPr>
          <a:xfrm>
            <a:off x="4617720" y="5760720"/>
            <a:ext cx="0" cy="228600"/>
          </a:xfrm>
          <a:prstGeom prst="line">
            <a:avLst/>
          </a:prstGeom>
          <a:noFill/>
          <a:ln w="12700">
            <a:solidFill>
              <a:schemeClr val="accent3"/>
            </a:solidFill>
            <a:prstDash val="solid"/>
          </a:ln>
        </p:spPr>
      </p:sp>
      <p:sp>
        <p:nvSpPr>
          <p:cNvPr id="30" name="Shape 28"/>
          <p:cNvSpPr/>
          <p:nvPr/>
        </p:nvSpPr>
        <p:spPr>
          <a:xfrm>
            <a:off x="3849624" y="5989320"/>
            <a:ext cx="1536192" cy="777240"/>
          </a:xfrm>
          <a:prstGeom prst="roundRect">
            <a:avLst>
              <a:gd name="adj" fmla="val 7059"/>
            </a:avLst>
          </a:prstGeom>
          <a:solidFill>
            <a:schemeClr val="bg2"/>
          </a:solidFill>
          <a:ln w="12700">
            <a:solidFill>
              <a:schemeClr val="accent4"/>
            </a:solidFill>
            <a:prstDash val="solid"/>
          </a:ln>
        </p:spPr>
      </p:sp>
      <p:sp>
        <p:nvSpPr>
          <p:cNvPr id="31" name="Text 29"/>
          <p:cNvSpPr txBox="1"/>
          <p:nvPr/>
        </p:nvSpPr>
        <p:spPr>
          <a:xfrm>
            <a:off x="3922776" y="6062472"/>
            <a:ext cx="1389888"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KẾ TOÁN – VẬT TƯ</a:t>
            </a:r>
            <a:endParaRPr lang="en-US" sz="950" dirty="0"/>
          </a:p>
        </p:txBody>
      </p:sp>
      <p:sp>
        <p:nvSpPr>
          <p:cNvPr id="32" name="Text 30"/>
          <p:cNvSpPr txBox="1"/>
          <p:nvPr/>
        </p:nvSpPr>
        <p:spPr>
          <a:xfrm>
            <a:off x="3922776" y="6373368"/>
            <a:ext cx="1389888" cy="320040"/>
          </a:xfrm>
          <a:prstGeom prst="rect">
            <a:avLst/>
          </a:prstGeom>
          <a:noFill/>
          <a:ln/>
        </p:spPr>
        <p:txBody>
          <a:bodyPr wrap="square" lIns="0" tIns="0" rIns="0" bIns="0" rtlCol="0" anchor="ctr"/>
          <a:lstStyle/>
          <a:p>
            <a:pPr algn="ctr" indent="0" marL="0">
              <a:buNone/>
            </a:pPr>
            <a:r>
              <a:rPr lang="en-US" sz="850" dirty="0">
                <a:solidFill>
                  <a:schemeClr val="accent3"/>
                </a:solidFill>
              </a:rPr>
              <a:t>Mua sắm, cấp phát vật tư</a:t>
            </a:r>
            <a:endParaRPr lang="en-US" sz="850" dirty="0"/>
          </a:p>
        </p:txBody>
      </p:sp>
      <p:sp>
        <p:nvSpPr>
          <p:cNvPr id="33" name="Shape 31"/>
          <p:cNvSpPr/>
          <p:nvPr/>
        </p:nvSpPr>
        <p:spPr>
          <a:xfrm>
            <a:off x="6291072" y="5760720"/>
            <a:ext cx="0" cy="228600"/>
          </a:xfrm>
          <a:prstGeom prst="line">
            <a:avLst/>
          </a:prstGeom>
          <a:noFill/>
          <a:ln w="12700">
            <a:solidFill>
              <a:schemeClr val="accent3"/>
            </a:solidFill>
            <a:prstDash val="solid"/>
          </a:ln>
        </p:spPr>
      </p:sp>
      <p:sp>
        <p:nvSpPr>
          <p:cNvPr id="34" name="Shape 32"/>
          <p:cNvSpPr/>
          <p:nvPr/>
        </p:nvSpPr>
        <p:spPr>
          <a:xfrm>
            <a:off x="5522976" y="5989320"/>
            <a:ext cx="1536192" cy="777240"/>
          </a:xfrm>
          <a:prstGeom prst="roundRect">
            <a:avLst>
              <a:gd name="adj" fmla="val 7059"/>
            </a:avLst>
          </a:prstGeom>
          <a:solidFill>
            <a:schemeClr val="bg2"/>
          </a:solidFill>
          <a:ln w="12700">
            <a:solidFill>
              <a:schemeClr val="accent4"/>
            </a:solidFill>
            <a:prstDash val="solid"/>
          </a:ln>
        </p:spPr>
      </p:sp>
      <p:sp>
        <p:nvSpPr>
          <p:cNvPr id="35" name="Text 33"/>
          <p:cNvSpPr txBox="1"/>
          <p:nvPr/>
        </p:nvSpPr>
        <p:spPr>
          <a:xfrm>
            <a:off x="5596128" y="6062472"/>
            <a:ext cx="1389888"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AN TOÀN LAO ĐỘNG</a:t>
            </a:r>
            <a:endParaRPr lang="en-US" sz="950" dirty="0"/>
          </a:p>
        </p:txBody>
      </p:sp>
      <p:sp>
        <p:nvSpPr>
          <p:cNvPr id="36" name="Text 34"/>
          <p:cNvSpPr txBox="1"/>
          <p:nvPr/>
        </p:nvSpPr>
        <p:spPr>
          <a:xfrm>
            <a:off x="5596128" y="6373368"/>
            <a:ext cx="1389888" cy="320040"/>
          </a:xfrm>
          <a:prstGeom prst="rect">
            <a:avLst/>
          </a:prstGeom>
          <a:noFill/>
          <a:ln/>
        </p:spPr>
        <p:txBody>
          <a:bodyPr wrap="square" lIns="0" tIns="0" rIns="0" bIns="0" rtlCol="0" anchor="ctr"/>
          <a:lstStyle/>
          <a:p>
            <a:pPr algn="ctr" indent="0" marL="0">
              <a:buNone/>
            </a:pPr>
            <a:r>
              <a:rPr lang="en-US" sz="850" dirty="0">
                <a:solidFill>
                  <a:schemeClr val="accent3"/>
                </a:solidFill>
              </a:rPr>
              <a:t>Giám sát ATLĐ, PCCC</a:t>
            </a:r>
            <a:endParaRPr lang="en-US" sz="850" dirty="0"/>
          </a:p>
        </p:txBody>
      </p:sp>
      <p:sp>
        <p:nvSpPr>
          <p:cNvPr id="37" name="Shape 35"/>
          <p:cNvSpPr/>
          <p:nvPr/>
        </p:nvSpPr>
        <p:spPr>
          <a:xfrm>
            <a:off x="3781044" y="5760720"/>
            <a:ext cx="0" cy="1143000"/>
          </a:xfrm>
          <a:prstGeom prst="line">
            <a:avLst/>
          </a:prstGeom>
          <a:noFill/>
          <a:ln w="12700">
            <a:solidFill>
              <a:schemeClr val="accent3"/>
            </a:solidFill>
            <a:prstDash val="solid"/>
          </a:ln>
        </p:spPr>
      </p:sp>
      <p:sp>
        <p:nvSpPr>
          <p:cNvPr id="38" name="Shape 36"/>
          <p:cNvSpPr/>
          <p:nvPr/>
        </p:nvSpPr>
        <p:spPr>
          <a:xfrm>
            <a:off x="502920" y="7040880"/>
            <a:ext cx="2093976" cy="777240"/>
          </a:xfrm>
          <a:prstGeom prst="roundRect">
            <a:avLst>
              <a:gd name="adj" fmla="val 7059"/>
            </a:avLst>
          </a:prstGeom>
          <a:solidFill>
            <a:schemeClr val="bg2"/>
          </a:solidFill>
          <a:ln w="12700">
            <a:solidFill>
              <a:schemeClr val="accent4"/>
            </a:solidFill>
            <a:prstDash val="solid"/>
          </a:ln>
        </p:spPr>
      </p:sp>
      <p:sp>
        <p:nvSpPr>
          <p:cNvPr id="39" name="Text 37"/>
          <p:cNvSpPr txBox="1"/>
          <p:nvPr/>
        </p:nvSpPr>
        <p:spPr>
          <a:xfrm>
            <a:off x="576072" y="7114032"/>
            <a:ext cx="1947672"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ĐỘI ĐIỆN</a:t>
            </a:r>
            <a:endParaRPr lang="en-US" sz="950" dirty="0"/>
          </a:p>
        </p:txBody>
      </p:sp>
      <p:sp>
        <p:nvSpPr>
          <p:cNvPr id="40" name="Text 38"/>
          <p:cNvSpPr txBox="1"/>
          <p:nvPr/>
        </p:nvSpPr>
        <p:spPr>
          <a:xfrm>
            <a:off x="576072" y="7424928"/>
            <a:ext cx="1947672" cy="320040"/>
          </a:xfrm>
          <a:prstGeom prst="rect">
            <a:avLst/>
          </a:prstGeom>
          <a:noFill/>
          <a:ln/>
        </p:spPr>
        <p:txBody>
          <a:bodyPr wrap="square" lIns="0" tIns="0" rIns="0" bIns="0" rtlCol="0" anchor="ctr"/>
          <a:lstStyle/>
          <a:p>
            <a:pPr algn="ctr" indent="0" marL="0">
              <a:buNone/>
            </a:pPr>
            <a:r>
              <a:rPr lang="en-US" sz="850" dirty="0">
                <a:solidFill>
                  <a:schemeClr val="accent3"/>
                </a:solidFill>
              </a:rPr>
              <a:t>Động lực, chiếu sáng, tủ điện</a:t>
            </a:r>
            <a:endParaRPr lang="en-US" sz="850" dirty="0"/>
          </a:p>
        </p:txBody>
      </p:sp>
      <p:sp>
        <p:nvSpPr>
          <p:cNvPr id="41" name="Shape 39"/>
          <p:cNvSpPr/>
          <p:nvPr/>
        </p:nvSpPr>
        <p:spPr>
          <a:xfrm>
            <a:off x="2734056" y="7040880"/>
            <a:ext cx="2093976" cy="777240"/>
          </a:xfrm>
          <a:prstGeom prst="roundRect">
            <a:avLst>
              <a:gd name="adj" fmla="val 7059"/>
            </a:avLst>
          </a:prstGeom>
          <a:solidFill>
            <a:schemeClr val="bg2"/>
          </a:solidFill>
          <a:ln w="12700">
            <a:solidFill>
              <a:schemeClr val="accent4"/>
            </a:solidFill>
            <a:prstDash val="solid"/>
          </a:ln>
        </p:spPr>
      </p:sp>
      <p:sp>
        <p:nvSpPr>
          <p:cNvPr id="42" name="Text 40"/>
          <p:cNvSpPr txBox="1"/>
          <p:nvPr/>
        </p:nvSpPr>
        <p:spPr>
          <a:xfrm>
            <a:off x="2807208" y="7114032"/>
            <a:ext cx="1947672"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ĐỘI CẤP THOÁT NƯỚC</a:t>
            </a:r>
            <a:endParaRPr lang="en-US" sz="950" dirty="0"/>
          </a:p>
        </p:txBody>
      </p:sp>
      <p:sp>
        <p:nvSpPr>
          <p:cNvPr id="43" name="Text 41"/>
          <p:cNvSpPr txBox="1"/>
          <p:nvPr/>
        </p:nvSpPr>
        <p:spPr>
          <a:xfrm>
            <a:off x="2807208" y="7424928"/>
            <a:ext cx="1947672" cy="320040"/>
          </a:xfrm>
          <a:prstGeom prst="rect">
            <a:avLst/>
          </a:prstGeom>
          <a:noFill/>
          <a:ln/>
        </p:spPr>
        <p:txBody>
          <a:bodyPr wrap="square" lIns="0" tIns="0" rIns="0" bIns="0" rtlCol="0" anchor="ctr"/>
          <a:lstStyle/>
          <a:p>
            <a:pPr algn="ctr" indent="0" marL="0">
              <a:buNone/>
            </a:pPr>
            <a:r>
              <a:rPr lang="en-US" sz="850" dirty="0">
                <a:solidFill>
                  <a:schemeClr val="accent3"/>
                </a:solidFill>
              </a:rPr>
              <a:t>Ống PPR, uPVC, thiết bị vệ sinh</a:t>
            </a:r>
            <a:endParaRPr lang="en-US" sz="850" dirty="0"/>
          </a:p>
        </p:txBody>
      </p:sp>
      <p:sp>
        <p:nvSpPr>
          <p:cNvPr id="44" name="Shape 42"/>
          <p:cNvSpPr/>
          <p:nvPr/>
        </p:nvSpPr>
        <p:spPr>
          <a:xfrm>
            <a:off x="4965192" y="7040880"/>
            <a:ext cx="2093976" cy="777240"/>
          </a:xfrm>
          <a:prstGeom prst="roundRect">
            <a:avLst>
              <a:gd name="adj" fmla="val 7059"/>
            </a:avLst>
          </a:prstGeom>
          <a:solidFill>
            <a:schemeClr val="bg2"/>
          </a:solidFill>
          <a:ln w="12700">
            <a:solidFill>
              <a:schemeClr val="accent4"/>
            </a:solidFill>
            <a:prstDash val="solid"/>
          </a:ln>
        </p:spPr>
      </p:sp>
      <p:sp>
        <p:nvSpPr>
          <p:cNvPr id="45" name="Text 43"/>
          <p:cNvSpPr txBox="1"/>
          <p:nvPr/>
        </p:nvSpPr>
        <p:spPr>
          <a:xfrm>
            <a:off x="5038344" y="7114032"/>
            <a:ext cx="1947672" cy="292608"/>
          </a:xfrm>
          <a:prstGeom prst="rect">
            <a:avLst/>
          </a:prstGeom>
          <a:noFill/>
          <a:ln/>
        </p:spPr>
        <p:txBody>
          <a:bodyPr wrap="square" lIns="0" tIns="0" rIns="0" bIns="0" rtlCol="0" anchor="ctr"/>
          <a:lstStyle/>
          <a:p>
            <a:pPr algn="ctr" indent="0" marL="0">
              <a:buNone/>
            </a:pPr>
            <a:r>
              <a:rPr lang="en-US" sz="950" b="1" dirty="0">
                <a:solidFill>
                  <a:schemeClr val="tx2"/>
                </a:solidFill>
                <a:latin typeface="Arial" pitchFamily="34" charset="0"/>
                <a:ea typeface="Arial" pitchFamily="34" charset="-122"/>
                <a:cs typeface="Arial" pitchFamily="34" charset="-120"/>
              </a:rPr>
              <a:t>ĐỘI ỐNG CÔNG NGHỆ</a:t>
            </a:r>
            <a:endParaRPr lang="en-US" sz="950" dirty="0"/>
          </a:p>
        </p:txBody>
      </p:sp>
      <p:sp>
        <p:nvSpPr>
          <p:cNvPr id="46" name="Text 44"/>
          <p:cNvSpPr txBox="1"/>
          <p:nvPr/>
        </p:nvSpPr>
        <p:spPr>
          <a:xfrm>
            <a:off x="5038344" y="7424928"/>
            <a:ext cx="1947672" cy="320040"/>
          </a:xfrm>
          <a:prstGeom prst="rect">
            <a:avLst/>
          </a:prstGeom>
          <a:noFill/>
          <a:ln/>
        </p:spPr>
        <p:txBody>
          <a:bodyPr wrap="square" lIns="0" tIns="0" rIns="0" bIns="0" rtlCol="0" anchor="ctr"/>
          <a:lstStyle/>
          <a:p>
            <a:pPr algn="ctr" indent="0" marL="0">
              <a:buNone/>
            </a:pPr>
            <a:r>
              <a:rPr lang="en-US" sz="850" dirty="0">
                <a:solidFill>
                  <a:schemeClr val="accent3"/>
                </a:solidFill>
              </a:rPr>
              <a:t>Ống hút, máy lọc, bơm, xử lý nước</a:t>
            </a:r>
            <a:endParaRPr lang="en-US" sz="850" dirty="0"/>
          </a:p>
        </p:txBody>
      </p:sp>
      <p:sp>
        <p:nvSpPr>
          <p:cNvPr id="47" name="Shape 45"/>
          <p:cNvSpPr/>
          <p:nvPr/>
        </p:nvSpPr>
        <p:spPr>
          <a:xfrm>
            <a:off x="1549908" y="6903720"/>
            <a:ext cx="4462272" cy="0"/>
          </a:xfrm>
          <a:prstGeom prst="line">
            <a:avLst/>
          </a:prstGeom>
          <a:noFill/>
          <a:ln w="12700">
            <a:solidFill>
              <a:schemeClr val="accent3"/>
            </a:solidFill>
            <a:prstDash val="solid"/>
          </a:ln>
        </p:spPr>
      </p:sp>
      <p:sp>
        <p:nvSpPr>
          <p:cNvPr id="48" name="Shape 46"/>
          <p:cNvSpPr/>
          <p:nvPr/>
        </p:nvSpPr>
        <p:spPr>
          <a:xfrm>
            <a:off x="1549908" y="6903720"/>
            <a:ext cx="0" cy="137160"/>
          </a:xfrm>
          <a:prstGeom prst="line">
            <a:avLst/>
          </a:prstGeom>
          <a:noFill/>
          <a:ln w="12700">
            <a:solidFill>
              <a:schemeClr val="accent3"/>
            </a:solidFill>
            <a:prstDash val="solid"/>
          </a:ln>
        </p:spPr>
      </p:sp>
      <p:sp>
        <p:nvSpPr>
          <p:cNvPr id="49" name="Shape 47"/>
          <p:cNvSpPr/>
          <p:nvPr/>
        </p:nvSpPr>
        <p:spPr>
          <a:xfrm>
            <a:off x="3781044" y="6903720"/>
            <a:ext cx="0" cy="137160"/>
          </a:xfrm>
          <a:prstGeom prst="line">
            <a:avLst/>
          </a:prstGeom>
          <a:noFill/>
          <a:ln w="12700">
            <a:solidFill>
              <a:schemeClr val="accent3"/>
            </a:solidFill>
            <a:prstDash val="solid"/>
          </a:ln>
        </p:spPr>
      </p:sp>
      <p:sp>
        <p:nvSpPr>
          <p:cNvPr id="50" name="Shape 48"/>
          <p:cNvSpPr/>
          <p:nvPr/>
        </p:nvSpPr>
        <p:spPr>
          <a:xfrm>
            <a:off x="6012180" y="6903720"/>
            <a:ext cx="0" cy="137160"/>
          </a:xfrm>
          <a:prstGeom prst="line">
            <a:avLst/>
          </a:prstGeom>
          <a:noFill/>
          <a:ln w="12700">
            <a:solidFill>
              <a:schemeClr val="accent3"/>
            </a:solidFill>
            <a:prstDash val="solid"/>
          </a:ln>
        </p:spPr>
      </p:sp>
      <p:sp>
        <p:nvSpPr>
          <p:cNvPr id="51" name="Shape 49"/>
          <p:cNvSpPr/>
          <p:nvPr/>
        </p:nvSpPr>
        <p:spPr>
          <a:xfrm>
            <a:off x="502920" y="8092440"/>
            <a:ext cx="6556248" cy="1691640"/>
          </a:xfrm>
          <a:prstGeom prst="roundRect">
            <a:avLst>
              <a:gd name="adj" fmla="val 4324"/>
            </a:avLst>
          </a:prstGeom>
          <a:solidFill>
            <a:schemeClr val="bg2"/>
          </a:solidFill>
          <a:ln w="12700">
            <a:solidFill>
              <a:schemeClr val="bg2"/>
            </a:solidFill>
            <a:prstDash val="solid"/>
          </a:ln>
        </p:spPr>
      </p:sp>
      <p:sp>
        <p:nvSpPr>
          <p:cNvPr id="52" name="Text 50"/>
          <p:cNvSpPr txBox="1"/>
          <p:nvPr/>
        </p:nvSpPr>
        <p:spPr>
          <a:xfrm>
            <a:off x="731520" y="8202168"/>
            <a:ext cx="6099048" cy="228600"/>
          </a:xfrm>
          <a:prstGeom prst="rect">
            <a:avLst/>
          </a:prstGeom>
          <a:noFill/>
          <a:ln/>
        </p:spPr>
        <p:txBody>
          <a:bodyPr wrap="square" lIns="0" tIns="0" rIns="0" bIns="0" rtlCol="0" anchor="ctr"/>
          <a:lstStyle/>
          <a:p>
            <a:pPr indent="0" marL="0">
              <a:buNone/>
            </a:pPr>
            <a:r>
              <a:rPr lang="en-US" sz="900" b="1" spc="200" kern="0" dirty="0">
                <a:solidFill>
                  <a:schemeClr val="tx2"/>
                </a:solidFill>
                <a:latin typeface="Arial" pitchFamily="34" charset="0"/>
                <a:ea typeface="Arial" pitchFamily="34" charset="-122"/>
                <a:cs typeface="Arial" pitchFamily="34" charset="-120"/>
              </a:rPr>
              <a:t>NĂNG LỰC ĐỘI NGŨ</a:t>
            </a:r>
            <a:endParaRPr lang="en-US" sz="900" dirty="0"/>
          </a:p>
        </p:txBody>
      </p:sp>
      <p:sp>
        <p:nvSpPr>
          <p:cNvPr id="53" name="Text 51"/>
          <p:cNvSpPr txBox="1"/>
          <p:nvPr/>
        </p:nvSpPr>
        <p:spPr>
          <a:xfrm>
            <a:off x="731520" y="8476488"/>
            <a:ext cx="6099048" cy="1234440"/>
          </a:xfrm>
          <a:prstGeom prst="rect">
            <a:avLst/>
          </a:prstGeom>
          <a:noFill/>
          <a:ln/>
        </p:spPr>
        <p:txBody>
          <a:bodyPr wrap="square" lIns="0" tIns="0" rIns="0" bIns="0" rtlCol="0" anchor="t"/>
          <a:lstStyle/>
          <a:p>
            <a:pPr marL="152400" indent="-152400">
              <a:spcAft>
                <a:spcPts val="400"/>
              </a:spcAft>
              <a:buSzPct val="100000"/>
              <a:buChar char="•"/>
            </a:pPr>
            <a:r>
              <a:rPr lang="en-US" sz="950" dirty="0">
                <a:solidFill>
                  <a:schemeClr val="tx1"/>
                </a:solidFill>
              </a:rPr>
              <a:t>Đội ngũ 100 người gồm cán bộ kỹ thuật, nhân viên văn phòng, chỉ huy công trường và công nhân lành nghề, huy động linh hoạt theo tiến độ</a:t>
            </a:r>
            <a:endParaRPr lang="en-US" sz="950" dirty="0"/>
          </a:p>
          <a:p>
            <a:pPr marL="152400" indent="-152400">
              <a:spcAft>
                <a:spcPts val="400"/>
              </a:spcAft>
              <a:buSzPct val="100000"/>
              <a:buChar char="•"/>
            </a:pPr>
            <a:r>
              <a:rPr lang="en-US" sz="950" dirty="0">
                <a:solidFill>
                  <a:schemeClr val="tx1"/>
                </a:solidFill>
              </a:rPr>
              <a:t>Thợ điện, thợ nước, thợ ống công nghệ có kinh nghiệm thi công công trình dân dụng và nhà xưởng</a:t>
            </a:r>
            <a:endParaRPr lang="en-US" sz="950" dirty="0"/>
          </a:p>
          <a:p>
            <a:pPr marL="152400" indent="-152400">
              <a:spcAft>
                <a:spcPts val="400"/>
              </a:spcAft>
              <a:buSzPct val="100000"/>
              <a:buChar char="•"/>
            </a:pPr>
            <a:r>
              <a:rPr lang="en-US" sz="950" dirty="0">
                <a:solidFill>
                  <a:schemeClr val="tx1"/>
                </a:solidFill>
              </a:rPr>
              <a:t>Được huấn luyện an toàn lao động, làm việc trên cao, sử dụng xe nâng người và giàn giáo</a:t>
            </a:r>
            <a:endParaRPr lang="en-US" sz="950" dirty="0"/>
          </a:p>
          <a:p>
            <a:pPr marL="152400" indent="-152400">
              <a:spcAft>
                <a:spcPts val="400"/>
              </a:spcAft>
              <a:buSzPct val="100000"/>
              <a:buChar char="•"/>
            </a:pPr>
            <a:r>
              <a:rPr lang="en-US" sz="950" dirty="0">
                <a:solidFill>
                  <a:schemeClr val="tx1"/>
                </a:solidFill>
              </a:rPr>
              <a:t>Sẵn sàng làm ca, tăng ca và thi công trong nhà xưởng đang vận hành</a:t>
            </a:r>
            <a:endParaRPr lang="en-US" sz="9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NĂNG LỰC NGUỒN LỰC</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Máy móc &amp; thiết bị thi công</a:t>
            </a:r>
            <a:endParaRPr lang="en-US" sz="2200" dirty="0"/>
          </a:p>
        </p:txBody>
      </p:sp>
      <p:pic>
        <p:nvPicPr>
          <p:cNvPr id="4" name="photo img28.jpg" descr="Xe nâng người cắt kéo tại nhà xưởng">    </p:cNvPr>
          <p:cNvPicPr>
            <a:picLocks noChangeAspect="1"/>
          </p:cNvPicPr>
          <p:nvPr/>
        </p:nvPicPr>
        <p:blipFill>
          <a:blip r:embed="rId1"/>
          <a:stretch>
            <a:fillRect/>
          </a:stretch>
        </p:blipFill>
        <p:spPr>
          <a:xfrm>
            <a:off x="502920" y="1463040"/>
            <a:ext cx="3186684" cy="2377440"/>
          </a:xfrm>
          <a:prstGeom prst="rect">
            <a:avLst/>
          </a:prstGeom>
        </p:spPr>
      </p:pic>
      <p:sp>
        <p:nvSpPr>
          <p:cNvPr id="5" name="Text 2"/>
          <p:cNvSpPr txBox="1"/>
          <p:nvPr/>
        </p:nvSpPr>
        <p:spPr>
          <a:xfrm>
            <a:off x="502920" y="387705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Xe nâng người cắt kéo tại nhà xưởng</a:t>
            </a:r>
            <a:endParaRPr lang="en-US" sz="800" dirty="0"/>
          </a:p>
        </p:txBody>
      </p:sp>
      <p:sp>
        <p:nvSpPr>
          <p:cNvPr id="6" name="Shape 3"/>
          <p:cNvSpPr/>
          <p:nvPr/>
        </p:nvSpPr>
        <p:spPr>
          <a:xfrm>
            <a:off x="3872484" y="1463040"/>
            <a:ext cx="3186684" cy="2377440"/>
          </a:xfrm>
          <a:prstGeom prst="roundRect">
            <a:avLst>
              <a:gd name="adj" fmla="val 3077"/>
            </a:avLst>
          </a:prstGeom>
          <a:solidFill>
            <a:schemeClr val="tx2"/>
          </a:solidFill>
          <a:ln w="12700">
            <a:solidFill>
              <a:schemeClr val="tx2"/>
            </a:solidFill>
            <a:prstDash val="solid"/>
          </a:ln>
        </p:spPr>
      </p:sp>
      <p:sp>
        <p:nvSpPr>
          <p:cNvPr id="7" name="Text 4"/>
          <p:cNvSpPr txBox="1"/>
          <p:nvPr/>
        </p:nvSpPr>
        <p:spPr>
          <a:xfrm>
            <a:off x="4101084" y="1627632"/>
            <a:ext cx="2729484" cy="274320"/>
          </a:xfrm>
          <a:prstGeom prst="rect">
            <a:avLst/>
          </a:prstGeom>
          <a:noFill/>
          <a:ln/>
        </p:spPr>
        <p:txBody>
          <a:bodyPr wrap="square" lIns="0" tIns="0" rIns="0" bIns="0" rtlCol="0" anchor="ctr"/>
          <a:lstStyle/>
          <a:p>
            <a:pPr indent="0" marL="0">
              <a:buNone/>
            </a:pPr>
            <a:r>
              <a:rPr lang="en-US" sz="1200" b="1" spc="100" kern="0" dirty="0">
                <a:solidFill>
                  <a:schemeClr val="accent1"/>
                </a:solidFill>
                <a:latin typeface="Arial" pitchFamily="34" charset="0"/>
                <a:ea typeface="Arial" pitchFamily="34" charset="-122"/>
                <a:cs typeface="Arial" pitchFamily="34" charset="-120"/>
              </a:rPr>
              <a:t>CHỦ ĐỘNG THIẾT BỊ</a:t>
            </a:r>
            <a:endParaRPr lang="en-US" sz="1200" dirty="0"/>
          </a:p>
        </p:txBody>
      </p:sp>
      <p:sp>
        <p:nvSpPr>
          <p:cNvPr id="8" name="Text 5"/>
          <p:cNvSpPr txBox="1"/>
          <p:nvPr/>
        </p:nvSpPr>
        <p:spPr>
          <a:xfrm>
            <a:off x="4101084" y="2011680"/>
            <a:ext cx="2729484" cy="16916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bg1"/>
                </a:solidFill>
              </a:rPr>
              <a:t>Thiết bị làm việc trên cao cho trần nhà xưởng</a:t>
            </a:r>
            <a:endParaRPr lang="en-US" sz="1000" dirty="0"/>
          </a:p>
          <a:p>
            <a:pPr marL="152400" indent="-152400">
              <a:spcAft>
                <a:spcPts val="500"/>
              </a:spcAft>
              <a:buSzPct val="100000"/>
              <a:buChar char="•"/>
            </a:pPr>
            <a:r>
              <a:rPr lang="en-US" sz="1000" dirty="0">
                <a:solidFill>
                  <a:schemeClr val="bg1"/>
                </a:solidFill>
              </a:rPr>
              <a:t>Máy hàn PPR, máy khoan, máy cắt chuyên dụng</a:t>
            </a:r>
            <a:endParaRPr lang="en-US" sz="1000" dirty="0"/>
          </a:p>
          <a:p>
            <a:pPr marL="152400" indent="-152400">
              <a:spcAft>
                <a:spcPts val="500"/>
              </a:spcAft>
              <a:buSzPct val="100000"/>
              <a:buChar char="•"/>
            </a:pPr>
            <a:r>
              <a:rPr lang="en-US" sz="1000" dirty="0">
                <a:solidFill>
                  <a:schemeClr val="bg1"/>
                </a:solidFill>
              </a:rPr>
              <a:t>Dụng cụ đo kiểm điện, bơm thử áp lực</a:t>
            </a:r>
            <a:endParaRPr lang="en-US" sz="1000" dirty="0"/>
          </a:p>
          <a:p>
            <a:pPr marL="152400" indent="-152400">
              <a:spcAft>
                <a:spcPts val="500"/>
              </a:spcAft>
              <a:buSzPct val="100000"/>
              <a:buChar char="•"/>
            </a:pPr>
            <a:r>
              <a:rPr lang="en-US" sz="1000" dirty="0">
                <a:solidFill>
                  <a:schemeClr val="bg1"/>
                </a:solidFill>
              </a:rPr>
              <a:t>Huy động thêm theo quy mô công trình</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4251960"/>
          <a:ext cx="6556248" cy="914400"/>
        </p:xfrm>
        <a:graphic>
          <a:graphicData uri="http://schemas.openxmlformats.org/drawingml/2006/table">
            <a:tbl>
              <a:tblPr/>
              <a:tblGrid>
                <a:gridCol w="502920"/>
                <a:gridCol w="2743200"/>
                <a:gridCol w="2286000"/>
                <a:gridCol w="1024128"/>
              </a:tblGrid>
              <a:tr h="384048">
                <a:tc>
                  <a:txBody>
                    <a:bodyPr/>
                    <a:lstStyle/>
                    <a:p>
                      <a:pPr indent="0" marL="0">
                        <a:buNone/>
                      </a:pPr>
                      <a:r>
                        <a:rPr lang="en-US" sz="950" b="1" dirty="0">
                          <a:solidFill>
                            <a:schemeClr val="bg1"/>
                          </a:solidFill>
                        </a:rPr>
                        <a:t>STT</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Thiết bị</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Công dụng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b="1" dirty="0">
                          <a:solidFill>
                            <a:schemeClr val="bg1"/>
                          </a:solidFill>
                        </a:rPr>
                        <a:t>Tình trạng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r>
              <a:tr h="384048">
                <a:tc>
                  <a:txBody>
                    <a:bodyPr/>
                    <a:lstStyle/>
                    <a:p>
                      <a:pPr algn="ctr" indent="0" marL="0">
                        <a:buNone/>
                      </a:pPr>
                      <a:r>
                        <a:rPr lang="en-US" sz="950" dirty="0">
                          <a:solidFill>
                            <a:srgbClr val="1B2433"/>
                          </a:solidFill>
                        </a:rPr>
                        <a:t>1</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Xe nâng người cắt kéo (scissor lift)</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Thi công trần cao, nhà xưởng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B2433"/>
                          </a:solidFill>
                        </a:rPr>
                        <a:t>2</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Giàn giáo di động, thang nhôm</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Sàn thao tác trên cao</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r h="384048">
                <a:tc>
                  <a:txBody>
                    <a:bodyPr/>
                    <a:lstStyle/>
                    <a:p>
                      <a:pPr algn="ctr" indent="0" marL="0">
                        <a:buNone/>
                      </a:pPr>
                      <a:r>
                        <a:rPr lang="en-US" sz="950" dirty="0">
                          <a:solidFill>
                            <a:srgbClr val="1B2433"/>
                          </a:solidFill>
                        </a:rPr>
                        <a:t>3</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Máy hàn ống nhiệt PPR</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Nối ống cấp nước</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B2433"/>
                          </a:solidFill>
                        </a:rPr>
                        <a:t>4</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Máy khoan bê tông, máy khoan rút lõi</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Khoan lỗ xuyên sàn, tường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r h="384048">
                <a:tc>
                  <a:txBody>
                    <a:bodyPr/>
                    <a:lstStyle/>
                    <a:p>
                      <a:pPr algn="ctr" indent="0" marL="0">
                        <a:buNone/>
                      </a:pPr>
                      <a:r>
                        <a:rPr lang="en-US" sz="950" dirty="0">
                          <a:solidFill>
                            <a:srgbClr val="1B2433"/>
                          </a:solidFill>
                        </a:rPr>
                        <a:t>5</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Máy cắt, máy mài cầm tay</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Gia công ống, giá đỡ</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B2433"/>
                          </a:solidFill>
                        </a:rPr>
                        <a:t>6</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Súng bơm keo, dụng cụ làm kín ống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Làm kín mối nối ống hút</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r h="384048">
                <a:tc>
                  <a:txBody>
                    <a:bodyPr/>
                    <a:lstStyle/>
                    <a:p>
                      <a:pPr algn="ctr" indent="0" marL="0">
                        <a:buNone/>
                      </a:pPr>
                      <a:r>
                        <a:rPr lang="en-US" sz="950" dirty="0">
                          <a:solidFill>
                            <a:srgbClr val="1B2433"/>
                          </a:solidFill>
                        </a:rPr>
                        <a:t>7</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Bơm thử áp lực đường ống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Thử áp, thử kín</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B2433"/>
                          </a:solidFill>
                        </a:rPr>
                        <a:t>8</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Đồng hồ vạn năng, ampe kìm, MΩ kế</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Đo kiểm hệ thống điện</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r h="384048">
                <a:tc>
                  <a:txBody>
                    <a:bodyPr/>
                    <a:lstStyle/>
                    <a:p>
                      <a:pPr algn="ctr" indent="0" marL="0">
                        <a:buNone/>
                      </a:pPr>
                      <a:r>
                        <a:rPr lang="en-US" sz="950" dirty="0">
                          <a:solidFill>
                            <a:srgbClr val="1B2433"/>
                          </a:solidFill>
                        </a:rPr>
                        <a:t>9</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Máy cân mực laser</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Định vị tuyến, cao độ</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384048">
                <a:tc>
                  <a:txBody>
                    <a:bodyPr/>
                    <a:lstStyle/>
                    <a:p>
                      <a:pPr algn="ctr" indent="0" marL="0">
                        <a:buNone/>
                      </a:pPr>
                      <a:r>
                        <a:rPr lang="en-US" sz="950" dirty="0">
                          <a:solidFill>
                            <a:srgbClr val="1B2433"/>
                          </a:solidFill>
                        </a:rPr>
                        <a:t>10</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Xe tải vận chuyển vật tư</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Vận chuyển đến công trường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Sẵn sàng</a:t>
                      </a:r>
                      <a:endParaRPr lang="en-US" sz="950" dirty="0"/>
                    </a:p>
                  </a:txBody>
                  <a:tcPr marL="91440" marR="91440" marT="36576" marB="36576"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bl>
          </a:graphicData>
        </a:graphic>
      </p:graphicFrame>
      <p:sp>
        <p:nvSpPr>
          <p:cNvPr id="10" name="Text 6"/>
          <p:cNvSpPr txBox="1"/>
          <p:nvPr/>
        </p:nvSpPr>
        <p:spPr>
          <a:xfrm>
            <a:off x="502920" y="8686800"/>
            <a:ext cx="6556248" cy="457200"/>
          </a:xfrm>
          <a:prstGeom prst="rect">
            <a:avLst/>
          </a:prstGeom>
          <a:noFill/>
          <a:ln/>
        </p:spPr>
        <p:txBody>
          <a:bodyPr wrap="square" lIns="0" tIns="0" rIns="0" bIns="0" rtlCol="0" anchor="t"/>
          <a:lstStyle/>
          <a:p>
            <a:pPr algn="l" indent="0" marL="0">
              <a:lnSpc>
                <a:spcPct val="110000"/>
              </a:lnSpc>
              <a:spcAft>
                <a:spcPts val="600"/>
              </a:spcAft>
              <a:buNone/>
            </a:pPr>
            <a:r>
              <a:rPr lang="en-US" sz="900" i="1" dirty="0">
                <a:solidFill>
                  <a:schemeClr val="accent3"/>
                </a:solidFill>
              </a:rPr>
              <a:t>Thiết bị được huy động theo quy mô từng công trình; xe nâng người và thiết bị chuyên dụng có thể bổ sung khi cần.</a:t>
            </a:r>
            <a:endParaRPr lang="en-US" sz="9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CÔNG TRÌNH TIÊU BIỂU 01</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Nhà xưởng CNC – Hưng Nguyên, Nghệ An</a:t>
            </a:r>
            <a:endParaRPr lang="en-US" sz="2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556248" cy="914400"/>
        </p:xfrm>
        <a:graphic>
          <a:graphicData uri="http://schemas.openxmlformats.org/drawingml/2006/table">
            <a:tbl>
              <a:tblPr/>
              <a:tblGrid>
                <a:gridCol w="1554480"/>
                <a:gridCol w="5001768"/>
              </a:tblGrid>
              <a:tr h="310896">
                <a:tc>
                  <a:txBody>
                    <a:bodyPr/>
                    <a:lstStyle/>
                    <a:p>
                      <a:pPr indent="0" marL="0">
                        <a:buNone/>
                      </a:pPr>
                      <a:r>
                        <a:rPr lang="en-US" sz="850" b="1" dirty="0">
                          <a:solidFill>
                            <a:schemeClr val="bg1"/>
                          </a:solidFill>
                        </a:rPr>
                        <a:t>Tên dự án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Hệ thống hút sương dầu – nhà xưởng gia công CNC</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Khách hàng</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Nhà máy sản xuất – thông tin cung cấp khi có yêu cầu</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Địa điểm</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Xã Hưng Nguyên, tỉnh Nghệ An</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Hạng mục BLT</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Thi công tuyến ống hút sương dầu cho dãy máy CNC; lắp đặt máy lọc, giá đỡ, đấu nối điện</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Thời gian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09/2026 – 10/2026</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bl>
          </a:graphicData>
        </a:graphic>
      </p:graphicFrame>
      <p:pic>
        <p:nvPicPr>
          <p:cNvPr id="5" name="photo img02.jpg" descr="Tuyến ống hút trên dãy máy CNC">    </p:cNvPr>
          <p:cNvPicPr>
            <a:picLocks noChangeAspect="1"/>
          </p:cNvPicPr>
          <p:nvPr/>
        </p:nvPicPr>
        <p:blipFill>
          <a:blip r:embed="rId1"/>
          <a:stretch>
            <a:fillRect/>
          </a:stretch>
        </p:blipFill>
        <p:spPr>
          <a:xfrm>
            <a:off x="502920" y="3200400"/>
            <a:ext cx="2063496" cy="4343400"/>
          </a:xfrm>
          <a:prstGeom prst="rect">
            <a:avLst/>
          </a:prstGeom>
        </p:spPr>
      </p:pic>
      <p:sp>
        <p:nvSpPr>
          <p:cNvPr id="6" name="Text 2"/>
          <p:cNvSpPr txBox="1"/>
          <p:nvPr/>
        </p:nvSpPr>
        <p:spPr>
          <a:xfrm>
            <a:off x="502920" y="758037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Tuyến ống hút trên dãy máy CNC</a:t>
            </a:r>
            <a:endParaRPr lang="en-US" sz="800" dirty="0"/>
          </a:p>
        </p:txBody>
      </p:sp>
      <p:pic>
        <p:nvPicPr>
          <p:cNvPr id="7" name="photo img25.jpg" descr="Máy lọc lắp trên giá đỡ cột">    </p:cNvPr>
          <p:cNvPicPr>
            <a:picLocks noChangeAspect="1"/>
          </p:cNvPicPr>
          <p:nvPr/>
        </p:nvPicPr>
        <p:blipFill>
          <a:blip r:embed="rId2"/>
          <a:stretch>
            <a:fillRect/>
          </a:stretch>
        </p:blipFill>
        <p:spPr>
          <a:xfrm>
            <a:off x="2749296" y="3200400"/>
            <a:ext cx="2063496" cy="4343400"/>
          </a:xfrm>
          <a:prstGeom prst="rect">
            <a:avLst/>
          </a:prstGeom>
        </p:spPr>
      </p:pic>
      <p:sp>
        <p:nvSpPr>
          <p:cNvPr id="8" name="Text 3"/>
          <p:cNvSpPr txBox="1"/>
          <p:nvPr/>
        </p:nvSpPr>
        <p:spPr>
          <a:xfrm>
            <a:off x="2749296" y="758037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Máy lọc lắp trên giá đỡ cột</a:t>
            </a:r>
            <a:endParaRPr lang="en-US" sz="800" dirty="0"/>
          </a:p>
        </p:txBody>
      </p:sp>
      <p:pic>
        <p:nvPicPr>
          <p:cNvPr id="9" name="photo img39.jpg" descr="Đấu nối ống mềm xuống máy CNC">    </p:cNvPr>
          <p:cNvPicPr>
            <a:picLocks noChangeAspect="1"/>
          </p:cNvPicPr>
          <p:nvPr/>
        </p:nvPicPr>
        <p:blipFill>
          <a:blip r:embed="rId3"/>
          <a:stretch>
            <a:fillRect/>
          </a:stretch>
        </p:blipFill>
        <p:spPr>
          <a:xfrm>
            <a:off x="4995672" y="3200400"/>
            <a:ext cx="2063496" cy="4343400"/>
          </a:xfrm>
          <a:prstGeom prst="rect">
            <a:avLst/>
          </a:prstGeom>
        </p:spPr>
      </p:pic>
      <p:sp>
        <p:nvSpPr>
          <p:cNvPr id="10" name="Text 4"/>
          <p:cNvSpPr txBox="1"/>
          <p:nvPr/>
        </p:nvSpPr>
        <p:spPr>
          <a:xfrm>
            <a:off x="4995672" y="7580376"/>
            <a:ext cx="2063496"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Đấu nối ống mềm xuống máy CNC</a:t>
            </a:r>
            <a:endParaRPr lang="en-US" sz="800" dirty="0"/>
          </a:p>
        </p:txBody>
      </p:sp>
      <p:sp>
        <p:nvSpPr>
          <p:cNvPr id="11" name="Shape 5"/>
          <p:cNvSpPr/>
          <p:nvPr/>
        </p:nvSpPr>
        <p:spPr>
          <a:xfrm>
            <a:off x="502920" y="8001000"/>
            <a:ext cx="6556248" cy="1691640"/>
          </a:xfrm>
          <a:prstGeom prst="roundRect">
            <a:avLst>
              <a:gd name="adj" fmla="val 4324"/>
            </a:avLst>
          </a:prstGeom>
          <a:solidFill>
            <a:schemeClr val="bg2"/>
          </a:solidFill>
          <a:ln w="12700">
            <a:solidFill>
              <a:schemeClr val="bg2"/>
            </a:solidFill>
            <a:prstDash val="solid"/>
          </a:ln>
        </p:spPr>
      </p:sp>
      <p:sp>
        <p:nvSpPr>
          <p:cNvPr id="12" name="Text 6"/>
          <p:cNvSpPr txBox="1"/>
          <p:nvPr/>
        </p:nvSpPr>
        <p:spPr>
          <a:xfrm>
            <a:off x="731520" y="8119872"/>
            <a:ext cx="6099048" cy="228600"/>
          </a:xfrm>
          <a:prstGeom prst="rect">
            <a:avLst/>
          </a:prstGeom>
          <a:noFill/>
          <a:ln/>
        </p:spPr>
        <p:txBody>
          <a:bodyPr wrap="square" lIns="0" tIns="0" rIns="0" bIns="0" rtlCol="0" anchor="ctr"/>
          <a:lstStyle/>
          <a:p>
            <a:pPr indent="0" marL="0">
              <a:buNone/>
            </a:pPr>
            <a:r>
              <a:rPr lang="en-US" sz="900" b="1" spc="200" kern="0" dirty="0">
                <a:solidFill>
                  <a:schemeClr val="tx2"/>
                </a:solidFill>
                <a:latin typeface="Arial" pitchFamily="34" charset="0"/>
                <a:ea typeface="Arial" pitchFamily="34" charset="-122"/>
                <a:cs typeface="Arial" pitchFamily="34" charset="-120"/>
              </a:rPr>
              <a:t>CÔNG VIỆC BLT ĐÃ THỰC HIỆN</a:t>
            </a:r>
            <a:endParaRPr lang="en-US" sz="900" dirty="0"/>
          </a:p>
        </p:txBody>
      </p:sp>
      <p:sp>
        <p:nvSpPr>
          <p:cNvPr id="13" name="Text 7"/>
          <p:cNvSpPr txBox="1"/>
          <p:nvPr/>
        </p:nvSpPr>
        <p:spPr>
          <a:xfrm>
            <a:off x="731520" y="8394192"/>
            <a:ext cx="6099048" cy="123444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chemeClr val="tx1"/>
                </a:solidFill>
              </a:rPr>
              <a:t>Khảo sát vị trí máy CNC, cao độ trần, lập tuyến ống hút chính và nhánh</a:t>
            </a:r>
            <a:endParaRPr lang="en-US" sz="1000" dirty="0"/>
          </a:p>
          <a:p>
            <a:pPr marL="152400" indent="-152400">
              <a:spcAft>
                <a:spcPts val="500"/>
              </a:spcAft>
              <a:buSzPct val="100000"/>
              <a:buChar char="•"/>
            </a:pPr>
            <a:r>
              <a:rPr lang="en-US" sz="1000" dirty="0">
                <a:solidFill>
                  <a:schemeClr val="tx1"/>
                </a:solidFill>
              </a:rPr>
              <a:t>Lắp ty treo, giá đỡ; thi công tuyến ống hút, co, chạc, ống mềm xuống từng máy</a:t>
            </a:r>
            <a:endParaRPr lang="en-US" sz="1000" dirty="0"/>
          </a:p>
          <a:p>
            <a:pPr marL="152400" indent="-152400">
              <a:spcAft>
                <a:spcPts val="500"/>
              </a:spcAft>
              <a:buSzPct val="100000"/>
              <a:buChar char="•"/>
            </a:pPr>
            <a:r>
              <a:rPr lang="en-US" sz="1000" dirty="0">
                <a:solidFill>
                  <a:schemeClr val="tx1"/>
                </a:solidFill>
              </a:rPr>
              <a:t>Lắp đặt máy lọc sương dầu trên đầu máy và trên giá đỡ thép tại cột</a:t>
            </a:r>
            <a:endParaRPr lang="en-US" sz="1000" dirty="0"/>
          </a:p>
          <a:p>
            <a:pPr marL="152400" indent="-152400">
              <a:spcAft>
                <a:spcPts val="500"/>
              </a:spcAft>
              <a:buSzPct val="100000"/>
              <a:buChar char="•"/>
            </a:pPr>
            <a:r>
              <a:rPr lang="en-US" sz="1000" dirty="0">
                <a:solidFill>
                  <a:schemeClr val="tx1"/>
                </a:solidFill>
              </a:rPr>
              <a:t>Làm kín mối nối, đấu nối nguồn điện, chạy thử và bàn giao từng khu vực</a:t>
            </a:r>
            <a:endParaRPr lang="en-US" sz="10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CÔNG TRÌNH TIÊU BIỂU 02</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Công trình nhiều tầng – Hà Nam, Ninh Bình</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556248" cy="914400"/>
        </p:xfrm>
        <a:graphic>
          <a:graphicData uri="http://schemas.openxmlformats.org/drawingml/2006/table">
            <a:tbl>
              <a:tblPr/>
              <a:tblGrid>
                <a:gridCol w="1554480"/>
                <a:gridCol w="5001768"/>
              </a:tblGrid>
              <a:tr h="310896">
                <a:tc>
                  <a:txBody>
                    <a:bodyPr/>
                    <a:lstStyle/>
                    <a:p>
                      <a:pPr indent="0" marL="0">
                        <a:buNone/>
                      </a:pPr>
                      <a:r>
                        <a:rPr lang="en-US" sz="850" b="1" dirty="0">
                          <a:solidFill>
                            <a:schemeClr val="bg1"/>
                          </a:solidFill>
                        </a:rPr>
                        <a:t>Tên dự án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Hệ thống điện nước công trình nhiều tầng</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Khách hàng</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Thông tin cung cấp khi có yêu cầu</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Địa điểm</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Phường Hà Nam, tỉnh Ninh Bình (58 Bùi Đạt và khu vực Phú Hoàn)</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Hạng mục BLT</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Thi công hệ thống điện, cấp thoát nước: đi ống, kéo dây, tuyến ống trên trần, ống đứng thoát nước</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Thời gian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09/2026</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bl>
          </a:graphicData>
        </a:graphic>
      </p:graphicFrame>
      <p:pic>
        <p:nvPicPr>
          <p:cNvPr id="5" name="photo img07.jpg" descr="Thi công trên trần bằng xe nâng người">    </p:cNvPr>
          <p:cNvPicPr>
            <a:picLocks noChangeAspect="1"/>
          </p:cNvPicPr>
          <p:nvPr/>
        </p:nvPicPr>
        <p:blipFill>
          <a:blip r:embed="rId1"/>
          <a:stretch>
            <a:fillRect/>
          </a:stretch>
        </p:blipFill>
        <p:spPr>
          <a:xfrm>
            <a:off x="502920" y="3200400"/>
            <a:ext cx="3186684" cy="3108960"/>
          </a:xfrm>
          <a:prstGeom prst="rect">
            <a:avLst/>
          </a:prstGeom>
        </p:spPr>
      </p:pic>
      <p:sp>
        <p:nvSpPr>
          <p:cNvPr id="6" name="Text 2"/>
          <p:cNvSpPr txBox="1"/>
          <p:nvPr/>
        </p:nvSpPr>
        <p:spPr>
          <a:xfrm>
            <a:off x="502920" y="63459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Thi công trên trần bằng xe nâng người</a:t>
            </a:r>
            <a:endParaRPr lang="en-US" sz="800" dirty="0"/>
          </a:p>
        </p:txBody>
      </p:sp>
      <p:pic>
        <p:nvPicPr>
          <p:cNvPr id="7" name="photo img21.jpg" descr="Lắp tuyến ống trên cao">    </p:cNvPr>
          <p:cNvPicPr>
            <a:picLocks noChangeAspect="1"/>
          </p:cNvPicPr>
          <p:nvPr/>
        </p:nvPicPr>
        <p:blipFill>
          <a:blip r:embed="rId2"/>
          <a:stretch>
            <a:fillRect/>
          </a:stretch>
        </p:blipFill>
        <p:spPr>
          <a:xfrm>
            <a:off x="3872484" y="3200400"/>
            <a:ext cx="3186684" cy="3108960"/>
          </a:xfrm>
          <a:prstGeom prst="rect">
            <a:avLst/>
          </a:prstGeom>
        </p:spPr>
      </p:pic>
      <p:sp>
        <p:nvSpPr>
          <p:cNvPr id="8" name="Text 3"/>
          <p:cNvSpPr txBox="1"/>
          <p:nvPr/>
        </p:nvSpPr>
        <p:spPr>
          <a:xfrm>
            <a:off x="3872484" y="634593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tuyến ống trên cao</a:t>
            </a:r>
            <a:endParaRPr lang="en-US" sz="800" dirty="0"/>
          </a:p>
        </p:txBody>
      </p:sp>
      <p:pic>
        <p:nvPicPr>
          <p:cNvPr id="9" name="photo img05.jpg" descr="Thi công tại ô kỹ thuật">    </p:cNvPr>
          <p:cNvPicPr>
            <a:picLocks noChangeAspect="1"/>
          </p:cNvPicPr>
          <p:nvPr/>
        </p:nvPicPr>
        <p:blipFill>
          <a:blip r:embed="rId3"/>
          <a:stretch>
            <a:fillRect/>
          </a:stretch>
        </p:blipFill>
        <p:spPr>
          <a:xfrm>
            <a:off x="502920" y="6675120"/>
            <a:ext cx="3186684" cy="2926080"/>
          </a:xfrm>
          <a:prstGeom prst="rect">
            <a:avLst/>
          </a:prstGeom>
        </p:spPr>
      </p:pic>
      <p:sp>
        <p:nvSpPr>
          <p:cNvPr id="10" name="Text 4"/>
          <p:cNvSpPr txBox="1"/>
          <p:nvPr/>
        </p:nvSpPr>
        <p:spPr>
          <a:xfrm>
            <a:off x="502920"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Thi công tại ô kỹ thuật</a:t>
            </a:r>
            <a:endParaRPr lang="en-US" sz="800" dirty="0"/>
          </a:p>
        </p:txBody>
      </p:sp>
      <p:pic>
        <p:nvPicPr>
          <p:cNvPr id="11" name="photo img06.jpg" descr="Tập kết vật tư ống, phụ kiện">    </p:cNvPr>
          <p:cNvPicPr>
            <a:picLocks noChangeAspect="1"/>
          </p:cNvPicPr>
          <p:nvPr/>
        </p:nvPicPr>
        <p:blipFill>
          <a:blip r:embed="rId4"/>
          <a:stretch>
            <a:fillRect/>
          </a:stretch>
        </p:blipFill>
        <p:spPr>
          <a:xfrm>
            <a:off x="3872484" y="6675120"/>
            <a:ext cx="3186684" cy="2926080"/>
          </a:xfrm>
          <a:prstGeom prst="rect">
            <a:avLst/>
          </a:prstGeom>
        </p:spPr>
      </p:pic>
      <p:sp>
        <p:nvSpPr>
          <p:cNvPr id="12" name="Text 5"/>
          <p:cNvSpPr txBox="1"/>
          <p:nvPr/>
        </p:nvSpPr>
        <p:spPr>
          <a:xfrm>
            <a:off x="3872484"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Tập kết vật tư ống, phụ kiện</a:t>
            </a:r>
            <a:endParaRPr lang="en-US" sz="8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CÔNG TRÌNH TIÊU BIỂU 03</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Trạm xử lý nước – Thành phố Huế</a:t>
            </a:r>
            <a:endParaRPr lang="en-US" sz="2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463040"/>
          <a:ext cx="6556248" cy="914400"/>
        </p:xfrm>
        <a:graphic>
          <a:graphicData uri="http://schemas.openxmlformats.org/drawingml/2006/table">
            <a:tbl>
              <a:tblPr/>
              <a:tblGrid>
                <a:gridCol w="1554480"/>
                <a:gridCol w="5001768"/>
              </a:tblGrid>
              <a:tr h="310896">
                <a:tc>
                  <a:txBody>
                    <a:bodyPr/>
                    <a:lstStyle/>
                    <a:p>
                      <a:pPr indent="0" marL="0">
                        <a:buNone/>
                      </a:pPr>
                      <a:r>
                        <a:rPr lang="en-US" sz="850" b="1" dirty="0">
                          <a:solidFill>
                            <a:schemeClr val="bg1"/>
                          </a:solidFill>
                        </a:rPr>
                        <a:t>Tên dự án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Trạm xử lý nước công nghệ UF/RO – nhà máy tại Thành phố Huế</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Khách hàng</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Thông tin cung cấp khi có yêu cầu</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Địa điểm</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Thành phố Huế</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Hạng mục BLT</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Lắp đặt cụm bơm, bơm định lượng, bồn lọc, khung đỡ và đường ống công nghệ hệ UF/RO</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r h="310896">
                <a:tc>
                  <a:txBody>
                    <a:bodyPr/>
                    <a:lstStyle/>
                    <a:p>
                      <a:pPr indent="0" marL="0">
                        <a:buNone/>
                      </a:pPr>
                      <a:r>
                        <a:rPr lang="en-US" sz="850" b="1" dirty="0">
                          <a:solidFill>
                            <a:schemeClr val="bg1"/>
                          </a:solidFill>
                        </a:rPr>
                        <a:t>Thời gian</a:t>
                      </a:r>
                      <a:endParaRPr lang="en-US" sz="8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indent="0" marL="0">
                        <a:buNone/>
                      </a:pPr>
                      <a:r>
                        <a:rPr lang="en-US" sz="950" dirty="0">
                          <a:solidFill>
                            <a:srgbClr val="1B2433"/>
                          </a:solidFill>
                        </a:rPr>
                        <a:t>09/2026</a:t>
                      </a:r>
                      <a:endParaRPr lang="en-US" sz="950" dirty="0"/>
                    </a:p>
                  </a:txBody>
                  <a:tcPr marL="91440" marR="91440" marT="27432" marB="27432"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tcPr>
                </a:tc>
              </a:tr>
            </a:tbl>
          </a:graphicData>
        </a:graphic>
      </p:graphicFrame>
      <p:pic>
        <p:nvPicPr>
          <p:cNvPr id="5" name="photo img16.jpg" descr="Lắp đặt cụm bơm, van và đồng hồ áp">    </p:cNvPr>
          <p:cNvPicPr>
            <a:picLocks noChangeAspect="1"/>
          </p:cNvPicPr>
          <p:nvPr/>
        </p:nvPicPr>
        <p:blipFill>
          <a:blip r:embed="rId1"/>
          <a:stretch>
            <a:fillRect/>
          </a:stretch>
        </p:blipFill>
        <p:spPr>
          <a:xfrm>
            <a:off x="502920" y="3200400"/>
            <a:ext cx="6556248" cy="3017520"/>
          </a:xfrm>
          <a:prstGeom prst="rect">
            <a:avLst/>
          </a:prstGeom>
        </p:spPr>
      </p:pic>
      <p:sp>
        <p:nvSpPr>
          <p:cNvPr id="6" name="Text 2"/>
          <p:cNvSpPr txBox="1"/>
          <p:nvPr/>
        </p:nvSpPr>
        <p:spPr>
          <a:xfrm>
            <a:off x="502920" y="6254496"/>
            <a:ext cx="6556248"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đặt cụm bơm, van và đồng hồ áp</a:t>
            </a:r>
            <a:endParaRPr lang="en-US" sz="800" dirty="0"/>
          </a:p>
        </p:txBody>
      </p:sp>
      <p:pic>
        <p:nvPicPr>
          <p:cNvPr id="7" name="photo img48.jpg" descr="Lắp bơm định lượng hóa chất">    </p:cNvPr>
          <p:cNvPicPr>
            <a:picLocks noChangeAspect="1"/>
          </p:cNvPicPr>
          <p:nvPr/>
        </p:nvPicPr>
        <p:blipFill>
          <a:blip r:embed="rId2"/>
          <a:stretch>
            <a:fillRect/>
          </a:stretch>
        </p:blipFill>
        <p:spPr>
          <a:xfrm>
            <a:off x="502920" y="6583680"/>
            <a:ext cx="3186684" cy="3017520"/>
          </a:xfrm>
          <a:prstGeom prst="rect">
            <a:avLst/>
          </a:prstGeom>
        </p:spPr>
      </p:pic>
      <p:sp>
        <p:nvSpPr>
          <p:cNvPr id="8" name="Text 3"/>
          <p:cNvSpPr txBox="1"/>
          <p:nvPr/>
        </p:nvSpPr>
        <p:spPr>
          <a:xfrm>
            <a:off x="502920"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Lắp bơm định lượng hóa chất</a:t>
            </a:r>
            <a:endParaRPr lang="en-US" sz="800" dirty="0"/>
          </a:p>
        </p:txBody>
      </p:sp>
      <p:pic>
        <p:nvPicPr>
          <p:cNvPr id="9" name="photo img44.jpg" descr="Thi công khung đỡ ống trên cao">    </p:cNvPr>
          <p:cNvPicPr>
            <a:picLocks noChangeAspect="1"/>
          </p:cNvPicPr>
          <p:nvPr/>
        </p:nvPicPr>
        <p:blipFill>
          <a:blip r:embed="rId3"/>
          <a:stretch>
            <a:fillRect/>
          </a:stretch>
        </p:blipFill>
        <p:spPr>
          <a:xfrm>
            <a:off x="3872484" y="6583680"/>
            <a:ext cx="3186684" cy="3017520"/>
          </a:xfrm>
          <a:prstGeom prst="rect">
            <a:avLst/>
          </a:prstGeom>
        </p:spPr>
      </p:pic>
      <p:sp>
        <p:nvSpPr>
          <p:cNvPr id="10" name="Text 4"/>
          <p:cNvSpPr txBox="1"/>
          <p:nvPr/>
        </p:nvSpPr>
        <p:spPr>
          <a:xfrm>
            <a:off x="3872484" y="9637776"/>
            <a:ext cx="3186684" cy="201168"/>
          </a:xfrm>
          <a:prstGeom prst="rect">
            <a:avLst/>
          </a:prstGeom>
          <a:noFill/>
          <a:ln/>
        </p:spPr>
        <p:txBody>
          <a:bodyPr wrap="square" lIns="0" tIns="0" rIns="0" bIns="0" rtlCol="0" anchor="ctr">
            <a:normAutofit/>
          </a:bodyPr>
          <a:lstStyle/>
          <a:p>
            <a:pPr indent="0" marL="0">
              <a:buNone/>
            </a:pPr>
            <a:r>
              <a:rPr lang="en-US" sz="800" i="1" dirty="0">
                <a:solidFill>
                  <a:schemeClr val="accent3"/>
                </a:solidFill>
              </a:rPr>
              <a:t>Thi công khung đỡ ống trên cao</a:t>
            </a:r>
            <a:endParaRPr lang="en-US" sz="8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KINH NGHIỆM THI CÔNG</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Danh sách công trình đã &amp; đang thực hiện</a:t>
            </a:r>
            <a:endParaRPr lang="en-US" sz="2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508760"/>
          <a:ext cx="6556248" cy="914400"/>
        </p:xfrm>
        <a:graphic>
          <a:graphicData uri="http://schemas.openxmlformats.org/drawingml/2006/table">
            <a:tbl>
              <a:tblPr/>
              <a:tblGrid>
                <a:gridCol w="457200"/>
                <a:gridCol w="2560320"/>
                <a:gridCol w="2578608"/>
                <a:gridCol w="960120"/>
              </a:tblGrid>
              <a:tr h="502920">
                <a:tc>
                  <a:txBody>
                    <a:bodyPr/>
                    <a:lstStyle/>
                    <a:p>
                      <a:pPr algn="ctr" indent="0" marL="0">
                        <a:buNone/>
                      </a:pPr>
                      <a:r>
                        <a:rPr lang="en-US" sz="950" b="1" dirty="0">
                          <a:solidFill>
                            <a:schemeClr val="bg1"/>
                          </a:solidFill>
                        </a:rPr>
                        <a:t>STT</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rPr>
                        <a:t>Tên công trình / Địa điểm</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rPr>
                        <a:t>Hạng mục BLT thực hiện</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c>
                  <a:txBody>
                    <a:bodyPr/>
                    <a:lstStyle/>
                    <a:p>
                      <a:pPr algn="ctr" indent="0" marL="0">
                        <a:buNone/>
                      </a:pPr>
                      <a:r>
                        <a:rPr lang="en-US" sz="950" b="1" dirty="0">
                          <a:solidFill>
                            <a:schemeClr val="bg1"/>
                          </a:solidFill>
                        </a:rPr>
                        <a:t>Thời gian</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chemeClr val="tx2"/>
                    </a:solidFill>
                  </a:tcPr>
                </a:tc>
              </a:tr>
              <a:tr h="1097280">
                <a:tc>
                  <a:txBody>
                    <a:bodyPr/>
                    <a:lstStyle/>
                    <a:p>
                      <a:pPr algn="ctr" indent="0" marL="0">
                        <a:buNone/>
                      </a:pPr>
                      <a:r>
                        <a:rPr lang="en-US" sz="950" dirty="0">
                          <a:solidFill>
                            <a:srgbClr val="1B2433"/>
                          </a:solidFill>
                        </a:rPr>
                        <a:t>1</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B2433"/>
                          </a:solidFill>
                        </a:rPr>
                        <a:t>Hệ thống hút sương dầu – nhà xưởng gia công CNC</a:t>
                      </a:r>
                      <a:endParaRPr lang="en-US" sz="950" dirty="0"/>
                    </a:p>
                    <a:p>
                      <a:pPr algn="l" indent="0" marL="0">
                        <a:buNone/>
                      </a:pPr>
                      <a:r>
                        <a:rPr lang="en-US" sz="950" b="1" dirty="0">
                          <a:solidFill>
                            <a:srgbClr val="1B2433"/>
                          </a:solidFill>
                        </a:rPr>
                        <a:t>Xã Hưng Nguyên, Nghệ An</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Tuyến ống hút cho dãy máy CNC, lắp máy lọc sương dầu, giá đỡ, đấu nối điện</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09–10/2026</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r h="1097280">
                <a:tc>
                  <a:txBody>
                    <a:bodyPr/>
                    <a:lstStyle/>
                    <a:p>
                      <a:pPr algn="ctr" indent="0" marL="0">
                        <a:buNone/>
                      </a:pPr>
                      <a:r>
                        <a:rPr lang="en-US" sz="950" dirty="0">
                          <a:solidFill>
                            <a:srgbClr val="1B2433"/>
                          </a:solidFill>
                        </a:rPr>
                        <a:t>2</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b="1" dirty="0">
                          <a:solidFill>
                            <a:srgbClr val="1B2433"/>
                          </a:solidFill>
                        </a:rPr>
                        <a:t>Hệ thống điện nước công trình nhiều tầng</a:t>
                      </a:r>
                      <a:endParaRPr lang="en-US" sz="950" dirty="0"/>
                    </a:p>
                    <a:p>
                      <a:pPr algn="l" indent="0" marL="0">
                        <a:buNone/>
                      </a:pPr>
                      <a:r>
                        <a:rPr lang="en-US" sz="950" b="1" dirty="0">
                          <a:solidFill>
                            <a:srgbClr val="1B2433"/>
                          </a:solidFill>
                        </a:rPr>
                        <a:t>Phường Hà Nam, Ninh Bình</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Đi ống, kéo dây, tuyến ống trên trần, cấp nước PPR, thoát nước uPVC</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c>
                  <a:txBody>
                    <a:bodyPr/>
                    <a:lstStyle/>
                    <a:p>
                      <a:pPr algn="l" indent="0" marL="0">
                        <a:buNone/>
                      </a:pPr>
                      <a:r>
                        <a:rPr lang="en-US" sz="950" dirty="0">
                          <a:solidFill>
                            <a:srgbClr val="1B2433"/>
                          </a:solidFill>
                        </a:rPr>
                        <a:t>09/2026</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EDF2F8"/>
                    </a:solidFill>
                  </a:tcPr>
                </a:tc>
              </a:tr>
              <a:tr h="1097280">
                <a:tc>
                  <a:txBody>
                    <a:bodyPr/>
                    <a:lstStyle/>
                    <a:p>
                      <a:pPr algn="ctr" indent="0" marL="0">
                        <a:buNone/>
                      </a:pPr>
                      <a:r>
                        <a:rPr lang="en-US" sz="950" dirty="0">
                          <a:solidFill>
                            <a:srgbClr val="1B2433"/>
                          </a:solidFill>
                        </a:rPr>
                        <a:t>3</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b="1" dirty="0">
                          <a:solidFill>
                            <a:srgbClr val="1B2433"/>
                          </a:solidFill>
                        </a:rPr>
                        <a:t>Trạm xử lý nước công nghệ UF/RO</a:t>
                      </a:r>
                      <a:endParaRPr lang="en-US" sz="950" dirty="0"/>
                    </a:p>
                    <a:p>
                      <a:pPr algn="l" indent="0" marL="0">
                        <a:buNone/>
                      </a:pPr>
                      <a:r>
                        <a:rPr lang="en-US" sz="950" b="1" dirty="0">
                          <a:solidFill>
                            <a:srgbClr val="1B2433"/>
                          </a:solidFill>
                        </a:rPr>
                        <a:t>Thành phố Huế</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Cụm bơm, bơm định lượng, bồn lọc, khung đỡ, đường ống công nghệ</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1B2433"/>
                          </a:solidFill>
                        </a:rPr>
                        <a:t>09/2026</a:t>
                      </a:r>
                      <a:endParaRPr lang="en-US" sz="950" dirty="0"/>
                    </a:p>
                  </a:txBody>
                  <a:tcPr marL="91440" marR="91440" marT="54864" marB="54864" anchor="ctr">
                    <a:lnL w="9525" cap="flat" cmpd="sng" algn="ctr">
                      <a:solidFill>
                        <a:srgbClr val="C9D5E3"/>
                      </a:solidFill>
                      <a:prstDash val="solid"/>
                      <a:round/>
                      <a:headEnd type="none" w="med" len="med"/>
                      <a:tailEnd type="none" w="med" len="med"/>
                    </a:lnL>
                    <a:lnR w="9525" cap="flat" cmpd="sng" algn="ctr">
                      <a:solidFill>
                        <a:srgbClr val="C9D5E3"/>
                      </a:solidFill>
                      <a:prstDash val="solid"/>
                      <a:round/>
                      <a:headEnd type="none" w="med" len="med"/>
                      <a:tailEnd type="none" w="med" len="med"/>
                    </a:lnR>
                    <a:lnT w="9525" cap="flat" cmpd="sng" algn="ctr">
                      <a:solidFill>
                        <a:srgbClr val="C9D5E3"/>
                      </a:solidFill>
                      <a:prstDash val="solid"/>
                      <a:round/>
                      <a:headEnd type="none" w="med" len="med"/>
                      <a:tailEnd type="none" w="med" len="med"/>
                    </a:lnT>
                    <a:lnB w="9525" cap="flat" cmpd="sng" algn="ctr">
                      <a:solidFill>
                        <a:srgbClr val="C9D5E3"/>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02920" y="5760720"/>
            <a:ext cx="6556248" cy="228600"/>
          </a:xfrm>
          <a:prstGeom prst="rect">
            <a:avLst/>
          </a:prstGeom>
          <a:noFill/>
          <a:ln/>
        </p:spPr>
        <p:txBody>
          <a:bodyPr wrap="square" lIns="0" tIns="0" rIns="0" bIns="0" rtlCol="0" anchor="ctr"/>
          <a:lstStyle/>
          <a:p>
            <a:pPr indent="0" marL="0">
              <a:buNone/>
            </a:pPr>
            <a:r>
              <a:rPr lang="en-US" sz="900" b="1" spc="200" kern="0" dirty="0">
                <a:solidFill>
                  <a:schemeClr val="accent1"/>
                </a:solidFill>
                <a:latin typeface="Arial" pitchFamily="34" charset="0"/>
                <a:ea typeface="Arial" pitchFamily="34" charset="-122"/>
                <a:cs typeface="Arial" pitchFamily="34" charset="-120"/>
              </a:rPr>
              <a:t>ĐỊA BÀN THI CÔNG 2026</a:t>
            </a:r>
            <a:endParaRPr lang="en-US" sz="900" dirty="0"/>
          </a:p>
        </p:txBody>
      </p:sp>
      <p:sp>
        <p:nvSpPr>
          <p:cNvPr id="6" name="Shape 3"/>
          <p:cNvSpPr/>
          <p:nvPr/>
        </p:nvSpPr>
        <p:spPr>
          <a:xfrm>
            <a:off x="502920" y="6035040"/>
            <a:ext cx="2063496" cy="3520440"/>
          </a:xfrm>
          <a:prstGeom prst="roundRect">
            <a:avLst>
              <a:gd name="adj" fmla="val 3545"/>
            </a:avLst>
          </a:prstGeom>
          <a:solidFill>
            <a:schemeClr val="tx2"/>
          </a:solidFill>
          <a:ln w="12700">
            <a:solidFill>
              <a:schemeClr val="tx2"/>
            </a:solidFill>
            <a:prstDash val="solid"/>
          </a:ln>
        </p:spPr>
      </p:sp>
      <p:sp>
        <p:nvSpPr>
          <p:cNvPr id="7" name="Shape 4"/>
          <p:cNvSpPr/>
          <p:nvPr/>
        </p:nvSpPr>
        <p:spPr>
          <a:xfrm>
            <a:off x="731520" y="6263640"/>
            <a:ext cx="502920" cy="502920"/>
          </a:xfrm>
          <a:prstGeom prst="ellipse">
            <a:avLst/>
          </a:prstGeom>
          <a:solidFill>
            <a:schemeClr val="accent1"/>
          </a:solidFill>
          <a:ln w="12700">
            <a:solidFill>
              <a:schemeClr val="accent1"/>
            </a:solidFill>
            <a:prstDash val="solid"/>
          </a:ln>
        </p:spPr>
      </p:sp>
      <p:sp>
        <p:nvSpPr>
          <p:cNvPr id="8" name="Text 5"/>
          <p:cNvSpPr txBox="1"/>
          <p:nvPr/>
        </p:nvSpPr>
        <p:spPr>
          <a:xfrm>
            <a:off x="731520" y="62636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01</a:t>
            </a:r>
            <a:endParaRPr lang="en-US" sz="1300" dirty="0"/>
          </a:p>
        </p:txBody>
      </p:sp>
      <p:sp>
        <p:nvSpPr>
          <p:cNvPr id="9" name="Text 6"/>
          <p:cNvSpPr txBox="1"/>
          <p:nvPr/>
        </p:nvSpPr>
        <p:spPr>
          <a:xfrm>
            <a:off x="731520" y="6949440"/>
            <a:ext cx="1606296"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NGHỆ AN</a:t>
            </a:r>
            <a:endParaRPr lang="en-US" sz="2000" dirty="0"/>
          </a:p>
        </p:txBody>
      </p:sp>
      <p:sp>
        <p:nvSpPr>
          <p:cNvPr id="10" name="Text 7"/>
          <p:cNvSpPr txBox="1"/>
          <p:nvPr/>
        </p:nvSpPr>
        <p:spPr>
          <a:xfrm>
            <a:off x="731520" y="7498080"/>
            <a:ext cx="1606296" cy="594360"/>
          </a:xfrm>
          <a:prstGeom prst="rect">
            <a:avLst/>
          </a:prstGeom>
          <a:noFill/>
          <a:ln/>
        </p:spPr>
        <p:txBody>
          <a:bodyPr wrap="square" lIns="0" tIns="0" rIns="0" bIns="0" rtlCol="0" anchor="t"/>
          <a:lstStyle/>
          <a:p>
            <a:pPr indent="0" marL="0">
              <a:buNone/>
            </a:pPr>
            <a:r>
              <a:rPr lang="en-US" sz="1200" b="1" dirty="0">
                <a:solidFill>
                  <a:schemeClr val="bg1"/>
                </a:solidFill>
              </a:rPr>
              <a:t>Nhà xưởng gia công CNC</a:t>
            </a:r>
            <a:endParaRPr lang="en-US" sz="1200" dirty="0"/>
          </a:p>
        </p:txBody>
      </p:sp>
      <p:sp>
        <p:nvSpPr>
          <p:cNvPr id="11" name="Text 8"/>
          <p:cNvSpPr txBox="1"/>
          <p:nvPr/>
        </p:nvSpPr>
        <p:spPr>
          <a:xfrm>
            <a:off x="731520" y="8183880"/>
            <a:ext cx="1606296" cy="594360"/>
          </a:xfrm>
          <a:prstGeom prst="rect">
            <a:avLst/>
          </a:prstGeom>
          <a:noFill/>
          <a:ln/>
        </p:spPr>
        <p:txBody>
          <a:bodyPr wrap="square" lIns="0" tIns="0" rIns="0" bIns="0" rtlCol="0" anchor="t"/>
          <a:lstStyle/>
          <a:p>
            <a:pPr indent="0" marL="0">
              <a:buNone/>
            </a:pPr>
            <a:r>
              <a:rPr lang="en-US" sz="1050" dirty="0">
                <a:solidFill>
                  <a:schemeClr val="accent4"/>
                </a:solidFill>
              </a:rPr>
              <a:t>Hút sương dầu, máy lọc, điện</a:t>
            </a:r>
            <a:endParaRPr lang="en-US" sz="1050" dirty="0"/>
          </a:p>
        </p:txBody>
      </p:sp>
      <p:sp>
        <p:nvSpPr>
          <p:cNvPr id="12" name="Shape 9"/>
          <p:cNvSpPr/>
          <p:nvPr/>
        </p:nvSpPr>
        <p:spPr>
          <a:xfrm>
            <a:off x="731520" y="8915400"/>
            <a:ext cx="1606296" cy="0"/>
          </a:xfrm>
          <a:prstGeom prst="line">
            <a:avLst/>
          </a:prstGeom>
          <a:noFill/>
          <a:ln w="9525">
            <a:solidFill>
              <a:schemeClr val="accent3"/>
            </a:solidFill>
            <a:prstDash val="solid"/>
          </a:ln>
        </p:spPr>
      </p:sp>
      <p:sp>
        <p:nvSpPr>
          <p:cNvPr id="13" name="Text 10"/>
          <p:cNvSpPr txBox="1"/>
          <p:nvPr/>
        </p:nvSpPr>
        <p:spPr>
          <a:xfrm>
            <a:off x="731520" y="9034272"/>
            <a:ext cx="1606296" cy="292608"/>
          </a:xfrm>
          <a:prstGeom prst="rect">
            <a:avLst/>
          </a:prstGeom>
          <a:noFill/>
          <a:ln/>
        </p:spPr>
        <p:txBody>
          <a:bodyPr wrap="square" lIns="0" tIns="0" rIns="0" bIns="0" rtlCol="0" anchor="ctr"/>
          <a:lstStyle/>
          <a:p>
            <a:pPr indent="0" marL="0">
              <a:buNone/>
            </a:pPr>
            <a:r>
              <a:rPr lang="en-US" sz="1100" b="1" dirty="0">
                <a:solidFill>
                  <a:schemeClr val="accent6"/>
                </a:solidFill>
              </a:rPr>
              <a:t>09–10/2026</a:t>
            </a:r>
            <a:endParaRPr lang="en-US" sz="1100" dirty="0"/>
          </a:p>
        </p:txBody>
      </p:sp>
      <p:sp>
        <p:nvSpPr>
          <p:cNvPr id="14" name="Shape 11"/>
          <p:cNvSpPr/>
          <p:nvPr/>
        </p:nvSpPr>
        <p:spPr>
          <a:xfrm>
            <a:off x="2749296" y="6035040"/>
            <a:ext cx="2063496" cy="3520440"/>
          </a:xfrm>
          <a:prstGeom prst="roundRect">
            <a:avLst>
              <a:gd name="adj" fmla="val 3545"/>
            </a:avLst>
          </a:prstGeom>
          <a:solidFill>
            <a:schemeClr val="tx2"/>
          </a:solidFill>
          <a:ln w="12700">
            <a:solidFill>
              <a:schemeClr val="tx2"/>
            </a:solidFill>
            <a:prstDash val="solid"/>
          </a:ln>
        </p:spPr>
      </p:sp>
      <p:sp>
        <p:nvSpPr>
          <p:cNvPr id="15" name="Shape 12"/>
          <p:cNvSpPr/>
          <p:nvPr/>
        </p:nvSpPr>
        <p:spPr>
          <a:xfrm>
            <a:off x="2977896" y="6263640"/>
            <a:ext cx="502920" cy="502920"/>
          </a:xfrm>
          <a:prstGeom prst="ellipse">
            <a:avLst/>
          </a:prstGeom>
          <a:solidFill>
            <a:schemeClr val="accent1"/>
          </a:solidFill>
          <a:ln w="12700">
            <a:solidFill>
              <a:schemeClr val="accent1"/>
            </a:solidFill>
            <a:prstDash val="solid"/>
          </a:ln>
        </p:spPr>
      </p:sp>
      <p:sp>
        <p:nvSpPr>
          <p:cNvPr id="16" name="Text 13"/>
          <p:cNvSpPr txBox="1"/>
          <p:nvPr/>
        </p:nvSpPr>
        <p:spPr>
          <a:xfrm>
            <a:off x="2977896" y="62636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02</a:t>
            </a:r>
            <a:endParaRPr lang="en-US" sz="1300" dirty="0"/>
          </a:p>
        </p:txBody>
      </p:sp>
      <p:sp>
        <p:nvSpPr>
          <p:cNvPr id="17" name="Text 14"/>
          <p:cNvSpPr txBox="1"/>
          <p:nvPr/>
        </p:nvSpPr>
        <p:spPr>
          <a:xfrm>
            <a:off x="2977896" y="6949440"/>
            <a:ext cx="1606296"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NINH BÌNH</a:t>
            </a:r>
            <a:endParaRPr lang="en-US" sz="2000" dirty="0"/>
          </a:p>
        </p:txBody>
      </p:sp>
      <p:sp>
        <p:nvSpPr>
          <p:cNvPr id="18" name="Text 15"/>
          <p:cNvSpPr txBox="1"/>
          <p:nvPr/>
        </p:nvSpPr>
        <p:spPr>
          <a:xfrm>
            <a:off x="2977896" y="7498080"/>
            <a:ext cx="1606296" cy="594360"/>
          </a:xfrm>
          <a:prstGeom prst="rect">
            <a:avLst/>
          </a:prstGeom>
          <a:noFill/>
          <a:ln/>
        </p:spPr>
        <p:txBody>
          <a:bodyPr wrap="square" lIns="0" tIns="0" rIns="0" bIns="0" rtlCol="0" anchor="t"/>
          <a:lstStyle/>
          <a:p>
            <a:pPr indent="0" marL="0">
              <a:buNone/>
            </a:pPr>
            <a:r>
              <a:rPr lang="en-US" sz="1200" b="1" dirty="0">
                <a:solidFill>
                  <a:schemeClr val="bg1"/>
                </a:solidFill>
              </a:rPr>
              <a:t>Công trình nhiều tầng</a:t>
            </a:r>
            <a:endParaRPr lang="en-US" sz="1200" dirty="0"/>
          </a:p>
        </p:txBody>
      </p:sp>
      <p:sp>
        <p:nvSpPr>
          <p:cNvPr id="19" name="Text 16"/>
          <p:cNvSpPr txBox="1"/>
          <p:nvPr/>
        </p:nvSpPr>
        <p:spPr>
          <a:xfrm>
            <a:off x="2977896" y="8183880"/>
            <a:ext cx="1606296" cy="594360"/>
          </a:xfrm>
          <a:prstGeom prst="rect">
            <a:avLst/>
          </a:prstGeom>
          <a:noFill/>
          <a:ln/>
        </p:spPr>
        <p:txBody>
          <a:bodyPr wrap="square" lIns="0" tIns="0" rIns="0" bIns="0" rtlCol="0" anchor="t"/>
          <a:lstStyle/>
          <a:p>
            <a:pPr indent="0" marL="0">
              <a:buNone/>
            </a:pPr>
            <a:r>
              <a:rPr lang="en-US" sz="1050" dirty="0">
                <a:solidFill>
                  <a:schemeClr val="accent4"/>
                </a:solidFill>
              </a:rPr>
              <a:t>Điện, cấp thoát nước</a:t>
            </a:r>
            <a:endParaRPr lang="en-US" sz="1050" dirty="0"/>
          </a:p>
        </p:txBody>
      </p:sp>
      <p:sp>
        <p:nvSpPr>
          <p:cNvPr id="20" name="Shape 17"/>
          <p:cNvSpPr/>
          <p:nvPr/>
        </p:nvSpPr>
        <p:spPr>
          <a:xfrm>
            <a:off x="2977896" y="8915400"/>
            <a:ext cx="1606296" cy="0"/>
          </a:xfrm>
          <a:prstGeom prst="line">
            <a:avLst/>
          </a:prstGeom>
          <a:noFill/>
          <a:ln w="9525">
            <a:solidFill>
              <a:schemeClr val="accent3"/>
            </a:solidFill>
            <a:prstDash val="solid"/>
          </a:ln>
        </p:spPr>
      </p:sp>
      <p:sp>
        <p:nvSpPr>
          <p:cNvPr id="21" name="Text 18"/>
          <p:cNvSpPr txBox="1"/>
          <p:nvPr/>
        </p:nvSpPr>
        <p:spPr>
          <a:xfrm>
            <a:off x="2977896" y="9034272"/>
            <a:ext cx="1606296" cy="292608"/>
          </a:xfrm>
          <a:prstGeom prst="rect">
            <a:avLst/>
          </a:prstGeom>
          <a:noFill/>
          <a:ln/>
        </p:spPr>
        <p:txBody>
          <a:bodyPr wrap="square" lIns="0" tIns="0" rIns="0" bIns="0" rtlCol="0" anchor="ctr"/>
          <a:lstStyle/>
          <a:p>
            <a:pPr indent="0" marL="0">
              <a:buNone/>
            </a:pPr>
            <a:r>
              <a:rPr lang="en-US" sz="1100" b="1" dirty="0">
                <a:solidFill>
                  <a:schemeClr val="accent6"/>
                </a:solidFill>
              </a:rPr>
              <a:t>09/2026</a:t>
            </a:r>
            <a:endParaRPr lang="en-US" sz="1100" dirty="0"/>
          </a:p>
        </p:txBody>
      </p:sp>
      <p:sp>
        <p:nvSpPr>
          <p:cNvPr id="22" name="Shape 19"/>
          <p:cNvSpPr/>
          <p:nvPr/>
        </p:nvSpPr>
        <p:spPr>
          <a:xfrm>
            <a:off x="4995672" y="6035040"/>
            <a:ext cx="2063496" cy="3520440"/>
          </a:xfrm>
          <a:prstGeom prst="roundRect">
            <a:avLst>
              <a:gd name="adj" fmla="val 3545"/>
            </a:avLst>
          </a:prstGeom>
          <a:solidFill>
            <a:schemeClr val="tx2"/>
          </a:solidFill>
          <a:ln w="12700">
            <a:solidFill>
              <a:schemeClr val="tx2"/>
            </a:solidFill>
            <a:prstDash val="solid"/>
          </a:ln>
        </p:spPr>
      </p:sp>
      <p:sp>
        <p:nvSpPr>
          <p:cNvPr id="23" name="Shape 20"/>
          <p:cNvSpPr/>
          <p:nvPr/>
        </p:nvSpPr>
        <p:spPr>
          <a:xfrm>
            <a:off x="5224272" y="6263640"/>
            <a:ext cx="502920" cy="502920"/>
          </a:xfrm>
          <a:prstGeom prst="ellipse">
            <a:avLst/>
          </a:prstGeom>
          <a:solidFill>
            <a:schemeClr val="accent1"/>
          </a:solidFill>
          <a:ln w="12700">
            <a:solidFill>
              <a:schemeClr val="accent1"/>
            </a:solidFill>
            <a:prstDash val="solid"/>
          </a:ln>
        </p:spPr>
      </p:sp>
      <p:sp>
        <p:nvSpPr>
          <p:cNvPr id="24" name="Text 21"/>
          <p:cNvSpPr txBox="1"/>
          <p:nvPr/>
        </p:nvSpPr>
        <p:spPr>
          <a:xfrm>
            <a:off x="5224272" y="6263640"/>
            <a:ext cx="502920" cy="50292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03</a:t>
            </a:r>
            <a:endParaRPr lang="en-US" sz="1300" dirty="0"/>
          </a:p>
        </p:txBody>
      </p:sp>
      <p:sp>
        <p:nvSpPr>
          <p:cNvPr id="25" name="Text 22"/>
          <p:cNvSpPr txBox="1"/>
          <p:nvPr/>
        </p:nvSpPr>
        <p:spPr>
          <a:xfrm>
            <a:off x="5224272" y="6949440"/>
            <a:ext cx="1606296" cy="457200"/>
          </a:xfrm>
          <a:prstGeom prst="rect">
            <a:avLst/>
          </a:prstGeom>
          <a:noFill/>
          <a:ln/>
        </p:spPr>
        <p:txBody>
          <a:bodyPr wrap="square" lIns="0" tIns="0" rIns="0" bIns="0" rtlCol="0" anchor="ctr"/>
          <a:lstStyle/>
          <a:p>
            <a:pPr indent="0" marL="0">
              <a:buNone/>
            </a:pPr>
            <a:r>
              <a:rPr lang="en-US" sz="2000" b="1" dirty="0">
                <a:solidFill>
                  <a:schemeClr val="accent1"/>
                </a:solidFill>
                <a:latin typeface="Arial" pitchFamily="34" charset="0"/>
                <a:ea typeface="Arial" pitchFamily="34" charset="-122"/>
                <a:cs typeface="Arial" pitchFamily="34" charset="-120"/>
              </a:rPr>
              <a:t>TP. HUẾ</a:t>
            </a:r>
            <a:endParaRPr lang="en-US" sz="2000" dirty="0"/>
          </a:p>
        </p:txBody>
      </p:sp>
      <p:sp>
        <p:nvSpPr>
          <p:cNvPr id="26" name="Text 23"/>
          <p:cNvSpPr txBox="1"/>
          <p:nvPr/>
        </p:nvSpPr>
        <p:spPr>
          <a:xfrm>
            <a:off x="5224272" y="7498080"/>
            <a:ext cx="1606296" cy="594360"/>
          </a:xfrm>
          <a:prstGeom prst="rect">
            <a:avLst/>
          </a:prstGeom>
          <a:noFill/>
          <a:ln/>
        </p:spPr>
        <p:txBody>
          <a:bodyPr wrap="square" lIns="0" tIns="0" rIns="0" bIns="0" rtlCol="0" anchor="t"/>
          <a:lstStyle/>
          <a:p>
            <a:pPr indent="0" marL="0">
              <a:buNone/>
            </a:pPr>
            <a:r>
              <a:rPr lang="en-US" sz="1200" b="1" dirty="0">
                <a:solidFill>
                  <a:schemeClr val="bg1"/>
                </a:solidFill>
              </a:rPr>
              <a:t>Trạm xử lý nước UF/RO</a:t>
            </a:r>
            <a:endParaRPr lang="en-US" sz="1200" dirty="0"/>
          </a:p>
        </p:txBody>
      </p:sp>
      <p:sp>
        <p:nvSpPr>
          <p:cNvPr id="27" name="Text 24"/>
          <p:cNvSpPr txBox="1"/>
          <p:nvPr/>
        </p:nvSpPr>
        <p:spPr>
          <a:xfrm>
            <a:off x="5224272" y="8183880"/>
            <a:ext cx="1606296" cy="594360"/>
          </a:xfrm>
          <a:prstGeom prst="rect">
            <a:avLst/>
          </a:prstGeom>
          <a:noFill/>
          <a:ln/>
        </p:spPr>
        <p:txBody>
          <a:bodyPr wrap="square" lIns="0" tIns="0" rIns="0" bIns="0" rtlCol="0" anchor="t"/>
          <a:lstStyle/>
          <a:p>
            <a:pPr indent="0" marL="0">
              <a:buNone/>
            </a:pPr>
            <a:r>
              <a:rPr lang="en-US" sz="1050" dirty="0">
                <a:solidFill>
                  <a:schemeClr val="accent4"/>
                </a:solidFill>
              </a:rPr>
              <a:t>Bơm, bồn lọc, ống công nghệ</a:t>
            </a:r>
            <a:endParaRPr lang="en-US" sz="1050" dirty="0"/>
          </a:p>
        </p:txBody>
      </p:sp>
      <p:sp>
        <p:nvSpPr>
          <p:cNvPr id="28" name="Shape 25"/>
          <p:cNvSpPr/>
          <p:nvPr/>
        </p:nvSpPr>
        <p:spPr>
          <a:xfrm>
            <a:off x="5224272" y="8915400"/>
            <a:ext cx="1606296" cy="0"/>
          </a:xfrm>
          <a:prstGeom prst="line">
            <a:avLst/>
          </a:prstGeom>
          <a:noFill/>
          <a:ln w="9525">
            <a:solidFill>
              <a:schemeClr val="accent3"/>
            </a:solidFill>
            <a:prstDash val="solid"/>
          </a:ln>
        </p:spPr>
      </p:sp>
      <p:sp>
        <p:nvSpPr>
          <p:cNvPr id="29" name="Text 26"/>
          <p:cNvSpPr txBox="1"/>
          <p:nvPr/>
        </p:nvSpPr>
        <p:spPr>
          <a:xfrm>
            <a:off x="5224272" y="9034272"/>
            <a:ext cx="1606296" cy="292608"/>
          </a:xfrm>
          <a:prstGeom prst="rect">
            <a:avLst/>
          </a:prstGeom>
          <a:noFill/>
          <a:ln/>
        </p:spPr>
        <p:txBody>
          <a:bodyPr wrap="square" lIns="0" tIns="0" rIns="0" bIns="0" rtlCol="0" anchor="ctr"/>
          <a:lstStyle/>
          <a:p>
            <a:pPr indent="0" marL="0">
              <a:buNone/>
            </a:pPr>
            <a:r>
              <a:rPr lang="en-US" sz="1100" b="1" dirty="0">
                <a:solidFill>
                  <a:schemeClr val="accent6"/>
                </a:solidFill>
              </a:rPr>
              <a:t>09/2026</a:t>
            </a:r>
            <a:endParaRPr lang="en-US" sz="11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2" type="body" hasCustomPrompt="1"/>
          </p:nvPr>
        </p:nvSpPr>
        <p:spPr>
          <a:xfrm>
            <a:off x="502920" y="384048"/>
            <a:ext cx="5120640" cy="228600"/>
          </a:xfrm>
          <a:prstGeom prst="rect">
            <a:avLst/>
          </a:prstGeom>
          <a:noFill/>
          <a:ln/>
        </p:spPr>
        <p:txBody>
          <a:bodyPr wrap="square" lIns="0" tIns="0" rIns="0" bIns="0" rtlCol="0" anchor="ctr"/>
          <a:lstStyle/>
          <a:p>
            <a:pPr algn="l" indent="0" marL="0">
              <a:buNone/>
            </a:pPr>
            <a:r>
              <a:rPr lang="en-US" sz="900" b="1" spc="200" kern="0" dirty="0">
                <a:solidFill>
                  <a:schemeClr val="accent1"/>
                </a:solidFill>
              </a:rPr>
              <a:t>CAM KẾT</a:t>
            </a:r>
            <a:endParaRPr lang="en-US" sz="900" dirty="0"/>
          </a:p>
        </p:txBody>
      </p:sp>
      <p:sp>
        <p:nvSpPr>
          <p:cNvPr id="3" name="Text 1"/>
          <p:cNvSpPr/>
          <p:nvPr>
            <p:ph idx="103" type="title" hasCustomPrompt="1"/>
          </p:nvPr>
        </p:nvSpPr>
        <p:spPr>
          <a:xfrm>
            <a:off x="502920" y="621792"/>
            <a:ext cx="5852160" cy="502920"/>
          </a:xfrm>
          <a:prstGeom prst="rect">
            <a:avLst/>
          </a:prstGeom>
          <a:noFill/>
          <a:ln/>
        </p:spPr>
        <p:txBody>
          <a:bodyPr wrap="square" lIns="0" tIns="0" rIns="0" bIns="0" rtlCol="0" anchor="ctr"/>
          <a:lstStyle/>
          <a:p>
            <a:pPr algn="l" indent="0" marL="0">
              <a:buNone/>
            </a:pPr>
            <a:r>
              <a:rPr lang="en-US" sz="2200" b="1" dirty="0">
                <a:solidFill>
                  <a:schemeClr val="tx2"/>
                </a:solidFill>
              </a:rPr>
              <a:t>Cam kết của BLT với khách hàng</a:t>
            </a:r>
            <a:endParaRPr lang="en-US" sz="2200" dirty="0"/>
          </a:p>
        </p:txBody>
      </p:sp>
      <p:sp>
        <p:nvSpPr>
          <p:cNvPr id="4" name="Shape 2"/>
          <p:cNvSpPr/>
          <p:nvPr/>
        </p:nvSpPr>
        <p:spPr>
          <a:xfrm>
            <a:off x="502920" y="1463040"/>
            <a:ext cx="6556248" cy="1463040"/>
          </a:xfrm>
          <a:prstGeom prst="roundRect">
            <a:avLst>
              <a:gd name="adj" fmla="val 5000"/>
            </a:avLst>
          </a:prstGeom>
          <a:solidFill>
            <a:schemeClr val="tx2"/>
          </a:solidFill>
          <a:ln w="12700">
            <a:solidFill>
              <a:schemeClr val="tx2"/>
            </a:solidFill>
            <a:prstDash val="solid"/>
          </a:ln>
        </p:spPr>
      </p:sp>
      <p:sp>
        <p:nvSpPr>
          <p:cNvPr id="5" name="Text 3"/>
          <p:cNvSpPr txBox="1"/>
          <p:nvPr/>
        </p:nvSpPr>
        <p:spPr>
          <a:xfrm>
            <a:off x="822960" y="1645920"/>
            <a:ext cx="5916168" cy="548640"/>
          </a:xfrm>
          <a:prstGeom prst="rect">
            <a:avLst/>
          </a:prstGeom>
          <a:noFill/>
          <a:ln/>
        </p:spPr>
        <p:txBody>
          <a:bodyPr wrap="square" lIns="0" tIns="0" rIns="0" bIns="0" rtlCol="0" anchor="ctr"/>
          <a:lstStyle/>
          <a:p>
            <a:pPr indent="0" marL="0">
              <a:buNone/>
            </a:pPr>
            <a:r>
              <a:rPr lang="en-US" sz="1700" b="1" dirty="0">
                <a:solidFill>
                  <a:schemeClr val="bg1"/>
                </a:solidFill>
                <a:latin typeface="Arial" pitchFamily="34" charset="0"/>
                <a:ea typeface="Arial" pitchFamily="34" charset="-122"/>
                <a:cs typeface="Arial" pitchFamily="34" charset="-120"/>
              </a:rPr>
              <a:t>“Giải pháp điện nước – </a:t>
            </a:r>
            <a:pPr indent="0" marL="0">
              <a:buNone/>
            </a:pPr>
            <a:r>
              <a:rPr lang="en-US" sz="1700" b="1" dirty="0">
                <a:solidFill>
                  <a:schemeClr val="accent1"/>
                </a:solidFill>
                <a:latin typeface="Arial" pitchFamily="34" charset="0"/>
                <a:ea typeface="Arial" pitchFamily="34" charset="-122"/>
                <a:cs typeface="Arial" pitchFamily="34" charset="-120"/>
              </a:rPr>
              <a:t>Uy tín &amp; Chất lượng</a:t>
            </a:r>
            <a:pPr indent="0" marL="0">
              <a:buNone/>
            </a:pPr>
            <a:r>
              <a:rPr lang="en-US" sz="1700" b="1" dirty="0">
                <a:solidFill>
                  <a:schemeClr val="bg1"/>
                </a:solidFill>
                <a:latin typeface="Arial" pitchFamily="34" charset="0"/>
                <a:ea typeface="Arial" pitchFamily="34" charset="-122"/>
                <a:cs typeface="Arial" pitchFamily="34" charset="-120"/>
              </a:rPr>
              <a:t>”</a:t>
            </a:r>
            <a:endParaRPr lang="en-US" sz="1700" dirty="0"/>
          </a:p>
        </p:txBody>
      </p:sp>
      <p:sp>
        <p:nvSpPr>
          <p:cNvPr id="6" name="Text 4"/>
          <p:cNvSpPr txBox="1"/>
          <p:nvPr/>
        </p:nvSpPr>
        <p:spPr>
          <a:xfrm>
            <a:off x="822960" y="2331720"/>
            <a:ext cx="5916168" cy="411480"/>
          </a:xfrm>
          <a:prstGeom prst="rect">
            <a:avLst/>
          </a:prstGeom>
          <a:noFill/>
          <a:ln/>
        </p:spPr>
        <p:txBody>
          <a:bodyPr wrap="square" lIns="0" tIns="0" rIns="0" bIns="0" rtlCol="0" anchor="t"/>
          <a:lstStyle/>
          <a:p>
            <a:pPr indent="0" marL="0">
              <a:buNone/>
            </a:pPr>
            <a:r>
              <a:rPr lang="en-US" sz="1100" i="1" dirty="0">
                <a:solidFill>
                  <a:schemeClr val="accent6"/>
                </a:solidFill>
              </a:rPr>
              <a:t>Mỗi công trình BLT nhận là một cam kết về chất lượng, tiến độ và an toàn.</a:t>
            </a:r>
            <a:endParaRPr lang="en-US" sz="1100" dirty="0"/>
          </a:p>
        </p:txBody>
      </p:sp>
      <p:sp>
        <p:nvSpPr>
          <p:cNvPr id="7" name="Shape 5"/>
          <p:cNvSpPr/>
          <p:nvPr/>
        </p:nvSpPr>
        <p:spPr>
          <a:xfrm>
            <a:off x="502920" y="3200400"/>
            <a:ext cx="3186684" cy="1325880"/>
          </a:xfrm>
          <a:prstGeom prst="roundRect">
            <a:avLst>
              <a:gd name="adj" fmla="val 5517"/>
            </a:avLst>
          </a:prstGeom>
          <a:solidFill>
            <a:schemeClr val="bg2"/>
          </a:solidFill>
          <a:ln w="12700">
            <a:solidFill>
              <a:schemeClr val="bg2"/>
            </a:solidFill>
            <a:prstDash val="solid"/>
          </a:ln>
        </p:spPr>
      </p:sp>
      <p:sp>
        <p:nvSpPr>
          <p:cNvPr id="8" name="Shape 6"/>
          <p:cNvSpPr/>
          <p:nvPr/>
        </p:nvSpPr>
        <p:spPr>
          <a:xfrm>
            <a:off x="640080" y="3337560"/>
            <a:ext cx="365760" cy="365760"/>
          </a:xfrm>
          <a:prstGeom prst="ellipse">
            <a:avLst/>
          </a:prstGeom>
          <a:solidFill>
            <a:schemeClr val="accent1"/>
          </a:solidFill>
          <a:ln w="12700">
            <a:solidFill>
              <a:schemeClr val="accent1"/>
            </a:solidFill>
            <a:prstDash val="solid"/>
          </a:ln>
        </p:spPr>
      </p:sp>
      <p:sp>
        <p:nvSpPr>
          <p:cNvPr id="9" name="Text 7"/>
          <p:cNvSpPr txBox="1"/>
          <p:nvPr/>
        </p:nvSpPr>
        <p:spPr>
          <a:xfrm>
            <a:off x="640080" y="33375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01</a:t>
            </a:r>
            <a:endParaRPr lang="en-US" sz="1050" dirty="0"/>
          </a:p>
        </p:txBody>
      </p:sp>
      <p:sp>
        <p:nvSpPr>
          <p:cNvPr id="10" name="Text 8"/>
          <p:cNvSpPr txBox="1"/>
          <p:nvPr/>
        </p:nvSpPr>
        <p:spPr>
          <a:xfrm>
            <a:off x="1097280" y="33192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CHẤT LƯỢNG</a:t>
            </a:r>
            <a:endParaRPr lang="en-US" sz="1050" dirty="0"/>
          </a:p>
        </p:txBody>
      </p:sp>
      <p:sp>
        <p:nvSpPr>
          <p:cNvPr id="11" name="Text 9"/>
          <p:cNvSpPr txBox="1"/>
          <p:nvPr/>
        </p:nvSpPr>
        <p:spPr>
          <a:xfrm>
            <a:off x="1097280" y="3749040"/>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Thi công đúng bản vẽ, đúng chủng loại vật tư đã thống nhất; thử nghiệm đầy đủ trước khi nghiệm thu.</a:t>
            </a:r>
            <a:endParaRPr lang="en-US" sz="950" dirty="0"/>
          </a:p>
        </p:txBody>
      </p:sp>
      <p:sp>
        <p:nvSpPr>
          <p:cNvPr id="12" name="Shape 10"/>
          <p:cNvSpPr/>
          <p:nvPr/>
        </p:nvSpPr>
        <p:spPr>
          <a:xfrm>
            <a:off x="3872484" y="3200400"/>
            <a:ext cx="3186684" cy="1325880"/>
          </a:xfrm>
          <a:prstGeom prst="roundRect">
            <a:avLst>
              <a:gd name="adj" fmla="val 5517"/>
            </a:avLst>
          </a:prstGeom>
          <a:solidFill>
            <a:schemeClr val="bg2"/>
          </a:solidFill>
          <a:ln w="12700">
            <a:solidFill>
              <a:schemeClr val="bg2"/>
            </a:solidFill>
            <a:prstDash val="solid"/>
          </a:ln>
        </p:spPr>
      </p:sp>
      <p:sp>
        <p:nvSpPr>
          <p:cNvPr id="13" name="Shape 11"/>
          <p:cNvSpPr/>
          <p:nvPr/>
        </p:nvSpPr>
        <p:spPr>
          <a:xfrm>
            <a:off x="4009644" y="3337560"/>
            <a:ext cx="365760" cy="365760"/>
          </a:xfrm>
          <a:prstGeom prst="ellipse">
            <a:avLst/>
          </a:prstGeom>
          <a:solidFill>
            <a:schemeClr val="accent1"/>
          </a:solidFill>
          <a:ln w="12700">
            <a:solidFill>
              <a:schemeClr val="accent1"/>
            </a:solidFill>
            <a:prstDash val="solid"/>
          </a:ln>
        </p:spPr>
      </p:sp>
      <p:sp>
        <p:nvSpPr>
          <p:cNvPr id="14" name="Text 12"/>
          <p:cNvSpPr txBox="1"/>
          <p:nvPr/>
        </p:nvSpPr>
        <p:spPr>
          <a:xfrm>
            <a:off x="4009644" y="3337560"/>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02</a:t>
            </a:r>
            <a:endParaRPr lang="en-US" sz="1050" dirty="0"/>
          </a:p>
        </p:txBody>
      </p:sp>
      <p:sp>
        <p:nvSpPr>
          <p:cNvPr id="15" name="Text 13"/>
          <p:cNvSpPr txBox="1"/>
          <p:nvPr/>
        </p:nvSpPr>
        <p:spPr>
          <a:xfrm>
            <a:off x="4466844" y="3319272"/>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TIẾN ĐỘ</a:t>
            </a:r>
            <a:endParaRPr lang="en-US" sz="1050" dirty="0"/>
          </a:p>
        </p:txBody>
      </p:sp>
      <p:sp>
        <p:nvSpPr>
          <p:cNvPr id="16" name="Text 14"/>
          <p:cNvSpPr txBox="1"/>
          <p:nvPr/>
        </p:nvSpPr>
        <p:spPr>
          <a:xfrm>
            <a:off x="4466844" y="3749040"/>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Bố trí đủ nhân lực, thiết bị; báo cáo tiến độ và hình ảnh hiện trường hằng ngày.</a:t>
            </a:r>
            <a:endParaRPr lang="en-US" sz="950" dirty="0"/>
          </a:p>
        </p:txBody>
      </p:sp>
      <p:sp>
        <p:nvSpPr>
          <p:cNvPr id="17" name="Shape 15"/>
          <p:cNvSpPr/>
          <p:nvPr/>
        </p:nvSpPr>
        <p:spPr>
          <a:xfrm>
            <a:off x="502920" y="4690872"/>
            <a:ext cx="3186684" cy="1325880"/>
          </a:xfrm>
          <a:prstGeom prst="roundRect">
            <a:avLst>
              <a:gd name="adj" fmla="val 5517"/>
            </a:avLst>
          </a:prstGeom>
          <a:solidFill>
            <a:schemeClr val="bg2"/>
          </a:solidFill>
          <a:ln w="12700">
            <a:solidFill>
              <a:schemeClr val="bg2"/>
            </a:solidFill>
            <a:prstDash val="solid"/>
          </a:ln>
        </p:spPr>
      </p:sp>
      <p:sp>
        <p:nvSpPr>
          <p:cNvPr id="18" name="Shape 16"/>
          <p:cNvSpPr/>
          <p:nvPr/>
        </p:nvSpPr>
        <p:spPr>
          <a:xfrm>
            <a:off x="640080" y="4828032"/>
            <a:ext cx="365760" cy="365760"/>
          </a:xfrm>
          <a:prstGeom prst="ellipse">
            <a:avLst/>
          </a:prstGeom>
          <a:solidFill>
            <a:schemeClr val="accent1"/>
          </a:solidFill>
          <a:ln w="12700">
            <a:solidFill>
              <a:schemeClr val="accent1"/>
            </a:solidFill>
            <a:prstDash val="solid"/>
          </a:ln>
        </p:spPr>
      </p:sp>
      <p:sp>
        <p:nvSpPr>
          <p:cNvPr id="19" name="Text 17"/>
          <p:cNvSpPr txBox="1"/>
          <p:nvPr/>
        </p:nvSpPr>
        <p:spPr>
          <a:xfrm>
            <a:off x="640080" y="4828032"/>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03</a:t>
            </a:r>
            <a:endParaRPr lang="en-US" sz="1050" dirty="0"/>
          </a:p>
        </p:txBody>
      </p:sp>
      <p:sp>
        <p:nvSpPr>
          <p:cNvPr id="20" name="Text 18"/>
          <p:cNvSpPr txBox="1"/>
          <p:nvPr/>
        </p:nvSpPr>
        <p:spPr>
          <a:xfrm>
            <a:off x="1097280" y="4809744"/>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AN TOÀN</a:t>
            </a:r>
            <a:endParaRPr lang="en-US" sz="1050" dirty="0"/>
          </a:p>
        </p:txBody>
      </p:sp>
      <p:sp>
        <p:nvSpPr>
          <p:cNvPr id="21" name="Text 19"/>
          <p:cNvSpPr txBox="1"/>
          <p:nvPr/>
        </p:nvSpPr>
        <p:spPr>
          <a:xfrm>
            <a:off x="1097280" y="5239512"/>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Tuân thủ quy định an toàn lao động, PCCC và nội quy công trường, nhà máy.</a:t>
            </a:r>
            <a:endParaRPr lang="en-US" sz="950" dirty="0"/>
          </a:p>
        </p:txBody>
      </p:sp>
      <p:sp>
        <p:nvSpPr>
          <p:cNvPr id="22" name="Shape 20"/>
          <p:cNvSpPr/>
          <p:nvPr/>
        </p:nvSpPr>
        <p:spPr>
          <a:xfrm>
            <a:off x="3872484" y="4690872"/>
            <a:ext cx="3186684" cy="1325880"/>
          </a:xfrm>
          <a:prstGeom prst="roundRect">
            <a:avLst>
              <a:gd name="adj" fmla="val 5517"/>
            </a:avLst>
          </a:prstGeom>
          <a:solidFill>
            <a:schemeClr val="bg2"/>
          </a:solidFill>
          <a:ln w="12700">
            <a:solidFill>
              <a:schemeClr val="bg2"/>
            </a:solidFill>
            <a:prstDash val="solid"/>
          </a:ln>
        </p:spPr>
      </p:sp>
      <p:sp>
        <p:nvSpPr>
          <p:cNvPr id="23" name="Shape 21"/>
          <p:cNvSpPr/>
          <p:nvPr/>
        </p:nvSpPr>
        <p:spPr>
          <a:xfrm>
            <a:off x="4009644" y="4828032"/>
            <a:ext cx="365760" cy="365760"/>
          </a:xfrm>
          <a:prstGeom prst="ellipse">
            <a:avLst/>
          </a:prstGeom>
          <a:solidFill>
            <a:schemeClr val="accent1"/>
          </a:solidFill>
          <a:ln w="12700">
            <a:solidFill>
              <a:schemeClr val="accent1"/>
            </a:solidFill>
            <a:prstDash val="solid"/>
          </a:ln>
        </p:spPr>
      </p:sp>
      <p:sp>
        <p:nvSpPr>
          <p:cNvPr id="24" name="Text 22"/>
          <p:cNvSpPr txBox="1"/>
          <p:nvPr/>
        </p:nvSpPr>
        <p:spPr>
          <a:xfrm>
            <a:off x="4009644" y="4828032"/>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04</a:t>
            </a:r>
            <a:endParaRPr lang="en-US" sz="1050" dirty="0"/>
          </a:p>
        </p:txBody>
      </p:sp>
      <p:sp>
        <p:nvSpPr>
          <p:cNvPr id="25" name="Text 23"/>
          <p:cNvSpPr txBox="1"/>
          <p:nvPr/>
        </p:nvSpPr>
        <p:spPr>
          <a:xfrm>
            <a:off x="4466844" y="4809744"/>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MINH BẠCH</a:t>
            </a:r>
            <a:endParaRPr lang="en-US" sz="1050" dirty="0"/>
          </a:p>
        </p:txBody>
      </p:sp>
      <p:sp>
        <p:nvSpPr>
          <p:cNvPr id="26" name="Text 24"/>
          <p:cNvSpPr txBox="1"/>
          <p:nvPr/>
        </p:nvSpPr>
        <p:spPr>
          <a:xfrm>
            <a:off x="4466844" y="5239512"/>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Khối lượng, đơn giá và phát sinh rõ ràng, có xác nhận trước khi thực hiện.</a:t>
            </a:r>
            <a:endParaRPr lang="en-US" sz="950" dirty="0"/>
          </a:p>
        </p:txBody>
      </p:sp>
      <p:sp>
        <p:nvSpPr>
          <p:cNvPr id="27" name="Shape 25"/>
          <p:cNvSpPr/>
          <p:nvPr/>
        </p:nvSpPr>
        <p:spPr>
          <a:xfrm>
            <a:off x="502920" y="6181344"/>
            <a:ext cx="3186684" cy="1325880"/>
          </a:xfrm>
          <a:prstGeom prst="roundRect">
            <a:avLst>
              <a:gd name="adj" fmla="val 5517"/>
            </a:avLst>
          </a:prstGeom>
          <a:solidFill>
            <a:schemeClr val="bg2"/>
          </a:solidFill>
          <a:ln w="12700">
            <a:solidFill>
              <a:schemeClr val="bg2"/>
            </a:solidFill>
            <a:prstDash val="solid"/>
          </a:ln>
        </p:spPr>
      </p:sp>
      <p:sp>
        <p:nvSpPr>
          <p:cNvPr id="28" name="Shape 26"/>
          <p:cNvSpPr/>
          <p:nvPr/>
        </p:nvSpPr>
        <p:spPr>
          <a:xfrm>
            <a:off x="640080" y="6318504"/>
            <a:ext cx="365760" cy="365760"/>
          </a:xfrm>
          <a:prstGeom prst="ellipse">
            <a:avLst/>
          </a:prstGeom>
          <a:solidFill>
            <a:schemeClr val="accent1"/>
          </a:solidFill>
          <a:ln w="12700">
            <a:solidFill>
              <a:schemeClr val="accent1"/>
            </a:solidFill>
            <a:prstDash val="solid"/>
          </a:ln>
        </p:spPr>
      </p:sp>
      <p:sp>
        <p:nvSpPr>
          <p:cNvPr id="29" name="Text 27"/>
          <p:cNvSpPr txBox="1"/>
          <p:nvPr/>
        </p:nvSpPr>
        <p:spPr>
          <a:xfrm>
            <a:off x="640080" y="631850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05</a:t>
            </a:r>
            <a:endParaRPr lang="en-US" sz="1050" dirty="0"/>
          </a:p>
        </p:txBody>
      </p:sp>
      <p:sp>
        <p:nvSpPr>
          <p:cNvPr id="30" name="Text 28"/>
          <p:cNvSpPr txBox="1"/>
          <p:nvPr/>
        </p:nvSpPr>
        <p:spPr>
          <a:xfrm>
            <a:off x="1097280" y="630021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BẢO HÀNH</a:t>
            </a:r>
            <a:endParaRPr lang="en-US" sz="1050" dirty="0"/>
          </a:p>
        </p:txBody>
      </p:sp>
      <p:sp>
        <p:nvSpPr>
          <p:cNvPr id="31" name="Text 29"/>
          <p:cNvSpPr txBox="1"/>
          <p:nvPr/>
        </p:nvSpPr>
        <p:spPr>
          <a:xfrm>
            <a:off x="1097280" y="6729984"/>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Bảo hành 12 tháng kể từ ngày nghiệm thu bàn giao (hoặc theo hợp đồng); phản hồi sự cố nhanh chóng.</a:t>
            </a:r>
            <a:endParaRPr lang="en-US" sz="950" dirty="0"/>
          </a:p>
        </p:txBody>
      </p:sp>
      <p:sp>
        <p:nvSpPr>
          <p:cNvPr id="32" name="Shape 30"/>
          <p:cNvSpPr/>
          <p:nvPr/>
        </p:nvSpPr>
        <p:spPr>
          <a:xfrm>
            <a:off x="3872484" y="6181344"/>
            <a:ext cx="3186684" cy="1325880"/>
          </a:xfrm>
          <a:prstGeom prst="roundRect">
            <a:avLst>
              <a:gd name="adj" fmla="val 5517"/>
            </a:avLst>
          </a:prstGeom>
          <a:solidFill>
            <a:schemeClr val="bg2"/>
          </a:solidFill>
          <a:ln w="12700">
            <a:solidFill>
              <a:schemeClr val="bg2"/>
            </a:solidFill>
            <a:prstDash val="solid"/>
          </a:ln>
        </p:spPr>
      </p:sp>
      <p:sp>
        <p:nvSpPr>
          <p:cNvPr id="33" name="Shape 31"/>
          <p:cNvSpPr/>
          <p:nvPr/>
        </p:nvSpPr>
        <p:spPr>
          <a:xfrm>
            <a:off x="4009644" y="6318504"/>
            <a:ext cx="365760" cy="365760"/>
          </a:xfrm>
          <a:prstGeom prst="ellipse">
            <a:avLst/>
          </a:prstGeom>
          <a:solidFill>
            <a:schemeClr val="accent1"/>
          </a:solidFill>
          <a:ln w="12700">
            <a:solidFill>
              <a:schemeClr val="accent1"/>
            </a:solidFill>
            <a:prstDash val="solid"/>
          </a:ln>
        </p:spPr>
      </p:sp>
      <p:sp>
        <p:nvSpPr>
          <p:cNvPr id="34" name="Text 32"/>
          <p:cNvSpPr txBox="1"/>
          <p:nvPr/>
        </p:nvSpPr>
        <p:spPr>
          <a:xfrm>
            <a:off x="4009644" y="6318504"/>
            <a:ext cx="365760" cy="365760"/>
          </a:xfrm>
          <a:prstGeom prst="rect">
            <a:avLst/>
          </a:prstGeom>
          <a:noFill/>
          <a:ln/>
        </p:spPr>
        <p:txBody>
          <a:bodyPr wrap="square" lIns="0" tIns="0" rIns="0" bIns="0" rtlCol="0" anchor="ctr"/>
          <a:lstStyle/>
          <a:p>
            <a:pPr algn="ctr" indent="0" marL="0">
              <a:buNone/>
            </a:pPr>
            <a:r>
              <a:rPr lang="en-US" sz="1050" b="1" dirty="0">
                <a:solidFill>
                  <a:schemeClr val="bg1"/>
                </a:solidFill>
                <a:latin typeface="Arial" pitchFamily="34" charset="0"/>
                <a:ea typeface="Arial" pitchFamily="34" charset="-122"/>
                <a:cs typeface="Arial" pitchFamily="34" charset="-120"/>
              </a:rPr>
              <a:t>06</a:t>
            </a:r>
            <a:endParaRPr lang="en-US" sz="1050" dirty="0"/>
          </a:p>
        </p:txBody>
      </p:sp>
      <p:sp>
        <p:nvSpPr>
          <p:cNvPr id="35" name="Text 33"/>
          <p:cNvSpPr txBox="1"/>
          <p:nvPr/>
        </p:nvSpPr>
        <p:spPr>
          <a:xfrm>
            <a:off x="4466844" y="6300216"/>
            <a:ext cx="2455164" cy="402336"/>
          </a:xfrm>
          <a:prstGeom prst="rect">
            <a:avLst/>
          </a:prstGeom>
          <a:noFill/>
          <a:ln/>
        </p:spPr>
        <p:txBody>
          <a:bodyPr wrap="square" lIns="0" tIns="0" rIns="0" bIns="0" rtlCol="0" anchor="ctr"/>
          <a:lstStyle/>
          <a:p>
            <a:pPr indent="0" marL="0">
              <a:buNone/>
            </a:pPr>
            <a:r>
              <a:rPr lang="en-US" sz="1050" b="1" dirty="0">
                <a:solidFill>
                  <a:schemeClr val="tx2"/>
                </a:solidFill>
                <a:latin typeface="Arial" pitchFamily="34" charset="0"/>
                <a:ea typeface="Arial" pitchFamily="34" charset="-122"/>
                <a:cs typeface="Arial" pitchFamily="34" charset="-120"/>
              </a:rPr>
              <a:t>ĐỒNG HÀNH</a:t>
            </a:r>
            <a:endParaRPr lang="en-US" sz="1050" dirty="0"/>
          </a:p>
        </p:txBody>
      </p:sp>
      <p:sp>
        <p:nvSpPr>
          <p:cNvPr id="36" name="Text 34"/>
          <p:cNvSpPr txBox="1"/>
          <p:nvPr/>
        </p:nvSpPr>
        <p:spPr>
          <a:xfrm>
            <a:off x="4466844" y="6729984"/>
            <a:ext cx="2455164" cy="685800"/>
          </a:xfrm>
          <a:prstGeom prst="rect">
            <a:avLst/>
          </a:prstGeom>
          <a:noFill/>
          <a:ln/>
        </p:spPr>
        <p:txBody>
          <a:bodyPr wrap="square" lIns="0" tIns="0" rIns="0" bIns="0" rtlCol="0" anchor="t"/>
          <a:lstStyle/>
          <a:p>
            <a:pPr indent="0" marL="0">
              <a:spcAft>
                <a:spcPts val="200"/>
              </a:spcAft>
              <a:buNone/>
            </a:pPr>
            <a:r>
              <a:rPr lang="en-US" sz="950" dirty="0">
                <a:solidFill>
                  <a:schemeClr val="tx1"/>
                </a:solidFill>
              </a:rPr>
              <a:t>Hỗ trợ bảo trì, sửa chữa, cải tạo, mở rộng hệ thống sau bàn giao.</a:t>
            </a:r>
            <a:endParaRPr lang="en-US" sz="950" dirty="0"/>
          </a:p>
        </p:txBody>
      </p:sp>
      <p:sp>
        <p:nvSpPr>
          <p:cNvPr id="37" name="Shape 35"/>
          <p:cNvSpPr/>
          <p:nvPr/>
        </p:nvSpPr>
        <p:spPr>
          <a:xfrm>
            <a:off x="502920" y="7863840"/>
            <a:ext cx="6556248" cy="1828800"/>
          </a:xfrm>
          <a:prstGeom prst="roundRect">
            <a:avLst>
              <a:gd name="adj" fmla="val 4000"/>
            </a:avLst>
          </a:prstGeom>
          <a:solidFill>
            <a:schemeClr val="bg2"/>
          </a:solidFill>
          <a:ln w="15875">
            <a:solidFill>
              <a:schemeClr val="accent1"/>
            </a:solidFill>
            <a:prstDash val="solid"/>
          </a:ln>
        </p:spPr>
      </p:sp>
      <p:sp>
        <p:nvSpPr>
          <p:cNvPr id="38" name="Text 36"/>
          <p:cNvSpPr txBox="1"/>
          <p:nvPr/>
        </p:nvSpPr>
        <p:spPr>
          <a:xfrm>
            <a:off x="777240" y="8028432"/>
            <a:ext cx="6007608" cy="228600"/>
          </a:xfrm>
          <a:prstGeom prst="rect">
            <a:avLst/>
          </a:prstGeom>
          <a:noFill/>
          <a:ln/>
        </p:spPr>
        <p:txBody>
          <a:bodyPr wrap="square" lIns="0" tIns="0" rIns="0" bIns="0" rtlCol="0" anchor="ctr"/>
          <a:lstStyle/>
          <a:p>
            <a:pPr indent="0" marL="0">
              <a:buNone/>
            </a:pPr>
            <a:r>
              <a:rPr lang="en-US" sz="900" b="1" spc="200" kern="0" dirty="0">
                <a:solidFill>
                  <a:schemeClr val="tx2"/>
                </a:solidFill>
                <a:latin typeface="Arial" pitchFamily="34" charset="0"/>
                <a:ea typeface="Arial" pitchFamily="34" charset="-122"/>
                <a:cs typeface="Arial" pitchFamily="34" charset="-120"/>
              </a:rPr>
              <a:t>LIÊN HỆ KHẢO SÁT – TƯ VẤN – BÁO GIÁ</a:t>
            </a:r>
            <a:endParaRPr lang="en-US" sz="900" dirty="0"/>
          </a:p>
        </p:txBody>
      </p:sp>
      <p:sp>
        <p:nvSpPr>
          <p:cNvPr id="39" name="Text 37"/>
          <p:cNvSpPr txBox="1"/>
          <p:nvPr/>
        </p:nvSpPr>
        <p:spPr>
          <a:xfrm>
            <a:off x="777240" y="8321040"/>
            <a:ext cx="3108960" cy="548640"/>
          </a:xfrm>
          <a:prstGeom prst="rect">
            <a:avLst/>
          </a:prstGeom>
          <a:noFill/>
          <a:ln/>
        </p:spPr>
        <p:txBody>
          <a:bodyPr wrap="square" lIns="0" tIns="0" rIns="0" bIns="0" rtlCol="0" anchor="ctr"/>
          <a:lstStyle/>
          <a:p>
            <a:pPr indent="0" marL="0">
              <a:buNone/>
            </a:pPr>
            <a:r>
              <a:rPr lang="en-US" sz="2800" b="1" dirty="0">
                <a:solidFill>
                  <a:schemeClr val="accent1"/>
                </a:solidFill>
                <a:latin typeface="Arial" pitchFamily="34" charset="0"/>
                <a:ea typeface="Arial" pitchFamily="34" charset="-122"/>
                <a:cs typeface="Arial" pitchFamily="34" charset="-120"/>
              </a:rPr>
              <a:t>0984 586 089</a:t>
            </a:r>
            <a:endParaRPr lang="en-US" sz="2800" dirty="0"/>
          </a:p>
        </p:txBody>
      </p:sp>
      <p:sp>
        <p:nvSpPr>
          <p:cNvPr id="40" name="Text 38"/>
          <p:cNvSpPr txBox="1"/>
          <p:nvPr/>
        </p:nvSpPr>
        <p:spPr>
          <a:xfrm>
            <a:off x="3977640" y="8275320"/>
            <a:ext cx="2807208" cy="731520"/>
          </a:xfrm>
          <a:prstGeom prst="rect">
            <a:avLst/>
          </a:prstGeom>
          <a:noFill/>
          <a:ln/>
        </p:spPr>
        <p:txBody>
          <a:bodyPr wrap="square" lIns="0" tIns="0" rIns="0" bIns="0" rtlCol="0" anchor="ctr"/>
          <a:lstStyle/>
          <a:p>
            <a:pPr indent="0" marL="0">
              <a:spcAft>
                <a:spcPts val="300"/>
              </a:spcAft>
              <a:buNone/>
            </a:pPr>
            <a:r>
              <a:rPr lang="en-US" sz="1000" b="1" dirty="0">
                <a:solidFill>
                  <a:schemeClr val="tx1"/>
                </a:solidFill>
              </a:rPr>
              <a:t>Ông HỒ VĂN BÌNH – Giám đốc</a:t>
            </a:r>
            <a:endParaRPr lang="en-US" sz="1000" dirty="0"/>
          </a:p>
          <a:p>
            <a:pPr indent="0" marL="0">
              <a:spcAft>
                <a:spcPts val="300"/>
              </a:spcAft>
              <a:buNone/>
            </a:pPr>
            <a:r>
              <a:rPr lang="en-US" sz="1000" dirty="0">
                <a:solidFill>
                  <a:schemeClr val="tx1"/>
                </a:solidFill>
              </a:rPr>
              <a:t>hobinh150589@gmail.com</a:t>
            </a:r>
            <a:endParaRPr lang="en-US" sz="1000" dirty="0"/>
          </a:p>
          <a:p>
            <a:pPr indent="0" marL="0">
              <a:spcAft>
                <a:spcPts val="300"/>
              </a:spcAft>
              <a:buNone/>
            </a:pPr>
            <a:r>
              <a:rPr lang="en-US" sz="1000" dirty="0">
                <a:solidFill>
                  <a:schemeClr val="tx1"/>
                </a:solidFill>
              </a:rPr>
              <a:t>Điện • Cấp thoát nước • Hút sương dầu • Bơm &amp; xử lý nước</a:t>
            </a:r>
            <a:endParaRPr lang="en-US" sz="1000" dirty="0"/>
          </a:p>
        </p:txBody>
      </p:sp>
      <p:sp>
        <p:nvSpPr>
          <p:cNvPr id="41" name="Text 39"/>
          <p:cNvSpPr txBox="1"/>
          <p:nvPr/>
        </p:nvSpPr>
        <p:spPr>
          <a:xfrm>
            <a:off x="777240" y="9098280"/>
            <a:ext cx="6007608" cy="411480"/>
          </a:xfrm>
          <a:prstGeom prst="rect">
            <a:avLst/>
          </a:prstGeom>
          <a:noFill/>
          <a:ln/>
        </p:spPr>
        <p:txBody>
          <a:bodyPr wrap="square" lIns="0" tIns="0" rIns="0" bIns="0" rtlCol="0" anchor="t"/>
          <a:lstStyle/>
          <a:p>
            <a:pPr indent="0" marL="0">
              <a:buNone/>
            </a:pPr>
            <a:r>
              <a:rPr lang="en-US" sz="900" dirty="0">
                <a:solidFill>
                  <a:schemeClr val="accent3"/>
                </a:solidFill>
              </a:rPr>
              <a:t>Số 2A đường Nguyễn Khánh Toàn, khối Trường Phúc, phường Trường Vinh, tỉnh Nghệ An, Việt Nam</a:t>
            </a:r>
            <a:endParaRPr lang="en-US" sz="90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tx2"/>
                </a:solidFill>
              </a:defRPr>
            </a:lvl1pPr>
          </a:lstStyle>
          <a:p>
            <a:pPr algn="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photo img79.jpg" descr="Ảnh hiện trường BLT">    </p:cNvPr>
          <p:cNvPicPr>
            <a:picLocks noChangeAspect="1"/>
          </p:cNvPicPr>
          <p:nvPr/>
        </p:nvPicPr>
        <p:blipFill>
          <a:blip r:embed="rId1"/>
          <a:stretch>
            <a:fillRect/>
          </a:stretch>
        </p:blipFill>
        <p:spPr>
          <a:xfrm>
            <a:off x="0" y="0"/>
            <a:ext cx="7562088" cy="4206240"/>
          </a:xfrm>
          <a:prstGeom prst="rect">
            <a:avLst/>
          </a:prstGeom>
        </p:spPr>
      </p:pic>
      <p:sp>
        <p:nvSpPr>
          <p:cNvPr id="3" name="Shape 0"/>
          <p:cNvSpPr/>
          <p:nvPr/>
        </p:nvSpPr>
        <p:spPr>
          <a:xfrm>
            <a:off x="0" y="0"/>
            <a:ext cx="7562088" cy="4206240"/>
          </a:xfrm>
          <a:prstGeom prst="rect">
            <a:avLst/>
          </a:prstGeom>
          <a:solidFill>
            <a:schemeClr val="tx2">
              <a:alpha val="30000"/>
            </a:schemeClr>
          </a:solidFill>
          <a:ln w="12700">
            <a:solidFill>
              <a:schemeClr val="tx2">
                <a:alpha val="0"/>
              </a:schemeClr>
            </a:solidFill>
            <a:prstDash val="solid"/>
          </a:ln>
        </p:spPr>
      </p:sp>
      <p:pic>
        <p:nvPicPr>
          <p:cNvPr id="4" name="logo" descr="preencoded.png">    </p:cNvPr>
          <p:cNvPicPr>
            <a:picLocks noChangeAspect="1"/>
          </p:cNvPicPr>
          <p:nvPr/>
        </p:nvPicPr>
        <p:blipFill>
          <a:blip r:embed="rId2"/>
          <a:stretch>
            <a:fillRect/>
          </a:stretch>
        </p:blipFill>
        <p:spPr>
          <a:xfrm>
            <a:off x="502920" y="411480"/>
            <a:ext cx="1280160" cy="1280160"/>
          </a:xfrm>
          <a:prstGeom prst="rect">
            <a:avLst/>
          </a:prstGeom>
        </p:spPr>
      </p:pic>
      <p:sp>
        <p:nvSpPr>
          <p:cNvPr id="5" name="Text 1"/>
          <p:cNvSpPr txBox="1"/>
          <p:nvPr/>
        </p:nvSpPr>
        <p:spPr>
          <a:xfrm>
            <a:off x="502920" y="4572000"/>
            <a:ext cx="6556248" cy="365760"/>
          </a:xfrm>
          <a:prstGeom prst="rect">
            <a:avLst/>
          </a:prstGeom>
          <a:noFill/>
          <a:ln/>
        </p:spPr>
        <p:txBody>
          <a:bodyPr wrap="square" lIns="0" tIns="0" rIns="0" bIns="0" rtlCol="0" anchor="ctr"/>
          <a:lstStyle/>
          <a:p>
            <a:pPr algn="ctr" indent="0" marL="0">
              <a:buNone/>
            </a:pPr>
            <a:r>
              <a:rPr lang="en-US" sz="1800" b="1" dirty="0">
                <a:solidFill>
                  <a:schemeClr val="bg1"/>
                </a:solidFill>
                <a:latin typeface="Arial" pitchFamily="34" charset="0"/>
                <a:ea typeface="Arial" pitchFamily="34" charset="-122"/>
                <a:cs typeface="Arial" pitchFamily="34" charset="-120"/>
              </a:rPr>
              <a:t>CẢM ƠN QUÝ KHÁCH HÀNG &amp; ĐỐI TÁC</a:t>
            </a:r>
            <a:endParaRPr lang="en-US" sz="1800" dirty="0"/>
          </a:p>
        </p:txBody>
      </p:sp>
      <p:sp>
        <p:nvSpPr>
          <p:cNvPr id="6" name="Text 2"/>
          <p:cNvSpPr txBox="1"/>
          <p:nvPr/>
        </p:nvSpPr>
        <p:spPr>
          <a:xfrm>
            <a:off x="502920" y="4983480"/>
            <a:ext cx="6556248" cy="274320"/>
          </a:xfrm>
          <a:prstGeom prst="rect">
            <a:avLst/>
          </a:prstGeom>
          <a:noFill/>
          <a:ln/>
        </p:spPr>
        <p:txBody>
          <a:bodyPr wrap="square" lIns="0" tIns="0" rIns="0" bIns="0" rtlCol="0" anchor="ctr"/>
          <a:lstStyle/>
          <a:p>
            <a:pPr algn="ctr" indent="0" marL="0">
              <a:buNone/>
            </a:pPr>
            <a:r>
              <a:rPr lang="en-US" sz="1100" i="1" dirty="0">
                <a:solidFill>
                  <a:schemeClr val="accent6"/>
                </a:solidFill>
              </a:rPr>
              <a:t>Rất hân hạnh được khảo sát, tư vấn và báo giá cho công trình của Quý vị</a:t>
            </a:r>
            <a:endParaRPr lang="en-US" sz="1100" dirty="0"/>
          </a:p>
        </p:txBody>
      </p:sp>
      <p:sp>
        <p:nvSpPr>
          <p:cNvPr id="7" name="Text 3"/>
          <p:cNvSpPr txBox="1"/>
          <p:nvPr/>
        </p:nvSpPr>
        <p:spPr>
          <a:xfrm>
            <a:off x="777240" y="5623560"/>
            <a:ext cx="1463040" cy="365760"/>
          </a:xfrm>
          <a:prstGeom prst="rect">
            <a:avLst/>
          </a:prstGeom>
          <a:noFill/>
          <a:ln/>
        </p:spPr>
        <p:txBody>
          <a:bodyPr wrap="square" lIns="0" tIns="0" rIns="0" bIns="0" rtlCol="0" anchor="t"/>
          <a:lstStyle/>
          <a:p>
            <a:pPr indent="0" marL="0">
              <a:buNone/>
            </a:pPr>
            <a:r>
              <a:rPr lang="en-US" sz="900" b="1" spc="100" kern="0" dirty="0">
                <a:solidFill>
                  <a:schemeClr val="accent1"/>
                </a:solidFill>
              </a:rPr>
              <a:t>CÔNG TY</a:t>
            </a:r>
            <a:endParaRPr lang="en-US" sz="900" dirty="0"/>
          </a:p>
        </p:txBody>
      </p:sp>
      <p:sp>
        <p:nvSpPr>
          <p:cNvPr id="8" name="Text 4"/>
          <p:cNvSpPr txBox="1"/>
          <p:nvPr/>
        </p:nvSpPr>
        <p:spPr>
          <a:xfrm>
            <a:off x="2286000" y="5623560"/>
            <a:ext cx="4498848" cy="365760"/>
          </a:xfrm>
          <a:prstGeom prst="rect">
            <a:avLst/>
          </a:prstGeom>
          <a:noFill/>
          <a:ln/>
        </p:spPr>
        <p:txBody>
          <a:bodyPr wrap="square" lIns="0" tIns="0" rIns="0" bIns="0" rtlCol="0" anchor="t"/>
          <a:lstStyle/>
          <a:p>
            <a:pPr indent="0" marL="0">
              <a:buNone/>
            </a:pPr>
            <a:r>
              <a:rPr lang="en-US" sz="1050" b="1" dirty="0">
                <a:solidFill>
                  <a:schemeClr val="bg1"/>
                </a:solidFill>
              </a:rPr>
              <a:t>CÔNG TY TNHH KỸ THUẬT CÔNG TRÌNH BLT</a:t>
            </a:r>
            <a:endParaRPr lang="en-US" sz="1050" dirty="0"/>
          </a:p>
        </p:txBody>
      </p:sp>
      <p:sp>
        <p:nvSpPr>
          <p:cNvPr id="9" name="Text 5"/>
          <p:cNvSpPr txBox="1"/>
          <p:nvPr/>
        </p:nvSpPr>
        <p:spPr>
          <a:xfrm>
            <a:off x="777240" y="6099048"/>
            <a:ext cx="1463040" cy="548640"/>
          </a:xfrm>
          <a:prstGeom prst="rect">
            <a:avLst/>
          </a:prstGeom>
          <a:noFill/>
          <a:ln/>
        </p:spPr>
        <p:txBody>
          <a:bodyPr wrap="square" lIns="0" tIns="0" rIns="0" bIns="0" rtlCol="0" anchor="t"/>
          <a:lstStyle/>
          <a:p>
            <a:pPr indent="0" marL="0">
              <a:buNone/>
            </a:pPr>
            <a:r>
              <a:rPr lang="en-US" sz="900" b="1" spc="100" kern="0" dirty="0">
                <a:solidFill>
                  <a:schemeClr val="accent1"/>
                </a:solidFill>
              </a:rPr>
              <a:t>ĐỊA CHỈ</a:t>
            </a:r>
            <a:endParaRPr lang="en-US" sz="900" dirty="0"/>
          </a:p>
        </p:txBody>
      </p:sp>
      <p:sp>
        <p:nvSpPr>
          <p:cNvPr id="10" name="Text 6"/>
          <p:cNvSpPr txBox="1"/>
          <p:nvPr/>
        </p:nvSpPr>
        <p:spPr>
          <a:xfrm>
            <a:off x="2286000" y="6099048"/>
            <a:ext cx="4498848" cy="548640"/>
          </a:xfrm>
          <a:prstGeom prst="rect">
            <a:avLst/>
          </a:prstGeom>
          <a:noFill/>
          <a:ln/>
        </p:spPr>
        <p:txBody>
          <a:bodyPr wrap="square" lIns="0" tIns="0" rIns="0" bIns="0" rtlCol="0" anchor="t"/>
          <a:lstStyle/>
          <a:p>
            <a:pPr indent="0" marL="0">
              <a:buNone/>
            </a:pPr>
            <a:r>
              <a:rPr lang="en-US" sz="1050" dirty="0">
                <a:solidFill>
                  <a:schemeClr val="bg1"/>
                </a:solidFill>
              </a:rPr>
              <a:t>Số 2A đường Nguyễn Khánh Toàn, khối Trường Phúc, phường Trường Vinh, tỉnh Nghệ An, Việt Nam</a:t>
            </a:r>
            <a:endParaRPr lang="en-US" sz="1050" dirty="0"/>
          </a:p>
        </p:txBody>
      </p:sp>
      <p:sp>
        <p:nvSpPr>
          <p:cNvPr id="11" name="Text 7"/>
          <p:cNvSpPr txBox="1"/>
          <p:nvPr/>
        </p:nvSpPr>
        <p:spPr>
          <a:xfrm>
            <a:off x="777240" y="6757416"/>
            <a:ext cx="1463040" cy="365760"/>
          </a:xfrm>
          <a:prstGeom prst="rect">
            <a:avLst/>
          </a:prstGeom>
          <a:noFill/>
          <a:ln/>
        </p:spPr>
        <p:txBody>
          <a:bodyPr wrap="square" lIns="0" tIns="0" rIns="0" bIns="0" rtlCol="0" anchor="t"/>
          <a:lstStyle/>
          <a:p>
            <a:pPr indent="0" marL="0">
              <a:buNone/>
            </a:pPr>
            <a:r>
              <a:rPr lang="en-US" sz="900" b="1" spc="100" kern="0" dirty="0">
                <a:solidFill>
                  <a:schemeClr val="accent1"/>
                </a:solidFill>
              </a:rPr>
              <a:t>NGƯỜI LIÊN HỆ</a:t>
            </a:r>
            <a:endParaRPr lang="en-US" sz="900" dirty="0"/>
          </a:p>
        </p:txBody>
      </p:sp>
      <p:sp>
        <p:nvSpPr>
          <p:cNvPr id="12" name="Text 8"/>
          <p:cNvSpPr txBox="1"/>
          <p:nvPr/>
        </p:nvSpPr>
        <p:spPr>
          <a:xfrm>
            <a:off x="2286000" y="6757416"/>
            <a:ext cx="4498848" cy="365760"/>
          </a:xfrm>
          <a:prstGeom prst="rect">
            <a:avLst/>
          </a:prstGeom>
          <a:noFill/>
          <a:ln/>
        </p:spPr>
        <p:txBody>
          <a:bodyPr wrap="square" lIns="0" tIns="0" rIns="0" bIns="0" rtlCol="0" anchor="t"/>
          <a:lstStyle/>
          <a:p>
            <a:pPr indent="0" marL="0">
              <a:buNone/>
            </a:pPr>
            <a:r>
              <a:rPr lang="en-US" sz="1050" dirty="0">
                <a:solidFill>
                  <a:schemeClr val="bg1"/>
                </a:solidFill>
              </a:rPr>
              <a:t>Ông HỒ VĂN BÌNH – Giám đốc</a:t>
            </a:r>
            <a:endParaRPr lang="en-US" sz="1050" dirty="0"/>
          </a:p>
        </p:txBody>
      </p:sp>
      <p:sp>
        <p:nvSpPr>
          <p:cNvPr id="13" name="Text 9"/>
          <p:cNvSpPr txBox="1"/>
          <p:nvPr/>
        </p:nvSpPr>
        <p:spPr>
          <a:xfrm>
            <a:off x="777240" y="7232904"/>
            <a:ext cx="1463040" cy="365760"/>
          </a:xfrm>
          <a:prstGeom prst="rect">
            <a:avLst/>
          </a:prstGeom>
          <a:noFill/>
          <a:ln/>
        </p:spPr>
        <p:txBody>
          <a:bodyPr wrap="square" lIns="0" tIns="0" rIns="0" bIns="0" rtlCol="0" anchor="t"/>
          <a:lstStyle/>
          <a:p>
            <a:pPr indent="0" marL="0">
              <a:buNone/>
            </a:pPr>
            <a:r>
              <a:rPr lang="en-US" sz="900" b="1" spc="100" kern="0" dirty="0">
                <a:solidFill>
                  <a:schemeClr val="accent1"/>
                </a:solidFill>
              </a:rPr>
              <a:t>ĐIỆN THOẠI</a:t>
            </a:r>
            <a:endParaRPr lang="en-US" sz="900" dirty="0"/>
          </a:p>
        </p:txBody>
      </p:sp>
      <p:sp>
        <p:nvSpPr>
          <p:cNvPr id="14" name="Text 10"/>
          <p:cNvSpPr txBox="1"/>
          <p:nvPr/>
        </p:nvSpPr>
        <p:spPr>
          <a:xfrm>
            <a:off x="2286000" y="7232904"/>
            <a:ext cx="4498848" cy="365760"/>
          </a:xfrm>
          <a:prstGeom prst="rect">
            <a:avLst/>
          </a:prstGeom>
          <a:noFill/>
          <a:ln/>
        </p:spPr>
        <p:txBody>
          <a:bodyPr wrap="square" lIns="0" tIns="0" rIns="0" bIns="0" rtlCol="0" anchor="t"/>
          <a:lstStyle/>
          <a:p>
            <a:pPr indent="0" marL="0">
              <a:buNone/>
            </a:pPr>
            <a:r>
              <a:rPr lang="en-US" sz="1400" b="1" dirty="0">
                <a:solidFill>
                  <a:schemeClr val="bg1"/>
                </a:solidFill>
              </a:rPr>
              <a:t>0984 586 089</a:t>
            </a:r>
            <a:endParaRPr lang="en-US" sz="1400" dirty="0"/>
          </a:p>
        </p:txBody>
      </p:sp>
      <p:sp>
        <p:nvSpPr>
          <p:cNvPr id="15" name="Text 11"/>
          <p:cNvSpPr txBox="1"/>
          <p:nvPr/>
        </p:nvSpPr>
        <p:spPr>
          <a:xfrm>
            <a:off x="777240" y="7708392"/>
            <a:ext cx="1463040" cy="365760"/>
          </a:xfrm>
          <a:prstGeom prst="rect">
            <a:avLst/>
          </a:prstGeom>
          <a:noFill/>
          <a:ln/>
        </p:spPr>
        <p:txBody>
          <a:bodyPr wrap="square" lIns="0" tIns="0" rIns="0" bIns="0" rtlCol="0" anchor="t"/>
          <a:lstStyle/>
          <a:p>
            <a:pPr indent="0" marL="0">
              <a:buNone/>
            </a:pPr>
            <a:r>
              <a:rPr lang="en-US" sz="900" b="1" spc="100" kern="0" dirty="0">
                <a:solidFill>
                  <a:schemeClr val="accent1"/>
                </a:solidFill>
              </a:rPr>
              <a:t>EMAIL</a:t>
            </a:r>
            <a:endParaRPr lang="en-US" sz="900" dirty="0"/>
          </a:p>
        </p:txBody>
      </p:sp>
      <p:sp>
        <p:nvSpPr>
          <p:cNvPr id="16" name="Text 12"/>
          <p:cNvSpPr txBox="1"/>
          <p:nvPr/>
        </p:nvSpPr>
        <p:spPr>
          <a:xfrm>
            <a:off x="2286000" y="7708392"/>
            <a:ext cx="4498848" cy="365760"/>
          </a:xfrm>
          <a:prstGeom prst="rect">
            <a:avLst/>
          </a:prstGeom>
          <a:noFill/>
          <a:ln/>
        </p:spPr>
        <p:txBody>
          <a:bodyPr wrap="square" lIns="0" tIns="0" rIns="0" bIns="0" rtlCol="0" anchor="t"/>
          <a:lstStyle/>
          <a:p>
            <a:pPr indent="0" marL="0">
              <a:buNone/>
            </a:pPr>
            <a:r>
              <a:rPr lang="en-US" sz="1050" dirty="0">
                <a:solidFill>
                  <a:schemeClr val="bg1"/>
                </a:solidFill>
              </a:rPr>
              <a:t>hobinh150589@gmail.com</a:t>
            </a:r>
            <a:endParaRPr lang="en-US" sz="1050" dirty="0"/>
          </a:p>
        </p:txBody>
      </p:sp>
      <p:sp>
        <p:nvSpPr>
          <p:cNvPr id="17" name="Text 13"/>
          <p:cNvSpPr txBox="1"/>
          <p:nvPr/>
        </p:nvSpPr>
        <p:spPr>
          <a:xfrm>
            <a:off x="777240" y="8183880"/>
            <a:ext cx="1463040" cy="365760"/>
          </a:xfrm>
          <a:prstGeom prst="rect">
            <a:avLst/>
          </a:prstGeom>
          <a:noFill/>
          <a:ln/>
        </p:spPr>
        <p:txBody>
          <a:bodyPr wrap="square" lIns="0" tIns="0" rIns="0" bIns="0" rtlCol="0" anchor="t"/>
          <a:lstStyle/>
          <a:p>
            <a:pPr indent="0" marL="0">
              <a:buNone/>
            </a:pPr>
            <a:r>
              <a:rPr lang="en-US" sz="900" b="1" spc="100" kern="0" dirty="0">
                <a:solidFill>
                  <a:schemeClr val="accent1"/>
                </a:solidFill>
              </a:rPr>
              <a:t>MÃ SỐ THUẾ</a:t>
            </a:r>
            <a:endParaRPr lang="en-US" sz="900" dirty="0"/>
          </a:p>
        </p:txBody>
      </p:sp>
      <p:sp>
        <p:nvSpPr>
          <p:cNvPr id="18" name="Text 14"/>
          <p:cNvSpPr txBox="1"/>
          <p:nvPr/>
        </p:nvSpPr>
        <p:spPr>
          <a:xfrm>
            <a:off x="2286000" y="8183880"/>
            <a:ext cx="4498848" cy="365760"/>
          </a:xfrm>
          <a:prstGeom prst="rect">
            <a:avLst/>
          </a:prstGeom>
          <a:noFill/>
          <a:ln/>
        </p:spPr>
        <p:txBody>
          <a:bodyPr wrap="square" lIns="0" tIns="0" rIns="0" bIns="0" rtlCol="0" anchor="t"/>
          <a:lstStyle/>
          <a:p>
            <a:pPr indent="0" marL="0">
              <a:buNone/>
            </a:pPr>
            <a:r>
              <a:rPr lang="en-US" sz="1050" dirty="0">
                <a:solidFill>
                  <a:schemeClr val="bg1"/>
                </a:solidFill>
              </a:rPr>
              <a:t>2902269718</a:t>
            </a:r>
            <a:endParaRPr lang="en-US" sz="1050" dirty="0"/>
          </a:p>
        </p:txBody>
      </p:sp>
      <p:sp>
        <p:nvSpPr>
          <p:cNvPr id="25" name="Slide Number Placeholder 0"/>
          <p:cNvSpPr>
            <a:spLocks noGrp="1"/>
          </p:cNvSpPr>
          <p:nvPr>
            <p:ph type="sldNum" sz="quarter" idx="4294967295"/>
          </p:nvPr>
        </p:nvSpPr>
        <p:spPr>
          <a:xfrm>
            <a:off x="6601968" y="10232136"/>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bg1"/>
                </a:solidFill>
              </a:defRPr>
            </a:lvl1pPr>
          </a:lstStyle>
          <a:p>
            <a:pPr algn="r"/>
            <a:fld id="{F7021451-1387-4CA6-816F-3879F97B5CBC}" type="slidenum">
              <a:rPr b="1" lang="en-US"/>
              <a:t>26</a:t>
            </a:fld>
            <a:endParaRPr lang="en-US"/>
          </a:p>
        </p:txBody>
      </p:sp>
    </p:spTree>
  </p:cSld>
  <p:clrMapOvr>
    <a:masterClrMapping/>
  </p:clrMapOvr>
</p:sld>
</file>

<file path=ppt/theme/theme1.xml><?xml version="1.0" encoding="utf-8"?>
<a:theme xmlns:a="http://schemas.openxmlformats.org/drawingml/2006/main" name="BLT Dien Nuoc">
  <a:themeElements>
    <a:clrScheme name="BLT Dien Nuoc">
      <a:dk1>
        <a:srgbClr val="1B2433"/>
      </a:dk1>
      <a:lt1>
        <a:srgbClr val="FFFFFF"/>
      </a:lt1>
      <a:dk2>
        <a:srgbClr val="0B1E45"/>
      </a:dk2>
      <a:lt2>
        <a:srgbClr val="EDF2F8"/>
      </a:lt2>
      <a:accent1>
        <a:srgbClr val="F39200"/>
      </a:accent1>
      <a:accent2>
        <a:srgbClr val="1C8AE0"/>
      </a:accent2>
      <a:accent3>
        <a:srgbClr val="5B6575"/>
      </a:accent3>
      <a:accent4>
        <a:srgbClr val="C9D5E3"/>
      </a:accent4>
      <a:accent5>
        <a:srgbClr val="0E5FA8"/>
      </a:accent5>
      <a:accent6>
        <a:srgbClr val="7FB8EE"/>
      </a:accent6>
      <a:hlink>
        <a:srgbClr val="1C8AE0"/>
      </a:hlink>
      <a:folHlink>
        <a:srgbClr val="5B6575"/>
      </a:folHlink>
    </a:clrScheme>
    <a:fontScheme name="BLT Dien Nuoc">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Công ty TNHH Kỹ thuật Công trình BLT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Hồ sơ năng lực – Công ty TNHH Kỹ thuật Công trình BLT</dc:title>
  <dc:subject>PptxGenJS Presentation</dc:subject>
  <dc:creator>Công ty TNHH Kỹ thuật Công trình BLT</dc:creator>
  <cp:lastModifiedBy>Công ty TNHH Kỹ thuật Công trình BLT</cp:lastModifiedBy>
  <cp:revision>1</cp:revision>
  <dcterms:created xsi:type="dcterms:W3CDTF">2026-10-12T03:10:55Z</dcterms:created>
  <dcterms:modified xsi:type="dcterms:W3CDTF">2026-10-12T03:10:55Z</dcterms:modified>
</cp:coreProperties>
</file>