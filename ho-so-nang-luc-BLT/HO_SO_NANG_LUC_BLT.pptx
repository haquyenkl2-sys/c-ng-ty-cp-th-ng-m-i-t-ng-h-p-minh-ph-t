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6c2cbe2-5435-2784-9045-37cc22e1cf70}">
          <p14:sldIdLst>
            <p14:sldId id="256"/>
            <p14:sldId id="257"/>
            <p14:sldId id="258"/>
          </p14:sldIdLst>
        </p14:section>
        <p14:section name="01 Tổng quan" id="{e35e47d5-44fc-2747-424a-152f5324c86c}">
          <p14:sldIdLst>
            <p14:sldId id="259"/>
            <p14:sldId id="260"/>
            <p14:sldId id="261"/>
            <p14:sldId id="262"/>
            <p14:sldId id="263"/>
          </p14:sldIdLst>
        </p14:section>
        <p14:section name="02 Điện nước công trình" id="{0b63af51-de95-6c5e-9ad5-5348f2f52c55}">
          <p14:sldIdLst>
            <p14:sldId id="264"/>
            <p14:sldId id="265"/>
            <p14:sldId id="266"/>
          </p14:sldIdLst>
        </p14:section>
        <p14:section name="03 Hút sương dầu nhà xưởng" id="{21b66b15-28d0-1664-80fb-891364fc1551}">
          <p14:sldIdLst>
            <p14:sldId id="267"/>
            <p14:sldId id="268"/>
            <p14:sldId id="269"/>
          </p14:sldIdLst>
        </p14:section>
        <p14:section name="04 Bơm &amp; xử lý nước" id="{e263b8d2-e9c6-8ffa-2148-1470568bc915}">
          <p14:sldIdLst>
            <p14:sldId id="270"/>
          </p14:sldIdLst>
        </p14:section>
        <p14:section name="05 Quản trị dự án" id="{b9603bc3-fb41-8c6f-2ec6-23293c7e8c8e}">
          <p14:sldIdLst>
            <p14:sldId id="271"/>
            <p14:sldId id="272"/>
            <p14:sldId id="273"/>
          </p14:sldIdLst>
        </p14:section>
        <p14:section name="06 Nguồn lực" id="{e2c384e7-8963-b867-74ca-342c9e025354}">
          <p14:sldIdLst>
            <p14:sldId id="274"/>
            <p14:sldId id="275"/>
          </p14:sldIdLst>
        </p14:section>
        <p14:section name="07 Công trình tiêu biểu" id="{0bdc39f4-9c2e-c93c-e635-e04c4759787d}">
          <p14:sldIdLst>
            <p14:sldId id="276"/>
            <p14:sldId id="277"/>
            <p14:sldId id="278"/>
            <p14:sldId id="279"/>
          </p14:sldIdLst>
        </p14:section>
        <p14:section name="08 Cam kết &amp; liên hệ" id="{82a961f7-7350-0d98-8f46-9af212f541a7}">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image" Target="../media/image-21-4.jpeg"/><Relationship Id="rId5" Type="http://schemas.openxmlformats.org/officeDocument/2006/relationships/image" Target="../media/image-21-5.jpe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image" Target="../media/image-22-5.jpe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image" Target="../media/image-23-4.jpeg"/><Relationship Id="rId5" Type="http://schemas.openxmlformats.org/officeDocument/2006/relationships/image" Target="../media/image-23-5.jpe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preencoded.png">    </p:cNvPr>
          <p:cNvPicPr>
            <a:picLocks noChangeAspect="1"/>
          </p:cNvPicPr>
          <p:nvPr/>
        </p:nvPicPr>
        <p:blipFill>
          <a:blip r:embed="rId1"/>
          <a:stretch>
            <a:fillRect/>
          </a:stretch>
        </p:blipFill>
        <p:spPr>
          <a:xfrm>
            <a:off x="0" y="0"/>
            <a:ext cx="7562088" cy="6583680"/>
          </a:xfrm>
          <a:prstGeom prst="rect">
            <a:avLst/>
          </a:prstGeom>
        </p:spPr>
      </p:pic>
      <p:sp>
        <p:nvSpPr>
          <p:cNvPr id="3" name="Shape 0"/>
          <p:cNvSpPr/>
          <p:nvPr/>
        </p:nvSpPr>
        <p:spPr>
          <a:xfrm>
            <a:off x="0" y="0"/>
            <a:ext cx="7562088" cy="6583680"/>
          </a:xfrm>
          <a:prstGeom prst="rect">
            <a:avLst/>
          </a:prstGeom>
          <a:solidFill>
            <a:schemeClr val="tx2">
              <a:alpha val="3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502920" y="457200"/>
            <a:ext cx="1143000" cy="1143000"/>
          </a:xfrm>
          <a:prstGeom prst="rect">
            <a:avLst/>
          </a:prstGeom>
        </p:spPr>
      </p:pic>
      <p:sp>
        <p:nvSpPr>
          <p:cNvPr id="5" name="Shape 1"/>
          <p:cNvSpPr/>
          <p:nvPr/>
        </p:nvSpPr>
        <p:spPr>
          <a:xfrm>
            <a:off x="0" y="6583680"/>
            <a:ext cx="7562088" cy="4105656"/>
          </a:xfrm>
          <a:prstGeom prst="rect">
            <a:avLst/>
          </a:prstGeom>
          <a:solidFill>
            <a:schemeClr val="tx2"/>
          </a:solidFill>
          <a:ln w="12700">
            <a:solidFill>
              <a:schemeClr val="tx2"/>
            </a:solidFill>
            <a:prstDash val="solid"/>
          </a:ln>
        </p:spPr>
      </p:sp>
      <p:sp>
        <p:nvSpPr>
          <p:cNvPr id="6" name="Text 2"/>
          <p:cNvSpPr txBox="1"/>
          <p:nvPr/>
        </p:nvSpPr>
        <p:spPr>
          <a:xfrm>
            <a:off x="502920" y="6903720"/>
            <a:ext cx="6556248"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7" name="Text 3"/>
          <p:cNvSpPr txBox="1"/>
          <p:nvPr/>
        </p:nvSpPr>
        <p:spPr>
          <a:xfrm>
            <a:off x="502920" y="7178040"/>
            <a:ext cx="6556248"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8" name="Text 4"/>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9" name="Text 5"/>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HÚT SƯƠNG DẦU – XỬ LÝ KHÍ NHÀ XƯỞNG  •  BƠM &amp; XỬ LÝ NƯỚC</a:t>
            </a:r>
            <a:endParaRPr lang="en-US" sz="1000" dirty="0"/>
          </a:p>
        </p:txBody>
      </p:sp>
      <p:sp>
        <p:nvSpPr>
          <p:cNvPr id="10" name="Text 6"/>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1" name="Text 7"/>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2" name="Text 8"/>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13.jpg" descr="Ảnh hiện trường BLT">    </p:cNvPr>
          <p:cNvPicPr>
            <a:picLocks noChangeAspect="1"/>
          </p:cNvPicPr>
          <p:nvPr/>
        </p:nvPicPr>
        <p:blipFill>
          <a:blip r:embed="rId1"/>
          <a:stretch>
            <a:fillRect/>
          </a:stretch>
        </p:blipFill>
        <p:spPr>
          <a:xfrm>
            <a:off x="0" y="0"/>
            <a:ext cx="7562088" cy="4937760"/>
          </a:xfrm>
          <a:prstGeom prst="rect">
            <a:avLst/>
          </a:prstGeom>
        </p:spPr>
      </p:pic>
      <p:sp>
        <p:nvSpPr>
          <p:cNvPr id="3" name="Text 0"/>
          <p:cNvSpPr txBox="1"/>
          <p:nvPr/>
        </p:nvSpPr>
        <p:spPr>
          <a:xfrm>
            <a:off x="502920" y="53492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5623560"/>
            <a:ext cx="6556248" cy="118872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6903720"/>
            <a:ext cx="6556248" cy="73152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786384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786384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786384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35.jpg" descr="Đội ngũ kỹ thuật BLT tại công trường – xã Hưng Nguyên, Nghệ An (10/2026)">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ngũ kỹ thuật BLT tại công trường – xã Hưng Nguyên, Nghệ An (10/2026)</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của chúng tôi đang trực tiếp thi công tại nhiều công trình ở Nghệ An, Ninh Bình và Thừa Thiên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bg1"/>
          </a:solidFill>
          <a:ln w="12700">
            <a:solidFill>
              <a:schemeClr val="accent1"/>
            </a:solidFill>
            <a:prstDash val="dash"/>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1200" b="1" dirty="0">
                <a:solidFill>
                  <a:schemeClr val="accent1"/>
                </a:solidFill>
                <a:latin typeface="Arial" pitchFamily="34" charset="0"/>
                <a:ea typeface="Arial" pitchFamily="34" charset="-122"/>
                <a:cs typeface="Arial" pitchFamily="34" charset="-120"/>
              </a:rPr>
              <a:t>CẦN BỔ SUNG</a:t>
            </a:r>
            <a:endParaRPr lang="en-US" sz="12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tx2"/>
                </a:solidFill>
              </a:rPr>
              <a:t>VỐN ĐIỀU LỆ</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3"/>
                </a:solidFill>
              </a:rPr>
              <a:t>Theo giấy ĐKDN</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36.jpg" descr="Lắp máy lọc sương dầu – Hưng Nguyên, Nghệ An">    </p:cNvPr>
          <p:cNvPicPr>
            <a:picLocks noChangeAspect="1"/>
          </p:cNvPicPr>
          <p:nvPr/>
        </p:nvPicPr>
        <p:blipFill>
          <a:blip r:embed="rId1"/>
          <a:stretch>
            <a:fillRect/>
          </a:stretch>
        </p:blipFill>
        <p:spPr>
          <a:xfrm>
            <a:off x="502920" y="4526280"/>
            <a:ext cx="3200400" cy="2377440"/>
          </a:xfrm>
          <a:prstGeom prst="rect">
            <a:avLst/>
          </a:prstGeom>
        </p:spPr>
      </p:pic>
      <p:sp>
        <p:nvSpPr>
          <p:cNvPr id="23" name="Text 20"/>
          <p:cNvSpPr txBox="1"/>
          <p:nvPr/>
        </p:nvSpPr>
        <p:spPr>
          <a:xfrm>
            <a:off x="502920"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 Hưng Nguyên, Nghệ An</a:t>
            </a:r>
            <a:endParaRPr lang="en-US" sz="800" dirty="0"/>
          </a:p>
        </p:txBody>
      </p:sp>
      <p:pic>
        <p:nvPicPr>
          <p:cNvPr id="24" name="photo img07.jpg" descr="Thi công trên xe nâng người – Hà Nam, Ninh Bình">    </p:cNvPr>
          <p:cNvPicPr>
            <a:picLocks noChangeAspect="1"/>
          </p:cNvPicPr>
          <p:nvPr/>
        </p:nvPicPr>
        <p:blipFill>
          <a:blip r:embed="rId2"/>
          <a:stretch>
            <a:fillRect/>
          </a:stretch>
        </p:blipFill>
        <p:spPr>
          <a:xfrm>
            <a:off x="3858768" y="4526280"/>
            <a:ext cx="3200400" cy="2377440"/>
          </a:xfrm>
          <a:prstGeom prst="rect">
            <a:avLst/>
          </a:prstGeom>
        </p:spPr>
      </p:pic>
      <p:sp>
        <p:nvSpPr>
          <p:cNvPr id="25" name="Text 21"/>
          <p:cNvSpPr txBox="1"/>
          <p:nvPr/>
        </p:nvSpPr>
        <p:spPr>
          <a:xfrm>
            <a:off x="3858768"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 Hà Nam, Ninh Bình</a:t>
            </a:r>
            <a:endParaRPr lang="en-US" sz="800" dirty="0"/>
          </a:p>
        </p:txBody>
      </p:sp>
      <p:sp>
        <p:nvSpPr>
          <p:cNvPr id="26" name="Text 22"/>
          <p:cNvSpPr txBox="1"/>
          <p:nvPr/>
        </p:nvSpPr>
        <p:spPr>
          <a:xfrm>
            <a:off x="502920"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7" name="Text 23"/>
          <p:cNvSpPr txBox="1"/>
          <p:nvPr/>
        </p:nvSpPr>
        <p:spPr>
          <a:xfrm>
            <a:off x="502920"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8" name="Text 24"/>
          <p:cNvSpPr txBox="1"/>
          <p:nvPr/>
        </p:nvSpPr>
        <p:spPr>
          <a:xfrm>
            <a:off x="3858768"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9" name="Text 25"/>
          <p:cNvSpPr txBox="1"/>
          <p:nvPr/>
        </p:nvSpPr>
        <p:spPr>
          <a:xfrm>
            <a:off x="3858768"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30" name="Text 26"/>
          <p:cNvSpPr txBox="1"/>
          <p:nvPr/>
        </p:nvSpPr>
        <p:spPr>
          <a:xfrm>
            <a:off x="4681728" y="7296912"/>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ĐỊNH HƯỚNG: DỰ THẢO – CẦN DUYỆT</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b="1" i="1" dirty="0">
                          <a:solidFill>
                            <a:schemeClr val="accent1"/>
                          </a:solidFill>
                        </a:rPr>
                        <a:t>Công ty TNHH – CẦN BỔ SUNG (1 hay 2 thành viên)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Ngày đăng ký lần đầu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b="1" i="1" dirty="0">
                          <a:solidFill>
                            <a:schemeClr val="accent1"/>
                          </a:solidFill>
                        </a:rPr>
                        <a:t>CẦN BỔ SUNG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Vốn điều lệ</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b="1" i="1" dirty="0">
                          <a:solidFill>
                            <a:schemeClr val="accent1"/>
                          </a:solidFill>
                        </a:rPr>
                        <a:t>CẦN BỔ SUNG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446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67208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80924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NGÀNH NGHỀ ĐĂNG KÝ</a:t>
            </a:r>
            <a:endParaRPr lang="en-US" sz="900" dirty="0"/>
          </a:p>
        </p:txBody>
      </p:sp>
      <p:sp>
        <p:nvSpPr>
          <p:cNvPr id="8" name="Shape 4"/>
          <p:cNvSpPr/>
          <p:nvPr/>
        </p:nvSpPr>
        <p:spPr>
          <a:xfrm>
            <a:off x="502920" y="8366760"/>
            <a:ext cx="6556248" cy="1463040"/>
          </a:xfrm>
          <a:prstGeom prst="roundRect">
            <a:avLst>
              <a:gd name="adj" fmla="val 5000"/>
            </a:avLst>
          </a:prstGeom>
          <a:solidFill>
            <a:schemeClr val="bg1"/>
          </a:solidFill>
          <a:ln w="12700">
            <a:solidFill>
              <a:schemeClr val="accent1"/>
            </a:solidFill>
            <a:prstDash val="dash"/>
          </a:ln>
        </p:spPr>
      </p:sp>
      <p:sp>
        <p:nvSpPr>
          <p:cNvPr id="9" name="Text 5"/>
          <p:cNvSpPr txBox="1"/>
          <p:nvPr/>
        </p:nvSpPr>
        <p:spPr>
          <a:xfrm>
            <a:off x="685800" y="8503920"/>
            <a:ext cx="6190488" cy="1234440"/>
          </a:xfrm>
          <a:prstGeom prst="rect">
            <a:avLst/>
          </a:prstGeom>
          <a:noFill/>
          <a:ln/>
        </p:spPr>
        <p:txBody>
          <a:bodyPr wrap="square" lIns="0" tIns="0" rIns="0" bIns="0" rtlCol="0" anchor="t"/>
          <a:lstStyle/>
          <a:p>
            <a:pPr algn="l" indent="0" marL="0">
              <a:lnSpc>
                <a:spcPct val="110000"/>
              </a:lnSpc>
              <a:spcAft>
                <a:spcPts val="600"/>
              </a:spcAft>
              <a:buNone/>
            </a:pPr>
            <a:r>
              <a:rPr lang="en-US" sz="950" b="1" dirty="0">
                <a:solidFill>
                  <a:schemeClr val="accent1"/>
                </a:solidFill>
              </a:rPr>
              <a:t>CẦN BỔ SUNG: </a:t>
            </a:r>
            <a:pPr algn="l" indent="0" marL="0">
              <a:lnSpc>
                <a:spcPct val="110000"/>
              </a:lnSpc>
              <a:spcAft>
                <a:spcPts val="600"/>
              </a:spcAft>
              <a:buNone/>
            </a:pPr>
            <a:r>
              <a:rPr lang="en-US" sz="950" dirty="0">
                <a:solidFill>
                  <a:schemeClr val="tx1"/>
                </a:solidFill>
              </a:rPr>
              <a:t>liệt kê mã ngành theo Giấy chứng nhận đăng ký doanh nghiệp, đặc biệt ngành chính. Dự kiến gồm: 4321 – Lắp đặt hệ thống điện; 4322 – Lắp đặt hệ thống cấp, thoát nước, lò sưởi và điều hoà không khí; 4329 – Lắp đặt hệ thống xây dựng khác; 3320 – Lắp đặt máy móc và thiết bị công nghiệp. Mã ngành chính thức cần đối chiếu với giấy phép trước khi phát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Text 2"/>
          <p:cNvSpPr txBox="1"/>
          <p:nvPr/>
        </p:nvSpPr>
        <p:spPr>
          <a:xfrm>
            <a:off x="4681728" y="1188720"/>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DỰ THẢO – CẦN DOANH NGHIỆP DUYỆT</a:t>
            </a:r>
            <a:endParaRPr lang="en-US" sz="750" dirty="0"/>
          </a:p>
        </p:txBody>
      </p:sp>
      <p:sp>
        <p:nvSpPr>
          <p:cNvPr id="5" name="Shape 3"/>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6" name="Text 4"/>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7" name="Text 5"/>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8" name="Shape 6"/>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9" name="Text 7"/>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10" name="Text 8"/>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1" name="Text 9"/>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2" name="Shape 10"/>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3" name="Shape 11"/>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5" name="Text 13"/>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6" name="Text 14"/>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7" name="Shape 15"/>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8" name="Shape 16"/>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0" name="Text 18"/>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1" name="Text 19"/>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2" name="Shape 20"/>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3" name="Shape 21"/>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5" name="Text 23"/>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6" name="Text 24"/>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7" name="Shape 25"/>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8" name="Shape 26"/>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0" name="Text 28"/>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1" name="Text 29"/>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2" name="Shape 30"/>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3" name="Shape 31"/>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5" name="Text 33"/>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6" name="Text 34"/>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7" name="Shape 35"/>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8" name="Shape 36"/>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9" name="Text 37"/>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0" name="Text 38"/>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1" name="Text 39"/>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2" name="photo img45.jpg" descr="Đội thi công BLT tại trạm xử lý nước,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3" name="Text 40"/>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Text 2"/>
          <p:cNvSpPr txBox="1"/>
          <p:nvPr/>
        </p:nvSpPr>
        <p:spPr>
          <a:xfrm>
            <a:off x="4681728" y="1188720"/>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DỰ THẢO – CẦN XÁC NHẬN</a:t>
            </a:r>
            <a:endParaRPr lang="en-US" sz="750" dirty="0"/>
          </a:p>
        </p:txBody>
      </p:sp>
      <p:sp>
        <p:nvSpPr>
          <p:cNvPr id="5" name="Shape 3"/>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6" name="photo img12.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7" name="Shape 4"/>
          <p:cNvSpPr/>
          <p:nvPr/>
        </p:nvSpPr>
        <p:spPr>
          <a:xfrm>
            <a:off x="685800" y="2990088"/>
            <a:ext cx="438912" cy="438912"/>
          </a:xfrm>
          <a:prstGeom prst="ellipse">
            <a:avLst/>
          </a:prstGeom>
          <a:solidFill>
            <a:schemeClr val="accent1"/>
          </a:solidFill>
          <a:ln w="12700">
            <a:solidFill>
              <a:schemeClr val="accent1"/>
            </a:solidFill>
            <a:prstDash val="solid"/>
          </a:ln>
        </p:spPr>
      </p:sp>
      <p:sp>
        <p:nvSpPr>
          <p:cNvPr id="8" name="Text 5"/>
          <p:cNvSpPr txBox="1"/>
          <p:nvPr/>
        </p:nvSpPr>
        <p:spPr>
          <a:xfrm>
            <a:off x="685800"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10" name="Text 7"/>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1" name="Shape 8"/>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2" name="photo img04.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3" name="Shape 9"/>
          <p:cNvSpPr/>
          <p:nvPr/>
        </p:nvSpPr>
        <p:spPr>
          <a:xfrm>
            <a:off x="4078224" y="2990088"/>
            <a:ext cx="438912" cy="438912"/>
          </a:xfrm>
          <a:prstGeom prst="ellipse">
            <a:avLst/>
          </a:prstGeom>
          <a:solidFill>
            <a:schemeClr val="accent1"/>
          </a:solidFill>
          <a:ln w="12700">
            <a:solidFill>
              <a:schemeClr val="accent1"/>
            </a:solidFill>
            <a:prstDash val="solid"/>
          </a:ln>
        </p:spPr>
      </p:sp>
      <p:sp>
        <p:nvSpPr>
          <p:cNvPr id="14" name="Text 10"/>
          <p:cNvSpPr txBox="1"/>
          <p:nvPr/>
        </p:nvSpPr>
        <p:spPr>
          <a:xfrm>
            <a:off x="4078224"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5" name="Text 11"/>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6" name="Text 12"/>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7" name="Shape 13"/>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8"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9" name="Shape 14"/>
          <p:cNvSpPr/>
          <p:nvPr/>
        </p:nvSpPr>
        <p:spPr>
          <a:xfrm>
            <a:off x="685800" y="7287768"/>
            <a:ext cx="438912" cy="438912"/>
          </a:xfrm>
          <a:prstGeom prst="ellipse">
            <a:avLst/>
          </a:prstGeom>
          <a:solidFill>
            <a:schemeClr val="accent1"/>
          </a:solidFill>
          <a:ln w="12700">
            <a:solidFill>
              <a:schemeClr val="accent1"/>
            </a:solidFill>
            <a:prstDash val="solid"/>
          </a:ln>
        </p:spPr>
      </p:sp>
      <p:sp>
        <p:nvSpPr>
          <p:cNvPr id="20" name="Text 15"/>
          <p:cNvSpPr txBox="1"/>
          <p:nvPr/>
        </p:nvSpPr>
        <p:spPr>
          <a:xfrm>
            <a:off x="685800"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1" name="Text 16"/>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2" name="Text 17"/>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3" name="Shape 18"/>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4" name="photo img16.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5" name="Shape 19"/>
          <p:cNvSpPr/>
          <p:nvPr/>
        </p:nvSpPr>
        <p:spPr>
          <a:xfrm>
            <a:off x="4078224" y="7287768"/>
            <a:ext cx="438912" cy="438912"/>
          </a:xfrm>
          <a:prstGeom prst="ellipse">
            <a:avLst/>
          </a:prstGeom>
          <a:solidFill>
            <a:schemeClr val="accent1"/>
          </a:solidFill>
          <a:ln w="12700">
            <a:solidFill>
              <a:schemeClr val="accent1"/>
            </a:solidFill>
            <a:prstDash val="solid"/>
          </a:ln>
        </p:spPr>
      </p:sp>
      <p:sp>
        <p:nvSpPr>
          <p:cNvPr id="26" name="Text 20"/>
          <p:cNvSpPr txBox="1"/>
          <p:nvPr/>
        </p:nvSpPr>
        <p:spPr>
          <a:xfrm>
            <a:off x="4078224"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7" name="Text 21"/>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8" name="Text 22"/>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4.jpg" descr="Thi công trên trần bằng xe nâng người">    </p:cNvPr>
          <p:cNvPicPr>
            <a:picLocks noChangeAspect="1"/>
          </p:cNvPicPr>
          <p:nvPr/>
        </p:nvPicPr>
        <p:blipFill>
          <a:blip r:embed="rId1"/>
          <a:stretch>
            <a:fillRect/>
          </a:stretch>
        </p:blipFill>
        <p:spPr>
          <a:xfrm>
            <a:off x="502920" y="1463040"/>
            <a:ext cx="3186684" cy="2194560"/>
          </a:xfrm>
          <a:prstGeom prst="rect">
            <a:avLst/>
          </a:prstGeom>
        </p:spPr>
      </p:pic>
      <p:sp>
        <p:nvSpPr>
          <p:cNvPr id="5" name="Text 2"/>
          <p:cNvSpPr txBox="1"/>
          <p:nvPr/>
        </p:nvSpPr>
        <p:spPr>
          <a:xfrm>
            <a:off x="502920"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6" name="photo img10.jpg" descr="Gia công ống luồn dây tại hiện trường">    </p:cNvPr>
          <p:cNvPicPr>
            <a:picLocks noChangeAspect="1"/>
          </p:cNvPicPr>
          <p:nvPr/>
        </p:nvPicPr>
        <p:blipFill>
          <a:blip r:embed="rId2"/>
          <a:stretch>
            <a:fillRect/>
          </a:stretch>
        </p:blipFill>
        <p:spPr>
          <a:xfrm>
            <a:off x="3872484" y="1463040"/>
            <a:ext cx="3186684" cy="2194560"/>
          </a:xfrm>
          <a:prstGeom prst="rect">
            <a:avLst/>
          </a:prstGeom>
        </p:spPr>
      </p:pic>
      <p:sp>
        <p:nvSpPr>
          <p:cNvPr id="7" name="Text 3"/>
          <p:cNvSpPr txBox="1"/>
          <p:nvPr/>
        </p:nvSpPr>
        <p:spPr>
          <a:xfrm>
            <a:off x="3872484"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a:t>
            </a:r>
            <a:endParaRPr lang="en-US" sz="800" dirty="0"/>
          </a:p>
        </p:txBody>
      </p:sp>
      <p:pic>
        <p:nvPicPr>
          <p:cNvPr id="8" name="photo img12.jpg" descr="Tuyến ống, giá treo trên trần">    </p:cNvPr>
          <p:cNvPicPr>
            <a:picLocks noChangeAspect="1"/>
          </p:cNvPicPr>
          <p:nvPr/>
        </p:nvPicPr>
        <p:blipFill>
          <a:blip r:embed="rId3"/>
          <a:stretch>
            <a:fillRect/>
          </a:stretch>
        </p:blipFill>
        <p:spPr>
          <a:xfrm>
            <a:off x="502920" y="3977640"/>
            <a:ext cx="3186684" cy="2194560"/>
          </a:xfrm>
          <a:prstGeom prst="rect">
            <a:avLst/>
          </a:prstGeom>
        </p:spPr>
      </p:pic>
      <p:sp>
        <p:nvSpPr>
          <p:cNvPr id="9" name="Text 4"/>
          <p:cNvSpPr txBox="1"/>
          <p:nvPr/>
        </p:nvSpPr>
        <p:spPr>
          <a:xfrm>
            <a:off x="502920"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trên trần</a:t>
            </a:r>
            <a:endParaRPr lang="en-US" sz="800" dirty="0"/>
          </a:p>
        </p:txBody>
      </p:sp>
      <p:pic>
        <p:nvPicPr>
          <p:cNvPr id="10" name="photo img20.jpg" descr="Lắp giá đỡ, tuyến ống trên cao – Hà Nam, Ninh Bình">    </p:cNvPr>
          <p:cNvPicPr>
            <a:picLocks noChangeAspect="1"/>
          </p:cNvPicPr>
          <p:nvPr/>
        </p:nvPicPr>
        <p:blipFill>
          <a:blip r:embed="rId4"/>
          <a:stretch>
            <a:fillRect/>
          </a:stretch>
        </p:blipFill>
        <p:spPr>
          <a:xfrm>
            <a:off x="3872484" y="3977640"/>
            <a:ext cx="3186684" cy="2194560"/>
          </a:xfrm>
          <a:prstGeom prst="rect">
            <a:avLst/>
          </a:prstGeom>
        </p:spPr>
      </p:pic>
      <p:sp>
        <p:nvSpPr>
          <p:cNvPr id="11" name="Text 5"/>
          <p:cNvSpPr txBox="1"/>
          <p:nvPr/>
        </p:nvSpPr>
        <p:spPr>
          <a:xfrm>
            <a:off x="3872484"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 – Hà Nam, Ninh Bình</a:t>
            </a:r>
            <a:endParaRPr lang="en-US" sz="800" dirty="0"/>
          </a:p>
        </p:txBody>
      </p:sp>
      <p:sp>
        <p:nvSpPr>
          <p:cNvPr id="12" name="Text 6"/>
          <p:cNvSpPr txBox="1"/>
          <p:nvPr/>
        </p:nvSpPr>
        <p:spPr>
          <a:xfrm>
            <a:off x="502920"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3" name="Text 7"/>
          <p:cNvSpPr txBox="1"/>
          <p:nvPr/>
        </p:nvSpPr>
        <p:spPr>
          <a:xfrm>
            <a:off x="502920" y="6812280"/>
            <a:ext cx="3186684" cy="29260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Đi ống luồn dây âm tường, âm sàn, nổi trần</a:t>
            </a:r>
            <a:endParaRPr lang="en-US" sz="1000" dirty="0"/>
          </a:p>
          <a:p>
            <a:pPr marL="152400" indent="-152400">
              <a:spcAft>
                <a:spcPts val="400"/>
              </a:spcAft>
              <a:buSzPct val="100000"/>
              <a:buChar char="•"/>
            </a:pPr>
            <a:r>
              <a:rPr lang="en-US" sz="1000" dirty="0">
                <a:solidFill>
                  <a:schemeClr val="tx1"/>
                </a:solidFill>
              </a:rPr>
              <a:t>Lắp đặt máng cáp, thang cáp, giá treo</a:t>
            </a:r>
            <a:endParaRPr lang="en-US" sz="1000" dirty="0"/>
          </a:p>
          <a:p>
            <a:pPr marL="152400" indent="-152400">
              <a:spcAft>
                <a:spcPts val="400"/>
              </a:spcAft>
              <a:buSzPct val="100000"/>
              <a:buChar char="•"/>
            </a:pPr>
            <a:r>
              <a:rPr lang="en-US" sz="1000" dirty="0">
                <a:solidFill>
                  <a:schemeClr val="tx1"/>
                </a:solidFill>
              </a:rPr>
              <a:t>Kéo rải cáp động lực, cáp chiếu sáng, ổ cắm</a:t>
            </a:r>
            <a:endParaRPr lang="en-US" sz="1000" dirty="0"/>
          </a:p>
          <a:p>
            <a:pPr marL="152400" indent="-152400">
              <a:spcAft>
                <a:spcPts val="400"/>
              </a:spcAft>
              <a:buSzPct val="100000"/>
              <a:buChar char="•"/>
            </a:pPr>
            <a:r>
              <a:rPr lang="en-US" sz="1000" dirty="0">
                <a:solidFill>
                  <a:schemeClr val="tx1"/>
                </a:solidFill>
              </a:rPr>
              <a:t>Lắp đặt tủ điện tổng, tủ tầng, tủ thiết bị</a:t>
            </a:r>
            <a:endParaRPr lang="en-US" sz="1000" dirty="0"/>
          </a:p>
          <a:p>
            <a:pPr marL="152400" indent="-152400">
              <a:spcAft>
                <a:spcPts val="400"/>
              </a:spcAft>
              <a:buSzPct val="100000"/>
              <a:buChar char="•"/>
            </a:pPr>
            <a:r>
              <a:rPr lang="en-US" sz="1000" dirty="0">
                <a:solidFill>
                  <a:schemeClr val="tx1"/>
                </a:solidFill>
              </a:rPr>
              <a:t>Lắp đèn, công tắc, ổ cắm và thiết bị điện</a:t>
            </a:r>
            <a:endParaRPr lang="en-US" sz="1000" dirty="0"/>
          </a:p>
          <a:p>
            <a:pPr marL="152400" indent="-152400">
              <a:spcAft>
                <a:spcPts val="400"/>
              </a:spcAft>
              <a:buSzPct val="100000"/>
              <a:buChar char="•"/>
            </a:pPr>
            <a:r>
              <a:rPr lang="en-US" sz="1000" dirty="0">
                <a:solidFill>
                  <a:schemeClr val="tx1"/>
                </a:solidFill>
              </a:rPr>
              <a:t>Cấp nguồn cho máy móc, thiết bị nhà xưởng</a:t>
            </a:r>
            <a:endParaRPr lang="en-US" sz="1000" dirty="0"/>
          </a:p>
        </p:txBody>
      </p:sp>
      <p:sp>
        <p:nvSpPr>
          <p:cNvPr id="14" name="Text 8"/>
          <p:cNvSpPr txBox="1"/>
          <p:nvPr/>
        </p:nvSpPr>
        <p:spPr>
          <a:xfrm>
            <a:off x="3872484"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5" name="Shape 9"/>
          <p:cNvSpPr/>
          <p:nvPr/>
        </p:nvSpPr>
        <p:spPr>
          <a:xfrm>
            <a:off x="3872484" y="6812280"/>
            <a:ext cx="3186684" cy="2880360"/>
          </a:xfrm>
          <a:prstGeom prst="roundRect">
            <a:avLst>
              <a:gd name="adj" fmla="val 2540"/>
            </a:avLst>
          </a:prstGeom>
          <a:solidFill>
            <a:schemeClr val="bg2"/>
          </a:solidFill>
          <a:ln w="12700">
            <a:solidFill>
              <a:schemeClr val="bg2"/>
            </a:solidFill>
            <a:prstDash val="solid"/>
          </a:ln>
        </p:spPr>
      </p:sp>
      <p:sp>
        <p:nvSpPr>
          <p:cNvPr id="16" name="Text 10"/>
          <p:cNvSpPr txBox="1"/>
          <p:nvPr/>
        </p:nvSpPr>
        <p:spPr>
          <a:xfrm>
            <a:off x="4009644" y="6949440"/>
            <a:ext cx="2912364" cy="26517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15.jpg" descr="Tuyến cấp nước PPR, van khoá">    </p:cNvPr>
          <p:cNvPicPr>
            <a:picLocks noChangeAspect="1"/>
          </p:cNvPicPr>
          <p:nvPr/>
        </p:nvPicPr>
        <p:blipFill>
          <a:blip r:embed="rId2"/>
          <a:stretch>
            <a:fillRect/>
          </a:stretch>
        </p:blipFill>
        <p:spPr>
          <a:xfrm>
            <a:off x="502920" y="4846320"/>
            <a:ext cx="2063496" cy="1737360"/>
          </a:xfrm>
          <a:prstGeom prst="rect">
            <a:avLst/>
          </a:prstGeom>
        </p:spPr>
      </p:pic>
      <p:sp>
        <p:nvSpPr>
          <p:cNvPr id="7" name="Text 3"/>
          <p:cNvSpPr txBox="1"/>
          <p:nvPr/>
        </p:nvSpPr>
        <p:spPr>
          <a:xfrm>
            <a:off x="502920"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cấp nước PPR, van khoá</a:t>
            </a:r>
            <a:endParaRPr lang="en-US" sz="800" dirty="0"/>
          </a:p>
        </p:txBody>
      </p:sp>
      <p:pic>
        <p:nvPicPr>
          <p:cNvPr id="8" name="photo img13.jpg" descr="Đi ống cấp nước trên giàn giáo">    </p:cNvPr>
          <p:cNvPicPr>
            <a:picLocks noChangeAspect="1"/>
          </p:cNvPicPr>
          <p:nvPr/>
        </p:nvPicPr>
        <p:blipFill>
          <a:blip r:embed="rId3"/>
          <a:stretch>
            <a:fillRect/>
          </a:stretch>
        </p:blipFill>
        <p:spPr>
          <a:xfrm>
            <a:off x="2749296" y="4846320"/>
            <a:ext cx="2063496" cy="1737360"/>
          </a:xfrm>
          <a:prstGeom prst="rect">
            <a:avLst/>
          </a:prstGeom>
        </p:spPr>
      </p:pic>
      <p:sp>
        <p:nvSpPr>
          <p:cNvPr id="9" name="Text 4"/>
          <p:cNvSpPr txBox="1"/>
          <p:nvPr/>
        </p:nvSpPr>
        <p:spPr>
          <a:xfrm>
            <a:off x="2749296"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cấp nước trên giàn giáo</a:t>
            </a:r>
            <a:endParaRPr lang="en-US" sz="800" dirty="0"/>
          </a:p>
        </p:txBody>
      </p:sp>
      <p:pic>
        <p:nvPicPr>
          <p:cNvPr id="10" name="photo img37.jpg" descr="Tuyến ống tầng hầm">    </p:cNvPr>
          <p:cNvPicPr>
            <a:picLocks noChangeAspect="1"/>
          </p:cNvPicPr>
          <p:nvPr/>
        </p:nvPicPr>
        <p:blipFill>
          <a:blip r:embed="rId4"/>
          <a:stretch>
            <a:fillRect/>
          </a:stretch>
        </p:blipFill>
        <p:spPr>
          <a:xfrm>
            <a:off x="4995672" y="4846320"/>
            <a:ext cx="2063496" cy="1737360"/>
          </a:xfrm>
          <a:prstGeom prst="rect">
            <a:avLst/>
          </a:prstGeom>
        </p:spPr>
      </p:pic>
      <p:sp>
        <p:nvSpPr>
          <p:cNvPr id="11" name="Text 5"/>
          <p:cNvSpPr txBox="1"/>
          <p:nvPr/>
        </p:nvSpPr>
        <p:spPr>
          <a:xfrm>
            <a:off x="4995672"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tầng hầm</a:t>
            </a:r>
            <a:endParaRPr lang="en-US" sz="800" dirty="0"/>
          </a:p>
        </p:txBody>
      </p:sp>
      <p:sp>
        <p:nvSpPr>
          <p:cNvPr id="12" name="Shape 6"/>
          <p:cNvSpPr/>
          <p:nvPr/>
        </p:nvSpPr>
        <p:spPr>
          <a:xfrm>
            <a:off x="502920" y="6995160"/>
            <a:ext cx="3186684" cy="960120"/>
          </a:xfrm>
          <a:prstGeom prst="roundRect">
            <a:avLst>
              <a:gd name="adj" fmla="val 7619"/>
            </a:avLst>
          </a:prstGeom>
          <a:solidFill>
            <a:schemeClr val="bg2"/>
          </a:solidFill>
          <a:ln w="12700">
            <a:solidFill>
              <a:schemeClr val="bg2"/>
            </a:solidFill>
            <a:prstDash val="solid"/>
          </a:ln>
        </p:spPr>
      </p:sp>
      <p:sp>
        <p:nvSpPr>
          <p:cNvPr id="13" name="Shape 7"/>
          <p:cNvSpPr/>
          <p:nvPr/>
        </p:nvSpPr>
        <p:spPr>
          <a:xfrm>
            <a:off x="640080" y="7132320"/>
            <a:ext cx="365760" cy="365760"/>
          </a:xfrm>
          <a:prstGeom prst="ellipse">
            <a:avLst/>
          </a:prstGeom>
          <a:solidFill>
            <a:schemeClr val="accent1"/>
          </a:solidFill>
          <a:ln w="12700">
            <a:solidFill>
              <a:schemeClr val="accent1"/>
            </a:solidFill>
            <a:prstDash val="solid"/>
          </a:ln>
        </p:spPr>
      </p:sp>
      <p:sp>
        <p:nvSpPr>
          <p:cNvPr id="14" name="Text 8"/>
          <p:cNvSpPr txBox="1"/>
          <p:nvPr/>
        </p:nvSpPr>
        <p:spPr>
          <a:xfrm>
            <a:off x="640080"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5" name="Text 9"/>
          <p:cNvSpPr txBox="1"/>
          <p:nvPr/>
        </p:nvSpPr>
        <p:spPr>
          <a:xfrm>
            <a:off x="1097280"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6" name="Text 10"/>
          <p:cNvSpPr txBox="1"/>
          <p:nvPr/>
        </p:nvSpPr>
        <p:spPr>
          <a:xfrm>
            <a:off x="1097280"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7" name="Shape 11"/>
          <p:cNvSpPr/>
          <p:nvPr/>
        </p:nvSpPr>
        <p:spPr>
          <a:xfrm>
            <a:off x="3872484" y="6995160"/>
            <a:ext cx="3186684" cy="960120"/>
          </a:xfrm>
          <a:prstGeom prst="roundRect">
            <a:avLst>
              <a:gd name="adj" fmla="val 7619"/>
            </a:avLst>
          </a:prstGeom>
          <a:solidFill>
            <a:schemeClr val="bg2"/>
          </a:solidFill>
          <a:ln w="12700">
            <a:solidFill>
              <a:schemeClr val="bg2"/>
            </a:solidFill>
            <a:prstDash val="solid"/>
          </a:ln>
        </p:spPr>
      </p:sp>
      <p:sp>
        <p:nvSpPr>
          <p:cNvPr id="18" name="Shape 12"/>
          <p:cNvSpPr/>
          <p:nvPr/>
        </p:nvSpPr>
        <p:spPr>
          <a:xfrm>
            <a:off x="4009644" y="7132320"/>
            <a:ext cx="365760" cy="365760"/>
          </a:xfrm>
          <a:prstGeom prst="ellipse">
            <a:avLst/>
          </a:prstGeom>
          <a:solidFill>
            <a:schemeClr val="accent1"/>
          </a:solidFill>
          <a:ln w="12700">
            <a:solidFill>
              <a:schemeClr val="accent1"/>
            </a:solidFill>
            <a:prstDash val="solid"/>
          </a:ln>
        </p:spPr>
      </p:sp>
      <p:sp>
        <p:nvSpPr>
          <p:cNvPr id="19" name="Text 13"/>
          <p:cNvSpPr txBox="1"/>
          <p:nvPr/>
        </p:nvSpPr>
        <p:spPr>
          <a:xfrm>
            <a:off x="4009644"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0" name="Text 14"/>
          <p:cNvSpPr txBox="1"/>
          <p:nvPr/>
        </p:nvSpPr>
        <p:spPr>
          <a:xfrm>
            <a:off x="4466844"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21" name="Text 15"/>
          <p:cNvSpPr txBox="1"/>
          <p:nvPr/>
        </p:nvSpPr>
        <p:spPr>
          <a:xfrm>
            <a:off x="4466844"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2" name="Shape 16"/>
          <p:cNvSpPr/>
          <p:nvPr/>
        </p:nvSpPr>
        <p:spPr>
          <a:xfrm>
            <a:off x="502920" y="8092440"/>
            <a:ext cx="3186684" cy="960120"/>
          </a:xfrm>
          <a:prstGeom prst="roundRect">
            <a:avLst>
              <a:gd name="adj" fmla="val 7619"/>
            </a:avLst>
          </a:prstGeom>
          <a:solidFill>
            <a:schemeClr val="bg2"/>
          </a:solidFill>
          <a:ln w="12700">
            <a:solidFill>
              <a:schemeClr val="bg2"/>
            </a:solidFill>
            <a:prstDash val="solid"/>
          </a:ln>
        </p:spPr>
      </p:sp>
      <p:sp>
        <p:nvSpPr>
          <p:cNvPr id="23" name="Shape 17"/>
          <p:cNvSpPr/>
          <p:nvPr/>
        </p:nvSpPr>
        <p:spPr>
          <a:xfrm>
            <a:off x="640080" y="8229600"/>
            <a:ext cx="365760" cy="365760"/>
          </a:xfrm>
          <a:prstGeom prst="ellipse">
            <a:avLst/>
          </a:prstGeom>
          <a:solidFill>
            <a:schemeClr val="accent1"/>
          </a:solidFill>
          <a:ln w="12700">
            <a:solidFill>
              <a:schemeClr val="accent1"/>
            </a:solidFill>
            <a:prstDash val="solid"/>
          </a:ln>
        </p:spPr>
      </p:sp>
      <p:sp>
        <p:nvSpPr>
          <p:cNvPr id="24" name="Text 18"/>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5" name="Text 19"/>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6" name="Text 20"/>
          <p:cNvSpPr txBox="1"/>
          <p:nvPr/>
        </p:nvSpPr>
        <p:spPr>
          <a:xfrm>
            <a:off x="1097280"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7" name="Shape 21"/>
          <p:cNvSpPr/>
          <p:nvPr/>
        </p:nvSpPr>
        <p:spPr>
          <a:xfrm>
            <a:off x="3872484" y="8092440"/>
            <a:ext cx="3186684" cy="960120"/>
          </a:xfrm>
          <a:prstGeom prst="roundRect">
            <a:avLst>
              <a:gd name="adj" fmla="val 7619"/>
            </a:avLst>
          </a:prstGeom>
          <a:solidFill>
            <a:schemeClr val="bg2"/>
          </a:solidFill>
          <a:ln w="12700">
            <a:solidFill>
              <a:schemeClr val="bg2"/>
            </a:solidFill>
            <a:prstDash val="solid"/>
          </a:ln>
        </p:spPr>
      </p:sp>
      <p:sp>
        <p:nvSpPr>
          <p:cNvPr id="28" name="Shape 22"/>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29" name="Text 23"/>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0" name="Text 24"/>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31" name="Text 25"/>
          <p:cNvSpPr txBox="1"/>
          <p:nvPr/>
        </p:nvSpPr>
        <p:spPr>
          <a:xfrm>
            <a:off x="4466844"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24.jpg" descr="Ống mềm nối từ máy CNC lên tuyến chính">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nối từ máy CNC lên tuyến chính</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30.jpg" descr="Máy lọc trên giá đỡ cột">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8" name="photo img29.jpg" descr="Gia công giá đỡ thép">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pic>
        <p:nvPicPr>
          <p:cNvPr id="10" name="photo img33.jpg" descr="Bơm keo làm kín mối nối">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Bơm keo làm kín mối nối</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38.jpg" descr="Khung đỡ và tuyến ống công nghệ trạm xử lý nước – Thành phố Huế (09/2026)">    </p:cNvPr>
          <p:cNvPicPr>
            <a:picLocks noChangeAspect="1"/>
          </p:cNvPicPr>
          <p:nvPr/>
        </p:nvPicPr>
        <p:blipFill>
          <a:blip r:embed="rId1"/>
          <a:stretch>
            <a:fillRect/>
          </a:stretch>
        </p:blipFill>
        <p:spPr>
          <a:xfrm>
            <a:off x="502920" y="1463040"/>
            <a:ext cx="6556248" cy="3657600"/>
          </a:xfrm>
          <a:prstGeom prst="rect">
            <a:avLst/>
          </a:prstGeom>
        </p:spPr>
      </p:pic>
      <p:sp>
        <p:nvSpPr>
          <p:cNvPr id="5" name="Text 2"/>
          <p:cNvSpPr txBox="1"/>
          <p:nvPr/>
        </p:nvSpPr>
        <p:spPr>
          <a:xfrm>
            <a:off x="502920" y="515721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Khung đỡ và tuyến ống công nghệ trạm xử lý nước – Thành phố Huế (09/2026)</a:t>
            </a:r>
            <a:endParaRPr lang="en-US" sz="800" dirty="0"/>
          </a:p>
        </p:txBody>
      </p:sp>
      <p:sp>
        <p:nvSpPr>
          <p:cNvPr id="6" name="Text 3"/>
          <p:cNvSpPr txBox="1"/>
          <p:nvPr/>
        </p:nvSpPr>
        <p:spPr>
          <a:xfrm>
            <a:off x="502920"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Text 4"/>
          <p:cNvSpPr txBox="1"/>
          <p:nvPr/>
        </p:nvSpPr>
        <p:spPr>
          <a:xfrm>
            <a:off x="502920" y="5760720"/>
            <a:ext cx="3140964" cy="27432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4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400"/>
              </a:spcAft>
              <a:buSzPct val="100000"/>
              <a:buChar char="•"/>
            </a:pPr>
            <a:r>
              <a:rPr lang="en-US" sz="1000" dirty="0">
                <a:solidFill>
                  <a:schemeClr val="tx1"/>
                </a:solidFill>
              </a:rPr>
              <a:t>Đường ống uPVC / PVC công nghiệp, mặt bích</a:t>
            </a:r>
            <a:endParaRPr lang="en-US" sz="1000" dirty="0"/>
          </a:p>
          <a:p>
            <a:pPr marL="152400" indent="-152400">
              <a:spcAft>
                <a:spcPts val="4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400"/>
              </a:spcAft>
              <a:buSzPct val="100000"/>
              <a:buChar char="•"/>
            </a:pPr>
            <a:r>
              <a:rPr lang="en-US" sz="1000" dirty="0">
                <a:solidFill>
                  <a:schemeClr val="tx1"/>
                </a:solidFill>
              </a:rPr>
              <a:t>Khung đỡ ống, sàn thao tác, giá đỡ thiết bị</a:t>
            </a:r>
            <a:endParaRPr lang="en-US" sz="1000" dirty="0"/>
          </a:p>
          <a:p>
            <a:pPr marL="152400" indent="-152400">
              <a:spcAft>
                <a:spcPts val="400"/>
              </a:spcAft>
              <a:buSzPct val="100000"/>
              <a:buChar char="•"/>
            </a:pPr>
            <a:r>
              <a:rPr lang="en-US" sz="1000" dirty="0">
                <a:solidFill>
                  <a:schemeClr val="tx1"/>
                </a:solidFill>
              </a:rPr>
              <a:t>Đấu nối tủ điện điều khiển bơm</a:t>
            </a:r>
            <a:endParaRPr lang="en-US" sz="1000" dirty="0"/>
          </a:p>
        </p:txBody>
      </p:sp>
      <p:sp>
        <p:nvSpPr>
          <p:cNvPr id="8" name="Text 5"/>
          <p:cNvSpPr txBox="1"/>
          <p:nvPr/>
        </p:nvSpPr>
        <p:spPr>
          <a:xfrm>
            <a:off x="3918204"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9" name="Shape 6"/>
          <p:cNvSpPr/>
          <p:nvPr/>
        </p:nvSpPr>
        <p:spPr>
          <a:xfrm>
            <a:off x="3918204" y="5760720"/>
            <a:ext cx="3140964" cy="2743200"/>
          </a:xfrm>
          <a:prstGeom prst="roundRect">
            <a:avLst>
              <a:gd name="adj" fmla="val 2667"/>
            </a:avLst>
          </a:prstGeom>
          <a:solidFill>
            <a:schemeClr val="bg2"/>
          </a:solidFill>
          <a:ln w="12700">
            <a:solidFill>
              <a:schemeClr val="bg2"/>
            </a:solidFill>
            <a:prstDash val="solid"/>
          </a:ln>
        </p:spPr>
      </p:sp>
      <p:sp>
        <p:nvSpPr>
          <p:cNvPr id="10" name="Text 7"/>
          <p:cNvSpPr txBox="1"/>
          <p:nvPr/>
        </p:nvSpPr>
        <p:spPr>
          <a:xfrm>
            <a:off x="4055364" y="5897880"/>
            <a:ext cx="2866644" cy="24688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Thử kín đường ống, mặt bích, van</a:t>
            </a:r>
            <a:endParaRPr lang="en-US" sz="1000" dirty="0"/>
          </a:p>
          <a:p>
            <a:pPr marL="152400" indent="-152400">
              <a:spcAft>
                <a:spcPts val="400"/>
              </a:spcAft>
              <a:buSzPct val="100000"/>
              <a:buChar char="•"/>
            </a:pPr>
            <a:r>
              <a:rPr lang="en-US" sz="1000" dirty="0">
                <a:solidFill>
                  <a:schemeClr val="tx1"/>
                </a:solidFill>
              </a:rPr>
              <a:t>Kiểm tra chiều quay, dòng điện, độ rung bơm</a:t>
            </a:r>
            <a:endParaRPr lang="en-US" sz="1000" dirty="0"/>
          </a:p>
          <a:p>
            <a:pPr marL="152400" indent="-152400">
              <a:spcAft>
                <a:spcPts val="400"/>
              </a:spcAft>
              <a:buSzPct val="100000"/>
              <a:buChar char="•"/>
            </a:pPr>
            <a:r>
              <a:rPr lang="en-US" sz="1000" dirty="0">
                <a:solidFill>
                  <a:schemeClr val="tx1"/>
                </a:solidFill>
              </a:rPr>
              <a:t>Cân chỉnh áp suất và lưu lượng</a:t>
            </a:r>
            <a:endParaRPr lang="en-US" sz="1000" dirty="0"/>
          </a:p>
          <a:p>
            <a:pPr marL="152400" indent="-152400">
              <a:spcAft>
                <a:spcPts val="400"/>
              </a:spcAft>
              <a:buSzPct val="100000"/>
              <a:buChar char="•"/>
            </a:pPr>
            <a:r>
              <a:rPr lang="en-US" sz="1000" dirty="0">
                <a:solidFill>
                  <a:schemeClr val="tx1"/>
                </a:solidFill>
              </a:rPr>
              <a:t>Hướng dẫn vận hành, lập biên bản bàn giao</a:t>
            </a:r>
            <a:endParaRPr lang="en-US" sz="1000" dirty="0"/>
          </a:p>
        </p:txBody>
      </p:sp>
      <p:pic>
        <p:nvPicPr>
          <p:cNvPr id="11" name="photo img48.jpg" descr="Ảnh hiện trường BLT">    </p:cNvPr>
          <p:cNvPicPr>
            <a:picLocks noChangeAspect="1"/>
          </p:cNvPicPr>
          <p:nvPr/>
        </p:nvPicPr>
        <p:blipFill>
          <a:blip r:embed="rId2"/>
          <a:stretch>
            <a:fillRect/>
          </a:stretch>
        </p:blipFill>
        <p:spPr>
          <a:xfrm>
            <a:off x="502920" y="8732520"/>
            <a:ext cx="2063496" cy="1051560"/>
          </a:xfrm>
          <a:prstGeom prst="rect">
            <a:avLst/>
          </a:prstGeom>
        </p:spPr>
      </p:pic>
      <p:pic>
        <p:nvPicPr>
          <p:cNvPr id="12" name="photo img16.jpg" descr="Ảnh hiện trường BLT">    </p:cNvPr>
          <p:cNvPicPr>
            <a:picLocks noChangeAspect="1"/>
          </p:cNvPicPr>
          <p:nvPr/>
        </p:nvPicPr>
        <p:blipFill>
          <a:blip r:embed="rId3"/>
          <a:stretch>
            <a:fillRect/>
          </a:stretch>
        </p:blipFill>
        <p:spPr>
          <a:xfrm>
            <a:off x="2749296" y="8732520"/>
            <a:ext cx="2063496" cy="1051560"/>
          </a:xfrm>
          <a:prstGeom prst="rect">
            <a:avLst/>
          </a:prstGeom>
        </p:spPr>
      </p:pic>
      <p:pic>
        <p:nvPicPr>
          <p:cNvPr id="13" name="photo img43.jpg" descr="Ảnh hiện trường BLT">    </p:cNvPr>
          <p:cNvPicPr>
            <a:picLocks noChangeAspect="1"/>
          </p:cNvPicPr>
          <p:nvPr/>
        </p:nvPicPr>
        <p:blipFill>
          <a:blip r:embed="rId4"/>
          <a:stretch>
            <a:fillRect/>
          </a:stretch>
        </p:blipFill>
        <p:spPr>
          <a:xfrm>
            <a:off x="4995672" y="8732520"/>
            <a:ext cx="2063496" cy="1051560"/>
          </a:xfrm>
          <a:prstGeom prst="rect">
            <a:avLst/>
          </a:prstGeom>
        </p:spPr>
      </p:pic>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p:cNvPr>
          <p:cNvPicPr>
            <a:picLocks noChangeAspect="1"/>
          </p:cNvPicPr>
          <p:nvPr/>
        </p:nvPicPr>
        <p:blipFill>
          <a:blip r:embed="rId1"/>
          <a:stretch>
            <a:fillRect/>
          </a:stretch>
        </p:blipFill>
        <p:spPr>
          <a:xfrm>
            <a:off x="502920" y="1463040"/>
            <a:ext cx="2063496" cy="2651760"/>
          </a:xfrm>
          <a:prstGeom prst="rect">
            <a:avLst/>
          </a:prstGeom>
        </p:spPr>
      </p:pic>
      <p:sp>
        <p:nvSpPr>
          <p:cNvPr id="5" name="Text 2"/>
          <p:cNvSpPr txBox="1"/>
          <p:nvPr/>
        </p:nvSpPr>
        <p:spPr>
          <a:xfrm>
            <a:off x="502920"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a:t>
            </a:r>
            <a:endParaRPr lang="en-US" sz="800" dirty="0"/>
          </a:p>
        </p:txBody>
      </p:sp>
      <p:pic>
        <p:nvPicPr>
          <p:cNvPr id="6" name="photo img22.jpg" descr="Mũ, áo phản quang, dây đai an toàn">    </p:cNvPr>
          <p:cNvPicPr>
            <a:picLocks noChangeAspect="1"/>
          </p:cNvPicPr>
          <p:nvPr/>
        </p:nvPicPr>
        <p:blipFill>
          <a:blip r:embed="rId2"/>
          <a:stretch>
            <a:fillRect/>
          </a:stretch>
        </p:blipFill>
        <p:spPr>
          <a:xfrm>
            <a:off x="2749296" y="1463040"/>
            <a:ext cx="2063496" cy="2651760"/>
          </a:xfrm>
          <a:prstGeom prst="rect">
            <a:avLst/>
          </a:prstGeom>
        </p:spPr>
      </p:pic>
      <p:sp>
        <p:nvSpPr>
          <p:cNvPr id="7" name="Text 3"/>
          <p:cNvSpPr txBox="1"/>
          <p:nvPr/>
        </p:nvSpPr>
        <p:spPr>
          <a:xfrm>
            <a:off x="2749296"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Mũ, áo phản quang, dây đai an toàn</a:t>
            </a:r>
            <a:endParaRPr lang="en-US" sz="800" dirty="0"/>
          </a:p>
        </p:txBody>
      </p:sp>
      <p:pic>
        <p:nvPicPr>
          <p:cNvPr id="8" name="photo img09.jpg" descr="Thao tác trên sàn công tác giàn giáo">    </p:cNvPr>
          <p:cNvPicPr>
            <a:picLocks noChangeAspect="1"/>
          </p:cNvPicPr>
          <p:nvPr/>
        </p:nvPicPr>
        <p:blipFill>
          <a:blip r:embed="rId3"/>
          <a:stretch>
            <a:fillRect/>
          </a:stretch>
        </p:blipFill>
        <p:spPr>
          <a:xfrm>
            <a:off x="4995672" y="1463040"/>
            <a:ext cx="2063496" cy="2651760"/>
          </a:xfrm>
          <a:prstGeom prst="rect">
            <a:avLst/>
          </a:prstGeom>
        </p:spPr>
      </p:pic>
      <p:sp>
        <p:nvSpPr>
          <p:cNvPr id="9" name="Text 4"/>
          <p:cNvSpPr txBox="1"/>
          <p:nvPr/>
        </p:nvSpPr>
        <p:spPr>
          <a:xfrm>
            <a:off x="4995672"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a:t>
            </a:r>
            <a:endParaRPr lang="en-US" sz="800" dirty="0"/>
          </a:p>
        </p:txBody>
      </p:sp>
      <p:sp>
        <p:nvSpPr>
          <p:cNvPr id="10" name="Shape 5"/>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11" name="Shape 6"/>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4" name="Text 9"/>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5" name="Shape 10"/>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6" name="Shape 11"/>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9" name="Text 14"/>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20" name="Shape 15"/>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21" name="Shape 16"/>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4" name="Text 19"/>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5" name="Shape 20"/>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6" name="Shape 21"/>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9" name="Text 24"/>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30" name="Shape 25"/>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31" name="Shape 26"/>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2" name="Text 27"/>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3" name="Text 28"/>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4" name="Text 29"/>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5" name="Shape 30"/>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6" name="Shape 31"/>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7" name="Text 32"/>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8" name="Text 33"/>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9" name="Text 34"/>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40" name="Shape 35"/>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41" name="Shape 36"/>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2" name="Text 37"/>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3" name="Text 38"/>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4" name="Text 39"/>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5" name="Shape 40"/>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6" name="Shape 41"/>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7" name="Text 42"/>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8" name="Text 43"/>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9" name="Text 44"/>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Text 2"/>
          <p:cNvSpPr txBox="1"/>
          <p:nvPr/>
        </p:nvSpPr>
        <p:spPr>
          <a:xfrm>
            <a:off x="4681728" y="1188720"/>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SỐ LIỆU – CẦN BỔ SUNG</a:t>
            </a:r>
            <a:endParaRPr lang="en-US" sz="750" dirty="0"/>
          </a:p>
        </p:txBody>
      </p:sp>
      <p:pic>
        <p:nvPicPr>
          <p:cNvPr id="5" name="photo img35.jpg" descr="Đội ngũ kỹ thuật BLT – xã Hưng Nguyên, Nghệ An (04/10/2026)">    </p:cNvPr>
          <p:cNvPicPr>
            <a:picLocks noChangeAspect="1"/>
          </p:cNvPicPr>
          <p:nvPr/>
        </p:nvPicPr>
        <p:blipFill>
          <a:blip r:embed="rId1"/>
          <a:stretch>
            <a:fillRect/>
          </a:stretch>
        </p:blipFill>
        <p:spPr>
          <a:xfrm>
            <a:off x="502920" y="1463040"/>
            <a:ext cx="6556248" cy="2926080"/>
          </a:xfrm>
          <a:prstGeom prst="rect">
            <a:avLst/>
          </a:prstGeom>
        </p:spPr>
      </p:pic>
      <p:sp>
        <p:nvSpPr>
          <p:cNvPr id="6" name="Text 3"/>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ngũ kỹ thuật BLT – xã Hưng Nguyên, Nghệ An (04/10/2026)</a:t>
            </a:r>
            <a:endParaRPr lang="en-US" sz="800" dirty="0"/>
          </a:p>
        </p:txBody>
      </p:sp>
      <p:sp>
        <p:nvSpPr>
          <p:cNvPr id="7" name="Shape 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8" name="Text 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9" name="Text 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0" name="Shape 7"/>
          <p:cNvSpPr/>
          <p:nvPr/>
        </p:nvSpPr>
        <p:spPr>
          <a:xfrm>
            <a:off x="3781044" y="5486400"/>
            <a:ext cx="0" cy="274320"/>
          </a:xfrm>
          <a:prstGeom prst="line">
            <a:avLst/>
          </a:prstGeom>
          <a:noFill/>
          <a:ln w="12700">
            <a:solidFill>
              <a:schemeClr val="accent3"/>
            </a:solidFill>
            <a:prstDash val="solid"/>
          </a:ln>
        </p:spPr>
      </p:sp>
      <p:sp>
        <p:nvSpPr>
          <p:cNvPr id="11" name="Shape 8"/>
          <p:cNvSpPr/>
          <p:nvPr/>
        </p:nvSpPr>
        <p:spPr>
          <a:xfrm>
            <a:off x="1271016" y="5760720"/>
            <a:ext cx="5020056" cy="0"/>
          </a:xfrm>
          <a:prstGeom prst="line">
            <a:avLst/>
          </a:prstGeom>
          <a:noFill/>
          <a:ln w="12700">
            <a:solidFill>
              <a:schemeClr val="accent3"/>
            </a:solidFill>
            <a:prstDash val="solid"/>
          </a:ln>
        </p:spPr>
      </p:sp>
      <p:sp>
        <p:nvSpPr>
          <p:cNvPr id="12" name="Shape 9"/>
          <p:cNvSpPr/>
          <p:nvPr/>
        </p:nvSpPr>
        <p:spPr>
          <a:xfrm>
            <a:off x="1271016" y="5760720"/>
            <a:ext cx="0" cy="228600"/>
          </a:xfrm>
          <a:prstGeom prst="line">
            <a:avLst/>
          </a:prstGeom>
          <a:noFill/>
          <a:ln w="12700">
            <a:solidFill>
              <a:schemeClr val="accent3"/>
            </a:solidFill>
            <a:prstDash val="solid"/>
          </a:ln>
        </p:spPr>
      </p:sp>
      <p:sp>
        <p:nvSpPr>
          <p:cNvPr id="13" name="Shape 1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14" name="Text 1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15" name="Text 1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i="1" dirty="0">
                <a:solidFill>
                  <a:schemeClr val="accent1"/>
                </a:solidFill>
              </a:rPr>
              <a:t>CẦN BỔ SUNG</a:t>
            </a:r>
            <a:endParaRPr lang="en-US" sz="850" dirty="0"/>
          </a:p>
        </p:txBody>
      </p:sp>
      <p:sp>
        <p:nvSpPr>
          <p:cNvPr id="16" name="Shape 13"/>
          <p:cNvSpPr/>
          <p:nvPr/>
        </p:nvSpPr>
        <p:spPr>
          <a:xfrm>
            <a:off x="2944368" y="5760720"/>
            <a:ext cx="0" cy="228600"/>
          </a:xfrm>
          <a:prstGeom prst="line">
            <a:avLst/>
          </a:prstGeom>
          <a:noFill/>
          <a:ln w="12700">
            <a:solidFill>
              <a:schemeClr val="accent3"/>
            </a:solidFill>
            <a:prstDash val="solid"/>
          </a:ln>
        </p:spPr>
      </p:sp>
      <p:sp>
        <p:nvSpPr>
          <p:cNvPr id="17" name="Shape 1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18" name="Text 1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19" name="Text 1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i="1" dirty="0">
                <a:solidFill>
                  <a:schemeClr val="accent1"/>
                </a:solidFill>
              </a:rPr>
              <a:t>CẦN BỔ SUNG</a:t>
            </a:r>
            <a:endParaRPr lang="en-US" sz="850" dirty="0"/>
          </a:p>
        </p:txBody>
      </p:sp>
      <p:sp>
        <p:nvSpPr>
          <p:cNvPr id="20" name="Shape 17"/>
          <p:cNvSpPr/>
          <p:nvPr/>
        </p:nvSpPr>
        <p:spPr>
          <a:xfrm>
            <a:off x="4617720" y="5760720"/>
            <a:ext cx="0" cy="228600"/>
          </a:xfrm>
          <a:prstGeom prst="line">
            <a:avLst/>
          </a:prstGeom>
          <a:noFill/>
          <a:ln w="12700">
            <a:solidFill>
              <a:schemeClr val="accent3"/>
            </a:solidFill>
            <a:prstDash val="solid"/>
          </a:ln>
        </p:spPr>
      </p:sp>
      <p:sp>
        <p:nvSpPr>
          <p:cNvPr id="21" name="Shape 1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22" name="Text 1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23" name="Text 2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i="1" dirty="0">
                <a:solidFill>
                  <a:schemeClr val="accent1"/>
                </a:solidFill>
              </a:rPr>
              <a:t>CẦN BỔ SUNG</a:t>
            </a:r>
            <a:endParaRPr lang="en-US" sz="850" dirty="0"/>
          </a:p>
        </p:txBody>
      </p:sp>
      <p:sp>
        <p:nvSpPr>
          <p:cNvPr id="24" name="Shape 21"/>
          <p:cNvSpPr/>
          <p:nvPr/>
        </p:nvSpPr>
        <p:spPr>
          <a:xfrm>
            <a:off x="6291072" y="5760720"/>
            <a:ext cx="0" cy="228600"/>
          </a:xfrm>
          <a:prstGeom prst="line">
            <a:avLst/>
          </a:prstGeom>
          <a:noFill/>
          <a:ln w="12700">
            <a:solidFill>
              <a:schemeClr val="accent3"/>
            </a:solidFill>
            <a:prstDash val="solid"/>
          </a:ln>
        </p:spPr>
      </p:sp>
      <p:sp>
        <p:nvSpPr>
          <p:cNvPr id="25" name="Shape 2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26" name="Text 2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27" name="Text 2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i="1" dirty="0">
                <a:solidFill>
                  <a:schemeClr val="accent1"/>
                </a:solidFill>
              </a:rPr>
              <a:t>CẦN BỔ SUNG</a:t>
            </a:r>
            <a:endParaRPr lang="en-US" sz="850" dirty="0"/>
          </a:p>
        </p:txBody>
      </p:sp>
      <p:sp>
        <p:nvSpPr>
          <p:cNvPr id="28" name="Shape 25"/>
          <p:cNvSpPr/>
          <p:nvPr/>
        </p:nvSpPr>
        <p:spPr>
          <a:xfrm>
            <a:off x="3781044" y="6766560"/>
            <a:ext cx="0" cy="274320"/>
          </a:xfrm>
          <a:prstGeom prst="line">
            <a:avLst/>
          </a:prstGeom>
          <a:noFill/>
          <a:ln w="12700">
            <a:solidFill>
              <a:schemeClr val="accent3"/>
            </a:solidFill>
            <a:prstDash val="solid"/>
          </a:ln>
        </p:spPr>
      </p:sp>
      <p:sp>
        <p:nvSpPr>
          <p:cNvPr id="29" name="Shape 2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0" name="Text 2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31" name="Text 2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i="1" dirty="0">
                <a:solidFill>
                  <a:schemeClr val="accent1"/>
                </a:solidFill>
              </a:rPr>
              <a:t>Số người: CẦN BỔ SUNG</a:t>
            </a:r>
            <a:endParaRPr lang="en-US" sz="850" dirty="0"/>
          </a:p>
        </p:txBody>
      </p:sp>
      <p:sp>
        <p:nvSpPr>
          <p:cNvPr id="32" name="Shape 2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33" name="Text 3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34" name="Text 3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i="1" dirty="0">
                <a:solidFill>
                  <a:schemeClr val="accent1"/>
                </a:solidFill>
              </a:rPr>
              <a:t>Số người: CẦN BỔ SUNG</a:t>
            </a:r>
            <a:endParaRPr lang="en-US" sz="850" dirty="0"/>
          </a:p>
        </p:txBody>
      </p:sp>
      <p:sp>
        <p:nvSpPr>
          <p:cNvPr id="35" name="Shape 3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36" name="Text 3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 – HÚT SƯƠNG DẦU</a:t>
            </a:r>
            <a:endParaRPr lang="en-US" sz="950" dirty="0"/>
          </a:p>
        </p:txBody>
      </p:sp>
      <p:sp>
        <p:nvSpPr>
          <p:cNvPr id="37" name="Text 3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i="1" dirty="0">
                <a:solidFill>
                  <a:schemeClr val="accent1"/>
                </a:solidFill>
              </a:rPr>
              <a:t>Số người: CẦN BỔ SUNG</a:t>
            </a:r>
            <a:endParaRPr lang="en-US" sz="850" dirty="0"/>
          </a:p>
        </p:txBody>
      </p:sp>
      <p:sp>
        <p:nvSpPr>
          <p:cNvPr id="38" name="Shape 35"/>
          <p:cNvSpPr/>
          <p:nvPr/>
        </p:nvSpPr>
        <p:spPr>
          <a:xfrm>
            <a:off x="1549908" y="7040880"/>
            <a:ext cx="4462272" cy="0"/>
          </a:xfrm>
          <a:prstGeom prst="line">
            <a:avLst/>
          </a:prstGeom>
          <a:noFill/>
          <a:ln w="12700">
            <a:solidFill>
              <a:schemeClr val="accent3"/>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8092440"/>
          <a:ext cx="6556248" cy="914400"/>
        </p:xfrm>
        <a:graphic>
          <a:graphicData uri="http://schemas.openxmlformats.org/drawingml/2006/table">
            <a:tbl>
              <a:tblPr/>
              <a:tblGrid>
                <a:gridCol w="1828800"/>
                <a:gridCol w="1463040"/>
                <a:gridCol w="1984248"/>
                <a:gridCol w="1280160"/>
              </a:tblGrid>
              <a:tr h="329184">
                <a:tc>
                  <a:txBody>
                    <a:bodyPr/>
                    <a:lstStyle/>
                    <a:p>
                      <a:pPr indent="0" marL="0">
                        <a:buNone/>
                      </a:pPr>
                      <a:r>
                        <a:rPr lang="en-US" sz="900" b="1" dirty="0">
                          <a:solidFill>
                            <a:schemeClr val="bg1"/>
                          </a:solidFill>
                        </a:rPr>
                        <a:t>Họ và tên</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rPr>
                        <a:t>Chức danh</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rPr>
                        <a:t>Trình độ / chứng chỉ</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rPr>
                        <a:t>Kinh nghiệm</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29184">
                <a:tc>
                  <a:txBody>
                    <a:bodyPr/>
                    <a:lstStyle/>
                    <a:p>
                      <a:pPr indent="0" marL="0">
                        <a:buNone/>
                      </a:pPr>
                      <a:r>
                        <a:rPr lang="en-US" sz="900" dirty="0">
                          <a:solidFill>
                            <a:srgbClr val="1B2433"/>
                          </a:solidFill>
                        </a:rPr>
                        <a:t>Hồ Văn Bình</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r>
                        <a:rPr lang="en-US" sz="900" dirty="0">
                          <a:solidFill>
                            <a:srgbClr val="1B2433"/>
                          </a:solidFill>
                        </a:rPr>
                        <a:t>Giám đốc</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r>
                        <a:rPr lang="en-US" sz="900" dirty="0">
                          <a:solidFill>
                            <a:srgbClr val="1B2433"/>
                          </a:solidFill>
                        </a:rPr>
                        <a:t>CẦN BỔ SUNG</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r>
                        <a:rPr lang="en-US" sz="900" dirty="0">
                          <a:solidFill>
                            <a:srgbClr val="1B2433"/>
                          </a:solidFill>
                        </a:rPr>
                        <a:t>CẦN BỔ SUNG</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29184">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29184">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sp>
        <p:nvSpPr>
          <p:cNvPr id="4" name="Text 2"/>
          <p:cNvSpPr txBox="1"/>
          <p:nvPr/>
        </p:nvSpPr>
        <p:spPr>
          <a:xfrm>
            <a:off x="4681728" y="1188720"/>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SỐ LƯỢNG – CẦN BỔ SUNG</a:t>
            </a:r>
            <a:endParaRPr lang="en-US" sz="750" dirty="0"/>
          </a:p>
        </p:txBody>
      </p:sp>
      <p:pic>
        <p:nvPicPr>
          <p:cNvPr id="5" name="photo img28.jpg" descr="Xe nâng người cắt kéo">    </p:cNvPr>
          <p:cNvPicPr>
            <a:picLocks noChangeAspect="1"/>
          </p:cNvPicPr>
          <p:nvPr/>
        </p:nvPicPr>
        <p:blipFill>
          <a:blip r:embed="rId1"/>
          <a:stretch>
            <a:fillRect/>
          </a:stretch>
        </p:blipFill>
        <p:spPr>
          <a:xfrm>
            <a:off x="502920" y="1463040"/>
            <a:ext cx="2063496" cy="2377440"/>
          </a:xfrm>
          <a:prstGeom prst="rect">
            <a:avLst/>
          </a:prstGeom>
        </p:spPr>
      </p:pic>
      <p:sp>
        <p:nvSpPr>
          <p:cNvPr id="6" name="Text 3"/>
          <p:cNvSpPr txBox="1"/>
          <p:nvPr/>
        </p:nvSpPr>
        <p:spPr>
          <a:xfrm>
            <a:off x="502920"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a:t>
            </a:r>
            <a:endParaRPr lang="en-US" sz="800" dirty="0"/>
          </a:p>
        </p:txBody>
      </p:sp>
      <p:pic>
        <p:nvPicPr>
          <p:cNvPr id="7" name="photo img13.jpg" descr="Giàn giáo di động">    </p:cNvPr>
          <p:cNvPicPr>
            <a:picLocks noChangeAspect="1"/>
          </p:cNvPicPr>
          <p:nvPr/>
        </p:nvPicPr>
        <p:blipFill>
          <a:blip r:embed="rId2"/>
          <a:stretch>
            <a:fillRect/>
          </a:stretch>
        </p:blipFill>
        <p:spPr>
          <a:xfrm>
            <a:off x="2749296" y="1463040"/>
            <a:ext cx="2063496" cy="2377440"/>
          </a:xfrm>
          <a:prstGeom prst="rect">
            <a:avLst/>
          </a:prstGeom>
        </p:spPr>
      </p:pic>
      <p:sp>
        <p:nvSpPr>
          <p:cNvPr id="8" name="Text 4"/>
          <p:cNvSpPr txBox="1"/>
          <p:nvPr/>
        </p:nvSpPr>
        <p:spPr>
          <a:xfrm>
            <a:off x="2749296"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Giàn giáo di động</a:t>
            </a:r>
            <a:endParaRPr lang="en-US" sz="800" dirty="0"/>
          </a:p>
        </p:txBody>
      </p:sp>
      <p:pic>
        <p:nvPicPr>
          <p:cNvPr id="9" name="photo img10.jpg" descr="Máy cắt, dụng cụ cầm tay">    </p:cNvPr>
          <p:cNvPicPr>
            <a:picLocks noChangeAspect="1"/>
          </p:cNvPicPr>
          <p:nvPr/>
        </p:nvPicPr>
        <p:blipFill>
          <a:blip r:embed="rId3"/>
          <a:stretch>
            <a:fillRect/>
          </a:stretch>
        </p:blipFill>
        <p:spPr>
          <a:xfrm>
            <a:off x="4995672" y="1463040"/>
            <a:ext cx="2063496" cy="2377440"/>
          </a:xfrm>
          <a:prstGeom prst="rect">
            <a:avLst/>
          </a:prstGeom>
        </p:spPr>
      </p:pic>
      <p:sp>
        <p:nvSpPr>
          <p:cNvPr id="10" name="Text 5"/>
          <p:cNvSpPr txBox="1"/>
          <p:nvPr/>
        </p:nvSpPr>
        <p:spPr>
          <a:xfrm>
            <a:off x="4995672"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cắt, dụng cụ cầm tay</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3310128"/>
                <a:gridCol w="1371600"/>
                <a:gridCol w="1371600"/>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Số lượng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Sở hữu / thuê</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đo điện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2"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Danh mục trên là thiết bị thường dùng cho thi công điện nước, cần doanh nghiệp xác nhận và điền số lượng thực tế.</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Chủ đầu tư / Tổng thầu</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 (theo dấu ảnh hiện trường) – đang thi công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34.jpg" descr="Lắp máy lọc sương dầu trên đầu máy">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trên đầu máy</a:t>
            </a:r>
            <a:endParaRPr lang="en-US" sz="800" dirty="0"/>
          </a:p>
        </p:txBody>
      </p:sp>
      <p:pic>
        <p:nvPicPr>
          <p:cNvPr id="9" name="photo img40.jpg" descr="Thi công tuyến ống trên cao">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cao</a:t>
            </a:r>
            <a:endParaRPr lang="en-US" sz="800" dirty="0"/>
          </a:p>
        </p:txBody>
      </p:sp>
      <p:pic>
        <p:nvPicPr>
          <p:cNvPr id="11" name="photo img25.jpg" descr="Máy lọc lắp trên giá đỡ cột">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13" name="photo img39.jpg" descr="Đấu nối ống mềm xuống máy CNC">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Chủ đầu tư / Tổng thầu</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Thi công hệ thống điện, cấp thoát nước – CẦN BỔ SUNG phạm vi cụ thể</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(theo dấu ảnh hiện trường)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pic>
        <p:nvPicPr>
          <p:cNvPr id="13" name="photo img41.jpg" descr="Kéo ống trên xe nâng người">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Kéo ống trên xe nâng người</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Chủ đầu tư / Tổng thầu</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Thành phố Huế (nhà xưởng khu công nghiệp – CẦN BỔ SUNG tên KCN)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(theo dấu ảnh hiện trường)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45.jpg" descr="Đội BLT tiếp nhận, mở kiện thiết bị">    </p:cNvPr>
          <p:cNvPicPr>
            <a:picLocks noChangeAspect="1"/>
          </p:cNvPicPr>
          <p:nvPr/>
        </p:nvPicPr>
        <p:blipFill>
          <a:blip r:embed="rId1"/>
          <a:stretch>
            <a:fillRect/>
          </a:stretch>
        </p:blipFill>
        <p:spPr>
          <a:xfrm>
            <a:off x="502920" y="3200400"/>
            <a:ext cx="3186684" cy="2743200"/>
          </a:xfrm>
          <a:prstGeom prst="rect">
            <a:avLst/>
          </a:prstGeom>
        </p:spPr>
      </p:pic>
      <p:sp>
        <p:nvSpPr>
          <p:cNvPr id="6" name="Text 2"/>
          <p:cNvSpPr txBox="1"/>
          <p:nvPr/>
        </p:nvSpPr>
        <p:spPr>
          <a:xfrm>
            <a:off x="502920"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tiếp nhận, mở kiện thiết bị</a:t>
            </a:r>
            <a:endParaRPr lang="en-US" sz="800" dirty="0"/>
          </a:p>
        </p:txBody>
      </p:sp>
      <p:pic>
        <p:nvPicPr>
          <p:cNvPr id="7" name="photo img16.jpg" descr="Lắp đặt cụm bơm, van và đồng hồ áp">    </p:cNvPr>
          <p:cNvPicPr>
            <a:picLocks noChangeAspect="1"/>
          </p:cNvPicPr>
          <p:nvPr/>
        </p:nvPicPr>
        <p:blipFill>
          <a:blip r:embed="rId2"/>
          <a:stretch>
            <a:fillRect/>
          </a:stretch>
        </p:blipFill>
        <p:spPr>
          <a:xfrm>
            <a:off x="3872484" y="3200400"/>
            <a:ext cx="3186684" cy="2743200"/>
          </a:xfrm>
          <a:prstGeom prst="rect">
            <a:avLst/>
          </a:prstGeom>
        </p:spPr>
      </p:pic>
      <p:sp>
        <p:nvSpPr>
          <p:cNvPr id="8" name="Text 3"/>
          <p:cNvSpPr txBox="1"/>
          <p:nvPr/>
        </p:nvSpPr>
        <p:spPr>
          <a:xfrm>
            <a:off x="3872484"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502920" y="6309360"/>
            <a:ext cx="2063496" cy="329184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pic>
        <p:nvPicPr>
          <p:cNvPr id="11" name="photo img48.jpg" descr="Lắp bơm định lượng hóa chất">    </p:cNvPr>
          <p:cNvPicPr>
            <a:picLocks noChangeAspect="1"/>
          </p:cNvPicPr>
          <p:nvPr/>
        </p:nvPicPr>
        <p:blipFill>
          <a:blip r:embed="rId4"/>
          <a:stretch>
            <a:fillRect/>
          </a:stretch>
        </p:blipFill>
        <p:spPr>
          <a:xfrm>
            <a:off x="2749296" y="6309360"/>
            <a:ext cx="2063496" cy="329184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13" name="photo img46.jpg" descr="Tập kết thiết bị trong nhà xưởng">    </p:cNvPr>
          <p:cNvPicPr>
            <a:picLocks noChangeAspect="1"/>
          </p:cNvPicPr>
          <p:nvPr/>
        </p:nvPicPr>
        <p:blipFill>
          <a:blip r:embed="rId5"/>
          <a:stretch>
            <a:fillRect/>
          </a:stretch>
        </p:blipFill>
        <p:spPr>
          <a:xfrm>
            <a:off x="4995672" y="6309360"/>
            <a:ext cx="2063496" cy="329184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trong nhà xưởng</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sp>
        <p:nvSpPr>
          <p:cNvPr id="4" name="Text 2"/>
          <p:cNvSpPr txBox="1"/>
          <p:nvPr/>
        </p:nvSpPr>
        <p:spPr>
          <a:xfrm>
            <a:off x="4681728" y="1188720"/>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CẦN DOANH NGHIỆP BỔ SUNG</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365760"/>
                <a:gridCol w="1828800"/>
                <a:gridCol w="1234440"/>
                <a:gridCol w="1508760"/>
                <a:gridCol w="777240"/>
                <a:gridCol w="841248"/>
              </a:tblGrid>
              <a:tr h="566928">
                <a:tc>
                  <a:txBody>
                    <a:bodyPr/>
                    <a:lstStyle/>
                    <a:p>
                      <a:pPr algn="ctr" indent="0" marL="0">
                        <a:buNone/>
                      </a:pPr>
                      <a:r>
                        <a:rPr lang="en-US" sz="850" b="1" dirty="0">
                          <a:solidFill>
                            <a:schemeClr val="bg1"/>
                          </a:solidFill>
                        </a:rPr>
                        <a:t>STT</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850" b="1" dirty="0">
                          <a:solidFill>
                            <a:schemeClr val="bg1"/>
                          </a:solidFill>
                        </a:rPr>
                        <a:t>Tên công trình / Địa điểm</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850" b="1" dirty="0">
                          <a:solidFill>
                            <a:schemeClr val="bg1"/>
                          </a:solidFill>
                        </a:rPr>
                        <a:t>Chủ đầu tư / Tổng thầu</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850" b="1" dirty="0">
                          <a:solidFill>
                            <a:schemeClr val="bg1"/>
                          </a:solidFill>
                        </a:rPr>
                        <a:t>Hạng mục BLT thực hiện</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850" b="1" dirty="0">
                          <a:solidFill>
                            <a:schemeClr val="bg1"/>
                          </a:solidFill>
                        </a:rPr>
                        <a:t>Thời gian</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850" b="1" dirty="0">
                          <a:solidFill>
                            <a:schemeClr val="bg1"/>
                          </a:solidFill>
                        </a:rPr>
                        <a:t>Giá trị HĐ</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566928">
                <a:tc>
                  <a:txBody>
                    <a:bodyPr/>
                    <a:lstStyle/>
                    <a:p>
                      <a:pPr algn="ctr" indent="0" marL="0">
                        <a:buNone/>
                      </a:pPr>
                      <a:r>
                        <a:rPr lang="en-US" sz="850" dirty="0">
                          <a:solidFill>
                            <a:srgbClr val="1B2433"/>
                          </a:solidFill>
                        </a:rPr>
                        <a:t>1</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Nhà xưởng CNC – xã Hưng Nguyên, Nghệ An</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Hút sương dầu, lắp máy lọc, đấu nối điện</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09–10/2026</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566928">
                <a:tc>
                  <a:txBody>
                    <a:bodyPr/>
                    <a:lstStyle/>
                    <a:p>
                      <a:pPr algn="ctr" indent="0" marL="0">
                        <a:buNone/>
                      </a:pPr>
                      <a:r>
                        <a:rPr lang="en-US" sz="850" dirty="0">
                          <a:solidFill>
                            <a:srgbClr val="1B2433"/>
                          </a:solidFill>
                        </a:rPr>
                        <a:t>2</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50" dirty="0">
                          <a:solidFill>
                            <a:srgbClr val="1B2433"/>
                          </a:solidFill>
                        </a:rPr>
                        <a:t>Công trình nhiều tầng – P. Hà Nam, Ninh Bình</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50" dirty="0">
                          <a:solidFill>
                            <a:srgbClr val="1B2433"/>
                          </a:solidFill>
                        </a:rPr>
                        <a:t>Điện, cấp thoát nước</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50" dirty="0">
                          <a:solidFill>
                            <a:srgbClr val="1B2433"/>
                          </a:solidFill>
                        </a:rPr>
                        <a:t>09/2026</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566928">
                <a:tc>
                  <a:txBody>
                    <a:bodyPr/>
                    <a:lstStyle/>
                    <a:p>
                      <a:pPr algn="ctr" indent="0" marL="0">
                        <a:buNone/>
                      </a:pPr>
                      <a:r>
                        <a:rPr lang="en-US" sz="850" dirty="0">
                          <a:solidFill>
                            <a:srgbClr val="1B2433"/>
                          </a:solidFill>
                        </a:rPr>
                        <a:t>3</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Trạm xử lý nước – TP. Huế</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Bơm, bơm định lượng, bồn lọc, khung đỡ, đường ống</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09/2026</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566928">
                <a:tc>
                  <a:txBody>
                    <a:bodyPr/>
                    <a:lstStyle/>
                    <a:p>
                      <a:pPr algn="ctr" indent="0" marL="0">
                        <a:buNone/>
                      </a:pPr>
                      <a:r>
                        <a:rPr lang="en-US" sz="850" dirty="0">
                          <a:solidFill>
                            <a:srgbClr val="1B2433"/>
                          </a:solidFill>
                        </a:rPr>
                        <a:t>4</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566928">
                <a:tc>
                  <a:txBody>
                    <a:bodyPr/>
                    <a:lstStyle/>
                    <a:p>
                      <a:pPr algn="ctr" indent="0" marL="0">
                        <a:buNone/>
                      </a:pPr>
                      <a:r>
                        <a:rPr lang="en-US" sz="850" dirty="0">
                          <a:solidFill>
                            <a:srgbClr val="1B2433"/>
                          </a:solidFill>
                        </a:rPr>
                        <a:t>5</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566928">
                <a:tc>
                  <a:txBody>
                    <a:bodyPr/>
                    <a:lstStyle/>
                    <a:p>
                      <a:pPr algn="ctr" indent="0" marL="0">
                        <a:buNone/>
                      </a:pPr>
                      <a:r>
                        <a:rPr lang="en-US" sz="850" dirty="0">
                          <a:solidFill>
                            <a:srgbClr val="1B2433"/>
                          </a:solidFill>
                        </a:rPr>
                        <a:t>6</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566928">
                <a:tc>
                  <a:txBody>
                    <a:bodyPr/>
                    <a:lstStyle/>
                    <a:p>
                      <a:pPr algn="ctr" indent="0" marL="0">
                        <a:buNone/>
                      </a:pPr>
                      <a:r>
                        <a:rPr lang="en-US" sz="850" dirty="0">
                          <a:solidFill>
                            <a:srgbClr val="1B2433"/>
                          </a:solidFill>
                        </a:rPr>
                        <a:t>7</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566928">
                <a:tc>
                  <a:txBody>
                    <a:bodyPr/>
                    <a:lstStyle/>
                    <a:p>
                      <a:pPr algn="ctr" indent="0" marL="0">
                        <a:buNone/>
                      </a:pPr>
                      <a:r>
                        <a:rPr lang="en-US" sz="850" dirty="0">
                          <a:solidFill>
                            <a:srgbClr val="1B2433"/>
                          </a:solidFill>
                        </a:rPr>
                        <a:t>8</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566928">
                <a:tc>
                  <a:txBody>
                    <a:bodyPr/>
                    <a:lstStyle/>
                    <a:p>
                      <a:pPr algn="ctr" indent="0" marL="0">
                        <a:buNone/>
                      </a:pPr>
                      <a:r>
                        <a:rPr lang="en-US" sz="850" dirty="0">
                          <a:solidFill>
                            <a:srgbClr val="1B2433"/>
                          </a:solidFill>
                        </a:rPr>
                        <a:t>9</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566928">
                <a:tc>
                  <a:txBody>
                    <a:bodyPr/>
                    <a:lstStyle/>
                    <a:p>
                      <a:pPr algn="ctr" indent="0" marL="0">
                        <a:buNone/>
                      </a:pPr>
                      <a:r>
                        <a:rPr lang="en-US" sz="850" dirty="0">
                          <a:solidFill>
                            <a:srgbClr val="1B2433"/>
                          </a:solidFill>
                        </a:rPr>
                        <a:t>10</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6" name="Shape 3"/>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7" name="Text 4"/>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ĐÍNH KÈM (NẾU CÓ)</a:t>
            </a:r>
            <a:endParaRPr lang="en-US" sz="900" dirty="0"/>
          </a:p>
        </p:txBody>
      </p:sp>
      <p:sp>
        <p:nvSpPr>
          <p:cNvPr id="8" name="Text 5"/>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Bản sao hợp đồng, biên bản nghiệm thu, thanh lý hợp đồng tiêu biểu</a:t>
            </a:r>
            <a:endParaRPr lang="en-US" sz="950" dirty="0"/>
          </a:p>
          <a:p>
            <a:pPr marL="152400" indent="-152400">
              <a:spcAft>
                <a:spcPts val="400"/>
              </a:spcAft>
              <a:buSzPct val="100000"/>
              <a:buChar char="•"/>
            </a:pPr>
            <a:r>
              <a:rPr lang="en-US" sz="950" dirty="0">
                <a:solidFill>
                  <a:schemeClr val="tx1"/>
                </a:solidFill>
              </a:rPr>
              <a:t>Thư xác nhận / đánh giá của chủ đầu tư, tổng thầu</a:t>
            </a:r>
            <a:endParaRPr lang="en-US" sz="950" dirty="0"/>
          </a:p>
          <a:p>
            <a:pPr marL="152400" indent="-152400">
              <a:spcAft>
                <a:spcPts val="400"/>
              </a:spcAft>
              <a:buSzPct val="100000"/>
              <a:buChar char="•"/>
            </a:pPr>
            <a:r>
              <a:rPr lang="en-US" sz="950" dirty="0">
                <a:solidFill>
                  <a:schemeClr val="tx1"/>
                </a:solidFill>
              </a:rPr>
              <a:t>Chứng chỉ an toàn lao động, chứng chỉ hành nghề của nhân sự chủ chốt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pic>
        <p:nvPicPr>
          <p:cNvPr id="4" name="photo img36.jpg" descr="Ảnh hiện trường BLT">    </p:cNvPr>
          <p:cNvPicPr>
            <a:picLocks noChangeAspect="1"/>
          </p:cNvPicPr>
          <p:nvPr/>
        </p:nvPicPr>
        <p:blipFill>
          <a:blip r:embed="rId1"/>
          <a:stretch>
            <a:fillRect/>
          </a:stretch>
        </p:blipFill>
        <p:spPr>
          <a:xfrm>
            <a:off x="502920" y="1463040"/>
            <a:ext cx="6556248" cy="3291840"/>
          </a:xfrm>
          <a:prstGeom prst="rect">
            <a:avLst/>
          </a:prstGeom>
        </p:spPr>
      </p:pic>
      <p:sp>
        <p:nvSpPr>
          <p:cNvPr id="5" name="Shape 2"/>
          <p:cNvSpPr/>
          <p:nvPr/>
        </p:nvSpPr>
        <p:spPr>
          <a:xfrm>
            <a:off x="502920" y="5074920"/>
            <a:ext cx="3186684" cy="1417320"/>
          </a:xfrm>
          <a:prstGeom prst="roundRect">
            <a:avLst>
              <a:gd name="adj" fmla="val 5161"/>
            </a:avLst>
          </a:prstGeom>
          <a:solidFill>
            <a:schemeClr val="bg2"/>
          </a:solidFill>
          <a:ln w="12700">
            <a:solidFill>
              <a:schemeClr val="bg2"/>
            </a:solidFill>
            <a:prstDash val="solid"/>
          </a:ln>
        </p:spPr>
      </p:sp>
      <p:sp>
        <p:nvSpPr>
          <p:cNvPr id="6" name="Shape 3"/>
          <p:cNvSpPr/>
          <p:nvPr/>
        </p:nvSpPr>
        <p:spPr>
          <a:xfrm>
            <a:off x="640080" y="5212080"/>
            <a:ext cx="365760" cy="365760"/>
          </a:xfrm>
          <a:prstGeom prst="ellipse">
            <a:avLst/>
          </a:prstGeom>
          <a:solidFill>
            <a:schemeClr val="accent1"/>
          </a:solidFill>
          <a:ln w="12700">
            <a:solidFill>
              <a:schemeClr val="accent1"/>
            </a:solidFill>
            <a:prstDash val="solid"/>
          </a:ln>
        </p:spPr>
      </p:sp>
      <p:sp>
        <p:nvSpPr>
          <p:cNvPr id="7" name="Text 4"/>
          <p:cNvSpPr txBox="1"/>
          <p:nvPr/>
        </p:nvSpPr>
        <p:spPr>
          <a:xfrm>
            <a:off x="640080"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8" name="Text 5"/>
          <p:cNvSpPr txBox="1"/>
          <p:nvPr/>
        </p:nvSpPr>
        <p:spPr>
          <a:xfrm>
            <a:off x="1097280"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9" name="Text 6"/>
          <p:cNvSpPr txBox="1"/>
          <p:nvPr/>
        </p:nvSpPr>
        <p:spPr>
          <a:xfrm>
            <a:off x="1097280"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0" name="Shape 7"/>
          <p:cNvSpPr/>
          <p:nvPr/>
        </p:nvSpPr>
        <p:spPr>
          <a:xfrm>
            <a:off x="3872484" y="5074920"/>
            <a:ext cx="3186684" cy="1417320"/>
          </a:xfrm>
          <a:prstGeom prst="roundRect">
            <a:avLst>
              <a:gd name="adj" fmla="val 5161"/>
            </a:avLst>
          </a:prstGeom>
          <a:solidFill>
            <a:schemeClr val="bg2"/>
          </a:solidFill>
          <a:ln w="12700">
            <a:solidFill>
              <a:schemeClr val="bg2"/>
            </a:solidFill>
            <a:prstDash val="solid"/>
          </a:ln>
        </p:spPr>
      </p:sp>
      <p:sp>
        <p:nvSpPr>
          <p:cNvPr id="11" name="Shape 8"/>
          <p:cNvSpPr/>
          <p:nvPr/>
        </p:nvSpPr>
        <p:spPr>
          <a:xfrm>
            <a:off x="4009644" y="521208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4009644"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3" name="Text 10"/>
          <p:cNvSpPr txBox="1"/>
          <p:nvPr/>
        </p:nvSpPr>
        <p:spPr>
          <a:xfrm>
            <a:off x="4466844"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4" name="Text 11"/>
          <p:cNvSpPr txBox="1"/>
          <p:nvPr/>
        </p:nvSpPr>
        <p:spPr>
          <a:xfrm>
            <a:off x="4466844"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5" name="Shape 12"/>
          <p:cNvSpPr/>
          <p:nvPr/>
        </p:nvSpPr>
        <p:spPr>
          <a:xfrm>
            <a:off x="502920" y="6656832"/>
            <a:ext cx="3186684" cy="1417320"/>
          </a:xfrm>
          <a:prstGeom prst="roundRect">
            <a:avLst>
              <a:gd name="adj" fmla="val 5161"/>
            </a:avLst>
          </a:prstGeom>
          <a:solidFill>
            <a:schemeClr val="bg2"/>
          </a:solidFill>
          <a:ln w="12700">
            <a:solidFill>
              <a:schemeClr val="bg2"/>
            </a:solidFill>
            <a:prstDash val="solid"/>
          </a:ln>
        </p:spPr>
      </p:sp>
      <p:sp>
        <p:nvSpPr>
          <p:cNvPr id="16" name="Shape 13"/>
          <p:cNvSpPr/>
          <p:nvPr/>
        </p:nvSpPr>
        <p:spPr>
          <a:xfrm>
            <a:off x="640080" y="6793992"/>
            <a:ext cx="365760" cy="365760"/>
          </a:xfrm>
          <a:prstGeom prst="ellipse">
            <a:avLst/>
          </a:prstGeom>
          <a:solidFill>
            <a:schemeClr val="accent1"/>
          </a:solidFill>
          <a:ln w="12700">
            <a:solidFill>
              <a:schemeClr val="accent1"/>
            </a:solidFill>
            <a:prstDash val="solid"/>
          </a:ln>
        </p:spPr>
      </p:sp>
      <p:sp>
        <p:nvSpPr>
          <p:cNvPr id="17" name="Text 14"/>
          <p:cNvSpPr txBox="1"/>
          <p:nvPr/>
        </p:nvSpPr>
        <p:spPr>
          <a:xfrm>
            <a:off x="640080"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8" name="Text 15"/>
          <p:cNvSpPr txBox="1"/>
          <p:nvPr/>
        </p:nvSpPr>
        <p:spPr>
          <a:xfrm>
            <a:off x="1097280"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19" name="Text 16"/>
          <p:cNvSpPr txBox="1"/>
          <p:nvPr/>
        </p:nvSpPr>
        <p:spPr>
          <a:xfrm>
            <a:off x="1097280"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0" name="Shape 17"/>
          <p:cNvSpPr/>
          <p:nvPr/>
        </p:nvSpPr>
        <p:spPr>
          <a:xfrm>
            <a:off x="3872484" y="6656832"/>
            <a:ext cx="3186684" cy="1417320"/>
          </a:xfrm>
          <a:prstGeom prst="roundRect">
            <a:avLst>
              <a:gd name="adj" fmla="val 5161"/>
            </a:avLst>
          </a:prstGeom>
          <a:solidFill>
            <a:schemeClr val="bg2"/>
          </a:solidFill>
          <a:ln w="12700">
            <a:solidFill>
              <a:schemeClr val="bg2"/>
            </a:solidFill>
            <a:prstDash val="solid"/>
          </a:ln>
        </p:spPr>
      </p:sp>
      <p:sp>
        <p:nvSpPr>
          <p:cNvPr id="21" name="Shape 18"/>
          <p:cNvSpPr/>
          <p:nvPr/>
        </p:nvSpPr>
        <p:spPr>
          <a:xfrm>
            <a:off x="4009644" y="6793992"/>
            <a:ext cx="365760" cy="365760"/>
          </a:xfrm>
          <a:prstGeom prst="ellipse">
            <a:avLst/>
          </a:prstGeom>
          <a:solidFill>
            <a:schemeClr val="accent1"/>
          </a:solidFill>
          <a:ln w="12700">
            <a:solidFill>
              <a:schemeClr val="accent1"/>
            </a:solidFill>
            <a:prstDash val="solid"/>
          </a:ln>
        </p:spPr>
      </p:sp>
      <p:sp>
        <p:nvSpPr>
          <p:cNvPr id="22" name="Text 19"/>
          <p:cNvSpPr txBox="1"/>
          <p:nvPr/>
        </p:nvSpPr>
        <p:spPr>
          <a:xfrm>
            <a:off x="4009644"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3" name="Text 20"/>
          <p:cNvSpPr txBox="1"/>
          <p:nvPr/>
        </p:nvSpPr>
        <p:spPr>
          <a:xfrm>
            <a:off x="4466844"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4" name="Text 21"/>
          <p:cNvSpPr txBox="1"/>
          <p:nvPr/>
        </p:nvSpPr>
        <p:spPr>
          <a:xfrm>
            <a:off x="4466844"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5" name="Shape 22"/>
          <p:cNvSpPr/>
          <p:nvPr/>
        </p:nvSpPr>
        <p:spPr>
          <a:xfrm>
            <a:off x="502920" y="8238744"/>
            <a:ext cx="3186684" cy="1417320"/>
          </a:xfrm>
          <a:prstGeom prst="roundRect">
            <a:avLst>
              <a:gd name="adj" fmla="val 5161"/>
            </a:avLst>
          </a:prstGeom>
          <a:solidFill>
            <a:schemeClr val="bg2"/>
          </a:solidFill>
          <a:ln w="12700">
            <a:solidFill>
              <a:schemeClr val="bg2"/>
            </a:solidFill>
            <a:prstDash val="solid"/>
          </a:ln>
        </p:spPr>
      </p:sp>
      <p:sp>
        <p:nvSpPr>
          <p:cNvPr id="26" name="Shape 23"/>
          <p:cNvSpPr/>
          <p:nvPr/>
        </p:nvSpPr>
        <p:spPr>
          <a:xfrm>
            <a:off x="640080" y="8375904"/>
            <a:ext cx="365760" cy="365760"/>
          </a:xfrm>
          <a:prstGeom prst="ellipse">
            <a:avLst/>
          </a:prstGeom>
          <a:solidFill>
            <a:schemeClr val="accent1"/>
          </a:solidFill>
          <a:ln w="12700">
            <a:solidFill>
              <a:schemeClr val="accent1"/>
            </a:solidFill>
            <a:prstDash val="solid"/>
          </a:ln>
        </p:spPr>
      </p:sp>
      <p:sp>
        <p:nvSpPr>
          <p:cNvPr id="27" name="Text 24"/>
          <p:cNvSpPr txBox="1"/>
          <p:nvPr/>
        </p:nvSpPr>
        <p:spPr>
          <a:xfrm>
            <a:off x="640080"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8" name="Text 25"/>
          <p:cNvSpPr txBox="1"/>
          <p:nvPr/>
        </p:nvSpPr>
        <p:spPr>
          <a:xfrm>
            <a:off x="1097280"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29" name="Text 26"/>
          <p:cNvSpPr txBox="1"/>
          <p:nvPr/>
        </p:nvSpPr>
        <p:spPr>
          <a:xfrm>
            <a:off x="1097280"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theo hợp đồng (thời hạn: CẦN BỔ SUNG); phản hồi sự cố nhanh chóng.</a:t>
            </a:r>
            <a:endParaRPr lang="en-US" sz="950" dirty="0"/>
          </a:p>
        </p:txBody>
      </p:sp>
      <p:sp>
        <p:nvSpPr>
          <p:cNvPr id="30" name="Shape 27"/>
          <p:cNvSpPr/>
          <p:nvPr/>
        </p:nvSpPr>
        <p:spPr>
          <a:xfrm>
            <a:off x="3872484" y="8238744"/>
            <a:ext cx="3186684" cy="1417320"/>
          </a:xfrm>
          <a:prstGeom prst="roundRect">
            <a:avLst>
              <a:gd name="adj" fmla="val 5161"/>
            </a:avLst>
          </a:prstGeom>
          <a:solidFill>
            <a:schemeClr val="bg2"/>
          </a:solidFill>
          <a:ln w="12700">
            <a:solidFill>
              <a:schemeClr val="bg2"/>
            </a:solidFill>
            <a:prstDash val="solid"/>
          </a:ln>
        </p:spPr>
      </p:sp>
      <p:sp>
        <p:nvSpPr>
          <p:cNvPr id="31" name="Shape 28"/>
          <p:cNvSpPr/>
          <p:nvPr/>
        </p:nvSpPr>
        <p:spPr>
          <a:xfrm>
            <a:off x="4009644" y="8375904"/>
            <a:ext cx="365760" cy="365760"/>
          </a:xfrm>
          <a:prstGeom prst="ellipse">
            <a:avLst/>
          </a:prstGeom>
          <a:solidFill>
            <a:schemeClr val="accent1"/>
          </a:solidFill>
          <a:ln w="12700">
            <a:solidFill>
              <a:schemeClr val="accent1"/>
            </a:solidFill>
            <a:prstDash val="solid"/>
          </a:ln>
        </p:spPr>
      </p:sp>
      <p:sp>
        <p:nvSpPr>
          <p:cNvPr id="32" name="Text 29"/>
          <p:cNvSpPr txBox="1"/>
          <p:nvPr/>
        </p:nvSpPr>
        <p:spPr>
          <a:xfrm>
            <a:off x="4009644"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3" name="Text 30"/>
          <p:cNvSpPr txBox="1"/>
          <p:nvPr/>
        </p:nvSpPr>
        <p:spPr>
          <a:xfrm>
            <a:off x="4466844"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4" name="Text 31"/>
          <p:cNvSpPr txBox="1"/>
          <p:nvPr/>
        </p:nvSpPr>
        <p:spPr>
          <a:xfrm>
            <a:off x="4466844"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27.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55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958084" y="1280160"/>
            <a:ext cx="1645920" cy="164592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9" name="Text 15"/>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20" name="Text 16"/>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2026-10-10T09:21:26Z</dcterms:created>
  <dcterms:modified xsi:type="dcterms:W3CDTF">2026-10-10T09:21:26Z</dcterms:modified>
</cp:coreProperties>
</file>