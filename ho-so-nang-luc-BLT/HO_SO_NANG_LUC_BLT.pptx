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ec8ac14-cd5b-1cf6-96d5-baa4130c9a40}">
          <p14:sldIdLst>
            <p14:sldId id="256"/>
            <p14:sldId id="257"/>
            <p14:sldId id="258"/>
          </p14:sldIdLst>
        </p14:section>
        <p14:section name="01 Tổng quan" id="{a9abe568-a6f5-5364-a6ae-d792b97546b9}">
          <p14:sldIdLst>
            <p14:sldId id="259"/>
            <p14:sldId id="260"/>
            <p14:sldId id="261"/>
            <p14:sldId id="262"/>
            <p14:sldId id="263"/>
          </p14:sldIdLst>
        </p14:section>
        <p14:section name="02 Điện nước công trình" id="{66584b92-fd91-1a86-5927-ddd2a464c842}">
          <p14:sldIdLst>
            <p14:sldId id="264"/>
            <p14:sldId id="265"/>
            <p14:sldId id="266"/>
          </p14:sldIdLst>
        </p14:section>
        <p14:section name="03 Hút sương dầu nhà xưởng" id="{2dd76863-574d-d2d5-0410-d47ca529832e}">
          <p14:sldIdLst>
            <p14:sldId id="267"/>
            <p14:sldId id="268"/>
            <p14:sldId id="269"/>
          </p14:sldIdLst>
        </p14:section>
        <p14:section name="04 Bơm &amp; xử lý nước" id="{3239c8a7-1416-305b-2bc5-e2b06065fb82}">
          <p14:sldIdLst>
            <p14:sldId id="270"/>
          </p14:sldIdLst>
        </p14:section>
        <p14:section name="05 Quản trị dự án" id="{b2df1781-af03-e34c-749c-8a17c35e14ca}">
          <p14:sldIdLst>
            <p14:sldId id="271"/>
            <p14:sldId id="272"/>
            <p14:sldId id="273"/>
          </p14:sldIdLst>
        </p14:section>
        <p14:section name="06 Nguồn lực" id="{4d54e0ed-3836-55df-d266-c496a339a5f3}">
          <p14:sldIdLst>
            <p14:sldId id="274"/>
            <p14:sldId id="275"/>
          </p14:sldIdLst>
        </p14:section>
        <p14:section name="07 Công trình tiêu biểu" id="{a0cf37b7-1fc9-6446-e1ff-1ec7d6432dd9}">
          <p14:sldIdLst>
            <p14:sldId id="276"/>
            <p14:sldId id="277"/>
            <p14:sldId id="278"/>
            <p14:sldId id="279"/>
          </p14:sldIdLst>
        </p14:section>
        <p14:section name="08 Cam kết &amp; liên hệ" id="{ee14ec3e-3f4f-88af-a773-a6c799bd40ac}">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image" Target="../media/image-22-5.jpe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preencoded.png">    </p:cNvPr>
          <p:cNvPicPr>
            <a:picLocks noChangeAspect="1"/>
          </p:cNvPicPr>
          <p:nvPr/>
        </p:nvPicPr>
        <p:blipFill>
          <a:blip r:embed="rId1"/>
          <a:stretch>
            <a:fillRect/>
          </a:stretch>
        </p:blipFill>
        <p:spPr>
          <a:xfrm>
            <a:off x="0" y="0"/>
            <a:ext cx="7562088" cy="6583680"/>
          </a:xfrm>
          <a:prstGeom prst="rect">
            <a:avLst/>
          </a:prstGeom>
        </p:spPr>
      </p:pic>
      <p:sp>
        <p:nvSpPr>
          <p:cNvPr id="3" name="Shape 0"/>
          <p:cNvSpPr/>
          <p:nvPr/>
        </p:nvSpPr>
        <p:spPr>
          <a:xfrm>
            <a:off x="0" y="0"/>
            <a:ext cx="7562088" cy="658368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57200"/>
            <a:ext cx="1143000" cy="1143000"/>
          </a:xfrm>
          <a:prstGeom prst="rect">
            <a:avLst/>
          </a:prstGeom>
        </p:spPr>
      </p:pic>
      <p:sp>
        <p:nvSpPr>
          <p:cNvPr id="5" name="Shape 1"/>
          <p:cNvSpPr/>
          <p:nvPr/>
        </p:nvSpPr>
        <p:spPr>
          <a:xfrm>
            <a:off x="0" y="6583680"/>
            <a:ext cx="7562088" cy="4105656"/>
          </a:xfrm>
          <a:prstGeom prst="rect">
            <a:avLst/>
          </a:prstGeom>
          <a:solidFill>
            <a:schemeClr val="tx2"/>
          </a:solidFill>
          <a:ln w="12700">
            <a:solidFill>
              <a:schemeClr val="tx2"/>
            </a:solidFill>
            <a:prstDash val="solid"/>
          </a:ln>
        </p:spPr>
      </p:sp>
      <p:sp>
        <p:nvSpPr>
          <p:cNvPr id="6" name="Text 2"/>
          <p:cNvSpPr txBox="1"/>
          <p:nvPr/>
        </p:nvSpPr>
        <p:spPr>
          <a:xfrm>
            <a:off x="502920" y="6903720"/>
            <a:ext cx="6556248"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7" name="Text 3"/>
          <p:cNvSpPr txBox="1"/>
          <p:nvPr/>
        </p:nvSpPr>
        <p:spPr>
          <a:xfrm>
            <a:off x="502920" y="7178040"/>
            <a:ext cx="6556248"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8" name="Text 4"/>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9" name="Text 5"/>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HÚT SƯƠNG DẦU – XỬ LÝ KHÍ NHÀ XƯỞNG  •  BƠM &amp; XỬ LÝ NƯỚC</a:t>
            </a:r>
            <a:endParaRPr lang="en-US" sz="1000" dirty="0"/>
          </a:p>
        </p:txBody>
      </p:sp>
      <p:sp>
        <p:nvSpPr>
          <p:cNvPr id="10" name="Text 6"/>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1" name="Text 7"/>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2" name="Text 8"/>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35.jpg" descr="Đội ngũ kỹ thuật BLT tại công trường – xã Hưng Nguyên, Nghệ An (10/2026)">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tại công trường – xã Hưng Nguyên, Nghệ An (10/2026)</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07.jpg" descr="Thi công trên xe nâng người – Hà Nam, Ninh Bình">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 Hà Nam, Ninh Bình</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5.jpg" descr="Đội thi công BLT tại trạm xử lý nước,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685800"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685800"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04.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4078224"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4078224"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685800"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685800"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16.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4078224"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4078224"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194560"/>
          </a:xfrm>
          <a:prstGeom prst="rect">
            <a:avLst/>
          </a:prstGeom>
        </p:spPr>
      </p:pic>
      <p:sp>
        <p:nvSpPr>
          <p:cNvPr id="5" name="Text 2"/>
          <p:cNvSpPr txBox="1"/>
          <p:nvPr/>
        </p:nvSpPr>
        <p:spPr>
          <a:xfrm>
            <a:off x="502920"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194560"/>
          </a:xfrm>
          <a:prstGeom prst="rect">
            <a:avLst/>
          </a:prstGeom>
        </p:spPr>
      </p:pic>
      <p:sp>
        <p:nvSpPr>
          <p:cNvPr id="7" name="Text 3"/>
          <p:cNvSpPr txBox="1"/>
          <p:nvPr/>
        </p:nvSpPr>
        <p:spPr>
          <a:xfrm>
            <a:off x="3872484"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12.jpg" descr="Tuyến ống, giá treo trên trần">    </p:cNvPr>
          <p:cNvPicPr>
            <a:picLocks noChangeAspect="1"/>
          </p:cNvPicPr>
          <p:nvPr/>
        </p:nvPicPr>
        <p:blipFill>
          <a:blip r:embed="rId3"/>
          <a:stretch>
            <a:fillRect/>
          </a:stretch>
        </p:blipFill>
        <p:spPr>
          <a:xfrm>
            <a:off x="502920" y="3977640"/>
            <a:ext cx="3186684" cy="2194560"/>
          </a:xfrm>
          <a:prstGeom prst="rect">
            <a:avLst/>
          </a:prstGeom>
        </p:spPr>
      </p:pic>
      <p:sp>
        <p:nvSpPr>
          <p:cNvPr id="9" name="Text 4"/>
          <p:cNvSpPr txBox="1"/>
          <p:nvPr/>
        </p:nvSpPr>
        <p:spPr>
          <a:xfrm>
            <a:off x="502920"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trên trần</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3977640"/>
            <a:ext cx="3186684" cy="2194560"/>
          </a:xfrm>
          <a:prstGeom prst="rect">
            <a:avLst/>
          </a:prstGeom>
        </p:spPr>
      </p:pic>
      <p:sp>
        <p:nvSpPr>
          <p:cNvPr id="11" name="Text 5"/>
          <p:cNvSpPr txBox="1"/>
          <p:nvPr/>
        </p:nvSpPr>
        <p:spPr>
          <a:xfrm>
            <a:off x="3872484"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Text 7"/>
          <p:cNvSpPr txBox="1"/>
          <p:nvPr/>
        </p:nvSpPr>
        <p:spPr>
          <a:xfrm>
            <a:off x="502920" y="6812280"/>
            <a:ext cx="3186684" cy="29260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Đi ống luồn dây âm tường, âm sàn, nổi trần</a:t>
            </a:r>
            <a:endParaRPr lang="en-US" sz="1000" dirty="0"/>
          </a:p>
          <a:p>
            <a:pPr marL="152400" indent="-152400">
              <a:spcAft>
                <a:spcPts val="400"/>
              </a:spcAft>
              <a:buSzPct val="100000"/>
              <a:buChar char="•"/>
            </a:pPr>
            <a:r>
              <a:rPr lang="en-US" sz="1000" dirty="0">
                <a:solidFill>
                  <a:schemeClr val="tx1"/>
                </a:solidFill>
              </a:rPr>
              <a:t>Lắp đặt máng cáp, thang cáp, giá treo</a:t>
            </a:r>
            <a:endParaRPr lang="en-US" sz="1000" dirty="0"/>
          </a:p>
          <a:p>
            <a:pPr marL="152400" indent="-152400">
              <a:spcAft>
                <a:spcPts val="400"/>
              </a:spcAft>
              <a:buSzPct val="100000"/>
              <a:buChar char="•"/>
            </a:pPr>
            <a:r>
              <a:rPr lang="en-US" sz="1000" dirty="0">
                <a:solidFill>
                  <a:schemeClr val="tx1"/>
                </a:solidFill>
              </a:rPr>
              <a:t>Kéo rải cáp động lực, cáp chiếu sáng, ổ cắm</a:t>
            </a:r>
            <a:endParaRPr lang="en-US" sz="1000" dirty="0"/>
          </a:p>
          <a:p>
            <a:pPr marL="152400" indent="-152400">
              <a:spcAft>
                <a:spcPts val="400"/>
              </a:spcAft>
              <a:buSzPct val="100000"/>
              <a:buChar char="•"/>
            </a:pPr>
            <a:r>
              <a:rPr lang="en-US" sz="1000" dirty="0">
                <a:solidFill>
                  <a:schemeClr val="tx1"/>
                </a:solidFill>
              </a:rPr>
              <a:t>Lắp đặt tủ điện tổng, tủ tầng, tủ thiết bị</a:t>
            </a:r>
            <a:endParaRPr lang="en-US" sz="1000" dirty="0"/>
          </a:p>
          <a:p>
            <a:pPr marL="152400" indent="-152400">
              <a:spcAft>
                <a:spcPts val="400"/>
              </a:spcAft>
              <a:buSzPct val="100000"/>
              <a:buChar char="•"/>
            </a:pPr>
            <a:r>
              <a:rPr lang="en-US" sz="1000" dirty="0">
                <a:solidFill>
                  <a:schemeClr val="tx1"/>
                </a:solidFill>
              </a:rPr>
              <a:t>Lắp đèn, công tắc, ổ cắm và thiết bị điện</a:t>
            </a:r>
            <a:endParaRPr lang="en-US" sz="1000" dirty="0"/>
          </a:p>
          <a:p>
            <a:pPr marL="152400" indent="-152400">
              <a:spcAft>
                <a:spcPts val="400"/>
              </a:spcAft>
              <a:buSzPct val="100000"/>
              <a:buChar char="•"/>
            </a:pPr>
            <a:r>
              <a:rPr lang="en-US" sz="1000" dirty="0">
                <a:solidFill>
                  <a:schemeClr val="tx1"/>
                </a:solidFill>
              </a:rPr>
              <a:t>Cấp nguồn cho máy móc, thiết bị nhà xưởng</a:t>
            </a:r>
            <a:endParaRPr lang="en-US" sz="1000" dirty="0"/>
          </a:p>
        </p:txBody>
      </p:sp>
      <p:sp>
        <p:nvSpPr>
          <p:cNvPr id="14" name="Text 8"/>
          <p:cNvSpPr txBox="1"/>
          <p:nvPr/>
        </p:nvSpPr>
        <p:spPr>
          <a:xfrm>
            <a:off x="3872484"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9"/>
          <p:cNvSpPr/>
          <p:nvPr/>
        </p:nvSpPr>
        <p:spPr>
          <a:xfrm>
            <a:off x="3872484" y="6812280"/>
            <a:ext cx="3186684" cy="2880360"/>
          </a:xfrm>
          <a:prstGeom prst="roundRect">
            <a:avLst>
              <a:gd name="adj" fmla="val 2540"/>
            </a:avLst>
          </a:prstGeom>
          <a:solidFill>
            <a:schemeClr val="bg2"/>
          </a:solidFill>
          <a:ln w="12700">
            <a:solidFill>
              <a:schemeClr val="bg2"/>
            </a:solidFill>
            <a:prstDash val="solid"/>
          </a:ln>
        </p:spPr>
      </p:sp>
      <p:sp>
        <p:nvSpPr>
          <p:cNvPr id="16" name="Text 10"/>
          <p:cNvSpPr txBox="1"/>
          <p:nvPr/>
        </p:nvSpPr>
        <p:spPr>
          <a:xfrm>
            <a:off x="4009644" y="6949440"/>
            <a:ext cx="2912364" cy="26517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15.jpg" descr="Tuyến cấp nước PPR, van khoá">    </p:cNvPr>
          <p:cNvPicPr>
            <a:picLocks noChangeAspect="1"/>
          </p:cNvPicPr>
          <p:nvPr/>
        </p:nvPicPr>
        <p:blipFill>
          <a:blip r:embed="rId2"/>
          <a:stretch>
            <a:fillRect/>
          </a:stretch>
        </p:blipFill>
        <p:spPr>
          <a:xfrm>
            <a:off x="502920" y="4846320"/>
            <a:ext cx="2063496" cy="1737360"/>
          </a:xfrm>
          <a:prstGeom prst="rect">
            <a:avLst/>
          </a:prstGeom>
        </p:spPr>
      </p:pic>
      <p:sp>
        <p:nvSpPr>
          <p:cNvPr id="7" name="Text 3"/>
          <p:cNvSpPr txBox="1"/>
          <p:nvPr/>
        </p:nvSpPr>
        <p:spPr>
          <a:xfrm>
            <a:off x="502920"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cấp nước PPR, van khoá</a:t>
            </a:r>
            <a:endParaRPr lang="en-US" sz="800" dirty="0"/>
          </a:p>
        </p:txBody>
      </p:sp>
      <p:pic>
        <p:nvPicPr>
          <p:cNvPr id="8" name="photo img13.jpg" descr="Đi ống cấp nước trên giàn giáo">    </p:cNvPr>
          <p:cNvPicPr>
            <a:picLocks noChangeAspect="1"/>
          </p:cNvPicPr>
          <p:nvPr/>
        </p:nvPicPr>
        <p:blipFill>
          <a:blip r:embed="rId3"/>
          <a:stretch>
            <a:fillRect/>
          </a:stretch>
        </p:blipFill>
        <p:spPr>
          <a:xfrm>
            <a:off x="2749296" y="4846320"/>
            <a:ext cx="2063496" cy="1737360"/>
          </a:xfrm>
          <a:prstGeom prst="rect">
            <a:avLst/>
          </a:prstGeom>
        </p:spPr>
      </p:pic>
      <p:sp>
        <p:nvSpPr>
          <p:cNvPr id="9" name="Text 4"/>
          <p:cNvSpPr txBox="1"/>
          <p:nvPr/>
        </p:nvSpPr>
        <p:spPr>
          <a:xfrm>
            <a:off x="2749296"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cấp nước trên giàn giáo</a:t>
            </a:r>
            <a:endParaRPr lang="en-US" sz="800" dirty="0"/>
          </a:p>
        </p:txBody>
      </p:sp>
      <p:pic>
        <p:nvPicPr>
          <p:cNvPr id="10" name="photo img37.jpg" descr="Tuyến ống tầng hầm">    </p:cNvPr>
          <p:cNvPicPr>
            <a:picLocks noChangeAspect="1"/>
          </p:cNvPicPr>
          <p:nvPr/>
        </p:nvPicPr>
        <p:blipFill>
          <a:blip r:embed="rId4"/>
          <a:stretch>
            <a:fillRect/>
          </a:stretch>
        </p:blipFill>
        <p:spPr>
          <a:xfrm>
            <a:off x="4995672" y="4846320"/>
            <a:ext cx="2063496" cy="1737360"/>
          </a:xfrm>
          <a:prstGeom prst="rect">
            <a:avLst/>
          </a:prstGeom>
        </p:spPr>
      </p:pic>
      <p:sp>
        <p:nvSpPr>
          <p:cNvPr id="11" name="Text 5"/>
          <p:cNvSpPr txBox="1"/>
          <p:nvPr/>
        </p:nvSpPr>
        <p:spPr>
          <a:xfrm>
            <a:off x="4995672"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tầng hầm</a:t>
            </a:r>
            <a:endParaRPr lang="en-US" sz="800" dirty="0"/>
          </a:p>
        </p:txBody>
      </p:sp>
      <p:sp>
        <p:nvSpPr>
          <p:cNvPr id="12" name="Shape 6"/>
          <p:cNvSpPr/>
          <p:nvPr/>
        </p:nvSpPr>
        <p:spPr>
          <a:xfrm>
            <a:off x="502920" y="6995160"/>
            <a:ext cx="3186684" cy="960120"/>
          </a:xfrm>
          <a:prstGeom prst="roundRect">
            <a:avLst>
              <a:gd name="adj" fmla="val 7619"/>
            </a:avLst>
          </a:prstGeom>
          <a:solidFill>
            <a:schemeClr val="bg2"/>
          </a:solidFill>
          <a:ln w="12700">
            <a:solidFill>
              <a:schemeClr val="bg2"/>
            </a:solidFill>
            <a:prstDash val="solid"/>
          </a:ln>
        </p:spPr>
      </p:sp>
      <p:sp>
        <p:nvSpPr>
          <p:cNvPr id="13" name="Shape 7"/>
          <p:cNvSpPr/>
          <p:nvPr/>
        </p:nvSpPr>
        <p:spPr>
          <a:xfrm>
            <a:off x="640080" y="7132320"/>
            <a:ext cx="365760" cy="365760"/>
          </a:xfrm>
          <a:prstGeom prst="ellipse">
            <a:avLst/>
          </a:prstGeom>
          <a:solidFill>
            <a:schemeClr val="accent1"/>
          </a:solidFill>
          <a:ln w="12700">
            <a:solidFill>
              <a:schemeClr val="accent1"/>
            </a:solidFill>
            <a:prstDash val="solid"/>
          </a:ln>
        </p:spPr>
      </p:sp>
      <p:sp>
        <p:nvSpPr>
          <p:cNvPr id="14" name="Text 8"/>
          <p:cNvSpPr txBox="1"/>
          <p:nvPr/>
        </p:nvSpPr>
        <p:spPr>
          <a:xfrm>
            <a:off x="640080"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9"/>
          <p:cNvSpPr txBox="1"/>
          <p:nvPr/>
        </p:nvSpPr>
        <p:spPr>
          <a:xfrm>
            <a:off x="1097280"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6" name="Text 10"/>
          <p:cNvSpPr txBox="1"/>
          <p:nvPr/>
        </p:nvSpPr>
        <p:spPr>
          <a:xfrm>
            <a:off x="1097280"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7" name="Shape 11"/>
          <p:cNvSpPr/>
          <p:nvPr/>
        </p:nvSpPr>
        <p:spPr>
          <a:xfrm>
            <a:off x="3872484" y="6995160"/>
            <a:ext cx="3186684" cy="960120"/>
          </a:xfrm>
          <a:prstGeom prst="roundRect">
            <a:avLst>
              <a:gd name="adj" fmla="val 7619"/>
            </a:avLst>
          </a:prstGeom>
          <a:solidFill>
            <a:schemeClr val="bg2"/>
          </a:solidFill>
          <a:ln w="12700">
            <a:solidFill>
              <a:schemeClr val="bg2"/>
            </a:solidFill>
            <a:prstDash val="solid"/>
          </a:ln>
        </p:spPr>
      </p:sp>
      <p:sp>
        <p:nvSpPr>
          <p:cNvPr id="18" name="Shape 12"/>
          <p:cNvSpPr/>
          <p:nvPr/>
        </p:nvSpPr>
        <p:spPr>
          <a:xfrm>
            <a:off x="4009644" y="7132320"/>
            <a:ext cx="365760" cy="365760"/>
          </a:xfrm>
          <a:prstGeom prst="ellipse">
            <a:avLst/>
          </a:prstGeom>
          <a:solidFill>
            <a:schemeClr val="accent1"/>
          </a:solidFill>
          <a:ln w="12700">
            <a:solidFill>
              <a:schemeClr val="accent1"/>
            </a:solidFill>
            <a:prstDash val="solid"/>
          </a:ln>
        </p:spPr>
      </p:sp>
      <p:sp>
        <p:nvSpPr>
          <p:cNvPr id="19" name="Text 13"/>
          <p:cNvSpPr txBox="1"/>
          <p:nvPr/>
        </p:nvSpPr>
        <p:spPr>
          <a:xfrm>
            <a:off x="4009644"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4"/>
          <p:cNvSpPr txBox="1"/>
          <p:nvPr/>
        </p:nvSpPr>
        <p:spPr>
          <a:xfrm>
            <a:off x="4466844"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21" name="Text 15"/>
          <p:cNvSpPr txBox="1"/>
          <p:nvPr/>
        </p:nvSpPr>
        <p:spPr>
          <a:xfrm>
            <a:off x="4466844"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2" name="Shape 16"/>
          <p:cNvSpPr/>
          <p:nvPr/>
        </p:nvSpPr>
        <p:spPr>
          <a:xfrm>
            <a:off x="502920" y="8092440"/>
            <a:ext cx="3186684" cy="960120"/>
          </a:xfrm>
          <a:prstGeom prst="roundRect">
            <a:avLst>
              <a:gd name="adj" fmla="val 7619"/>
            </a:avLst>
          </a:prstGeom>
          <a:solidFill>
            <a:schemeClr val="bg2"/>
          </a:solidFill>
          <a:ln w="12700">
            <a:solidFill>
              <a:schemeClr val="bg2"/>
            </a:solidFill>
            <a:prstDash val="solid"/>
          </a:ln>
        </p:spPr>
      </p:sp>
      <p:sp>
        <p:nvSpPr>
          <p:cNvPr id="23" name="Shape 17"/>
          <p:cNvSpPr/>
          <p:nvPr/>
        </p:nvSpPr>
        <p:spPr>
          <a:xfrm>
            <a:off x="640080" y="8229600"/>
            <a:ext cx="365760" cy="365760"/>
          </a:xfrm>
          <a:prstGeom prst="ellipse">
            <a:avLst/>
          </a:prstGeom>
          <a:solidFill>
            <a:schemeClr val="accent1"/>
          </a:solidFill>
          <a:ln w="12700">
            <a:solidFill>
              <a:schemeClr val="accent1"/>
            </a:solidFill>
            <a:prstDash val="solid"/>
          </a:ln>
        </p:spPr>
      </p:sp>
      <p:sp>
        <p:nvSpPr>
          <p:cNvPr id="24" name="Text 18"/>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19"/>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6" name="Text 20"/>
          <p:cNvSpPr txBox="1"/>
          <p:nvPr/>
        </p:nvSpPr>
        <p:spPr>
          <a:xfrm>
            <a:off x="1097280"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7" name="Shape 21"/>
          <p:cNvSpPr/>
          <p:nvPr/>
        </p:nvSpPr>
        <p:spPr>
          <a:xfrm>
            <a:off x="3872484" y="8092440"/>
            <a:ext cx="3186684" cy="960120"/>
          </a:xfrm>
          <a:prstGeom prst="roundRect">
            <a:avLst>
              <a:gd name="adj" fmla="val 7619"/>
            </a:avLst>
          </a:prstGeom>
          <a:solidFill>
            <a:schemeClr val="bg2"/>
          </a:solidFill>
          <a:ln w="12700">
            <a:solidFill>
              <a:schemeClr val="bg2"/>
            </a:solidFill>
            <a:prstDash val="solid"/>
          </a:ln>
        </p:spPr>
      </p:sp>
      <p:sp>
        <p:nvSpPr>
          <p:cNvPr id="28" name="Shape 22"/>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29" name="Text 23"/>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4"/>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31" name="Text 25"/>
          <p:cNvSpPr txBox="1"/>
          <p:nvPr/>
        </p:nvSpPr>
        <p:spPr>
          <a:xfrm>
            <a:off x="4466844"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24.jpg" descr="Ống mềm nối từ máy CNC lên tuyến chính">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nối từ máy CNC lên tuyến chính</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30.jpg" descr="Máy lọc trên giá đỡ cột">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8" name="photo img29.jpg" descr="Gia công giá đỡ thép">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pic>
        <p:nvPicPr>
          <p:cNvPr id="10" name="photo img33.jpg" descr="Bơm keo làm kín mối nối">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Bơm keo làm kín mối nối</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3657600"/>
          </a:xfrm>
          <a:prstGeom prst="rect">
            <a:avLst/>
          </a:prstGeom>
        </p:spPr>
      </p:pic>
      <p:sp>
        <p:nvSpPr>
          <p:cNvPr id="5" name="Text 2"/>
          <p:cNvSpPr txBox="1"/>
          <p:nvPr/>
        </p:nvSpPr>
        <p:spPr>
          <a:xfrm>
            <a:off x="502920" y="515721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Text 4"/>
          <p:cNvSpPr txBox="1"/>
          <p:nvPr/>
        </p:nvSpPr>
        <p:spPr>
          <a:xfrm>
            <a:off x="502920" y="5760720"/>
            <a:ext cx="3140964" cy="265176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4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400"/>
              </a:spcAft>
              <a:buSzPct val="100000"/>
              <a:buChar char="•"/>
            </a:pPr>
            <a:r>
              <a:rPr lang="en-US" sz="1000" dirty="0">
                <a:solidFill>
                  <a:schemeClr val="tx1"/>
                </a:solidFill>
              </a:rPr>
              <a:t>Đường ống uPVC / PVC công nghiệp, mặt bích</a:t>
            </a:r>
            <a:endParaRPr lang="en-US" sz="1000" dirty="0"/>
          </a:p>
          <a:p>
            <a:pPr marL="152400" indent="-152400">
              <a:spcAft>
                <a:spcPts val="4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400"/>
              </a:spcAft>
              <a:buSzPct val="100000"/>
              <a:buChar char="•"/>
            </a:pPr>
            <a:r>
              <a:rPr lang="en-US" sz="1000" dirty="0">
                <a:solidFill>
                  <a:schemeClr val="tx1"/>
                </a:solidFill>
              </a:rPr>
              <a:t>Khung đỡ ống, sàn thao tác, giá đỡ thiết bị</a:t>
            </a:r>
            <a:endParaRPr lang="en-US" sz="1000" dirty="0"/>
          </a:p>
          <a:p>
            <a:pPr marL="152400" indent="-152400">
              <a:spcAft>
                <a:spcPts val="400"/>
              </a:spcAft>
              <a:buSzPct val="100000"/>
              <a:buChar char="•"/>
            </a:pPr>
            <a:r>
              <a:rPr lang="en-US" sz="1000" dirty="0">
                <a:solidFill>
                  <a:schemeClr val="tx1"/>
                </a:solidFill>
              </a:rPr>
              <a:t>Đấu nối tủ điện điều khiển bơm</a:t>
            </a:r>
            <a:endParaRPr lang="en-US" sz="1000" dirty="0"/>
          </a:p>
        </p:txBody>
      </p:sp>
      <p:sp>
        <p:nvSpPr>
          <p:cNvPr id="8" name="Text 5"/>
          <p:cNvSpPr txBox="1"/>
          <p:nvPr/>
        </p:nvSpPr>
        <p:spPr>
          <a:xfrm>
            <a:off x="3918204"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9" name="Shape 6"/>
          <p:cNvSpPr/>
          <p:nvPr/>
        </p:nvSpPr>
        <p:spPr>
          <a:xfrm>
            <a:off x="3918204" y="5760720"/>
            <a:ext cx="3140964" cy="2606040"/>
          </a:xfrm>
          <a:prstGeom prst="roundRect">
            <a:avLst>
              <a:gd name="adj" fmla="val 2807"/>
            </a:avLst>
          </a:prstGeom>
          <a:solidFill>
            <a:schemeClr val="bg2"/>
          </a:solidFill>
          <a:ln w="12700">
            <a:solidFill>
              <a:schemeClr val="bg2"/>
            </a:solidFill>
            <a:prstDash val="solid"/>
          </a:ln>
        </p:spPr>
      </p:sp>
      <p:sp>
        <p:nvSpPr>
          <p:cNvPr id="10" name="Text 7"/>
          <p:cNvSpPr txBox="1"/>
          <p:nvPr/>
        </p:nvSpPr>
        <p:spPr>
          <a:xfrm>
            <a:off x="4055364" y="5897880"/>
            <a:ext cx="2866644" cy="24688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Thử kín đường ống, mặt bích, van</a:t>
            </a:r>
            <a:endParaRPr lang="en-US" sz="1000" dirty="0"/>
          </a:p>
          <a:p>
            <a:pPr marL="152400" indent="-152400">
              <a:spcAft>
                <a:spcPts val="400"/>
              </a:spcAft>
              <a:buSzPct val="100000"/>
              <a:buChar char="•"/>
            </a:pPr>
            <a:r>
              <a:rPr lang="en-US" sz="1000" dirty="0">
                <a:solidFill>
                  <a:schemeClr val="tx1"/>
                </a:solidFill>
              </a:rPr>
              <a:t>Kiểm tra chiều quay, dòng điện, độ rung bơm</a:t>
            </a:r>
            <a:endParaRPr lang="en-US" sz="1000" dirty="0"/>
          </a:p>
          <a:p>
            <a:pPr marL="152400" indent="-152400">
              <a:spcAft>
                <a:spcPts val="400"/>
              </a:spcAft>
              <a:buSzPct val="100000"/>
              <a:buChar char="•"/>
            </a:pPr>
            <a:r>
              <a:rPr lang="en-US" sz="1000" dirty="0">
                <a:solidFill>
                  <a:schemeClr val="tx1"/>
                </a:solidFill>
              </a:rPr>
              <a:t>Cân chỉnh áp suất và lưu lượng</a:t>
            </a:r>
            <a:endParaRPr lang="en-US" sz="1000" dirty="0"/>
          </a:p>
          <a:p>
            <a:pPr marL="152400" indent="-152400">
              <a:spcAft>
                <a:spcPts val="400"/>
              </a:spcAft>
              <a:buSzPct val="100000"/>
              <a:buChar char="•"/>
            </a:pPr>
            <a:r>
              <a:rPr lang="en-US" sz="1000" dirty="0">
                <a:solidFill>
                  <a:schemeClr val="tx1"/>
                </a:solidFill>
              </a:rPr>
              <a:t>Hướng dẫn vận hành, lập biên bản bàn giao</a:t>
            </a:r>
            <a:endParaRPr lang="en-US" sz="1000" dirty="0"/>
          </a:p>
        </p:txBody>
      </p:sp>
      <p:pic>
        <p:nvPicPr>
          <p:cNvPr id="11" name="photo img61.jpg" descr="Ảnh hiện trường BLT">    </p:cNvPr>
          <p:cNvPicPr>
            <a:picLocks noChangeAspect="1"/>
          </p:cNvPicPr>
          <p:nvPr/>
        </p:nvPicPr>
        <p:blipFill>
          <a:blip r:embed="rId2"/>
          <a:stretch>
            <a:fillRect/>
          </a:stretch>
        </p:blipFill>
        <p:spPr>
          <a:xfrm>
            <a:off x="502920" y="8641080"/>
            <a:ext cx="2063496" cy="1188720"/>
          </a:xfrm>
          <a:prstGeom prst="rect">
            <a:avLst/>
          </a:prstGeom>
        </p:spPr>
      </p:pic>
      <p:pic>
        <p:nvPicPr>
          <p:cNvPr id="12" name="photo img60.jpg" descr="Ảnh hiện trường BLT">    </p:cNvPr>
          <p:cNvPicPr>
            <a:picLocks noChangeAspect="1"/>
          </p:cNvPicPr>
          <p:nvPr/>
        </p:nvPicPr>
        <p:blipFill>
          <a:blip r:embed="rId3"/>
          <a:stretch>
            <a:fillRect/>
          </a:stretch>
        </p:blipFill>
        <p:spPr>
          <a:xfrm>
            <a:off x="2749296" y="8641080"/>
            <a:ext cx="2063496" cy="1188720"/>
          </a:xfrm>
          <a:prstGeom prst="rect">
            <a:avLst/>
          </a:prstGeom>
        </p:spPr>
      </p:pic>
      <p:pic>
        <p:nvPicPr>
          <p:cNvPr id="13" name="photo img43.jpg" descr="Ảnh hiện trường BLT">    </p:cNvPr>
          <p:cNvPicPr>
            <a:picLocks noChangeAspect="1"/>
          </p:cNvPicPr>
          <p:nvPr/>
        </p:nvPicPr>
        <p:blipFill>
          <a:blip r:embed="rId4"/>
          <a:stretch>
            <a:fillRect/>
          </a:stretch>
        </p:blipFill>
        <p:spPr>
          <a:xfrm>
            <a:off x="4995672" y="8641080"/>
            <a:ext cx="2063496" cy="1188720"/>
          </a:xfrm>
          <a:prstGeom prst="rect">
            <a:avLst/>
          </a:prstGeom>
        </p:spPr>
      </p:pic>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p:cNvPr>
          <p:cNvPicPr>
            <a:picLocks noChangeAspect="1"/>
          </p:cNvPicPr>
          <p:nvPr/>
        </p:nvPicPr>
        <p:blipFill>
          <a:blip r:embed="rId1"/>
          <a:stretch>
            <a:fillRect/>
          </a:stretch>
        </p:blipFill>
        <p:spPr>
          <a:xfrm>
            <a:off x="502920" y="1463040"/>
            <a:ext cx="2063496" cy="2651760"/>
          </a:xfrm>
          <a:prstGeom prst="rect">
            <a:avLst/>
          </a:prstGeom>
        </p:spPr>
      </p:pic>
      <p:sp>
        <p:nvSpPr>
          <p:cNvPr id="5" name="Text 2"/>
          <p:cNvSpPr txBox="1"/>
          <p:nvPr/>
        </p:nvSpPr>
        <p:spPr>
          <a:xfrm>
            <a:off x="502920"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a:t>
            </a:r>
            <a:endParaRPr lang="en-US" sz="800" dirty="0"/>
          </a:p>
        </p:txBody>
      </p:sp>
      <p:pic>
        <p:nvPicPr>
          <p:cNvPr id="6" name="photo img22.jpg" descr="Mũ, áo phản quang, dây đai an toàn">    </p:cNvPr>
          <p:cNvPicPr>
            <a:picLocks noChangeAspect="1"/>
          </p:cNvPicPr>
          <p:nvPr/>
        </p:nvPicPr>
        <p:blipFill>
          <a:blip r:embed="rId2"/>
          <a:stretch>
            <a:fillRect/>
          </a:stretch>
        </p:blipFill>
        <p:spPr>
          <a:xfrm>
            <a:off x="2749296" y="1463040"/>
            <a:ext cx="2063496" cy="2651760"/>
          </a:xfrm>
          <a:prstGeom prst="rect">
            <a:avLst/>
          </a:prstGeom>
        </p:spPr>
      </p:pic>
      <p:sp>
        <p:nvSpPr>
          <p:cNvPr id="7" name="Text 3"/>
          <p:cNvSpPr txBox="1"/>
          <p:nvPr/>
        </p:nvSpPr>
        <p:spPr>
          <a:xfrm>
            <a:off x="2749296"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Mũ, áo phản quang, dây đai an toàn</a:t>
            </a:r>
            <a:endParaRPr lang="en-US" sz="800" dirty="0"/>
          </a:p>
        </p:txBody>
      </p:sp>
      <p:pic>
        <p:nvPicPr>
          <p:cNvPr id="8" name="photo img09.jpg" descr="Thao tác trên sàn công tác giàn giáo">    </p:cNvPr>
          <p:cNvPicPr>
            <a:picLocks noChangeAspect="1"/>
          </p:cNvPicPr>
          <p:nvPr/>
        </p:nvPicPr>
        <p:blipFill>
          <a:blip r:embed="rId3"/>
          <a:stretch>
            <a:fillRect/>
          </a:stretch>
        </p:blipFill>
        <p:spPr>
          <a:xfrm>
            <a:off x="4995672" y="1463040"/>
            <a:ext cx="2063496" cy="2651760"/>
          </a:xfrm>
          <a:prstGeom prst="rect">
            <a:avLst/>
          </a:prstGeom>
        </p:spPr>
      </p:pic>
      <p:sp>
        <p:nvSpPr>
          <p:cNvPr id="9" name="Text 4"/>
          <p:cNvSpPr txBox="1"/>
          <p:nvPr/>
        </p:nvSpPr>
        <p:spPr>
          <a:xfrm>
            <a:off x="4995672"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a:t>
            </a:r>
            <a:endParaRPr lang="en-US" sz="800" dirty="0"/>
          </a:p>
        </p:txBody>
      </p:sp>
      <p:sp>
        <p:nvSpPr>
          <p:cNvPr id="10" name="Shape 5"/>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11" name="Shape 6"/>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4" name="Text 9"/>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5" name="Shape 10"/>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6" name="Shape 11"/>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9" name="Text 14"/>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20" name="Shape 15"/>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21" name="Shape 16"/>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4" name="Text 19"/>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5" name="Shape 20"/>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6" name="Shape 21"/>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9" name="Text 24"/>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30" name="Shape 25"/>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31" name="Shape 26"/>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2" name="Text 27"/>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3" name="Text 28"/>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4" name="Text 29"/>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5" name="Shape 30"/>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6" name="Shape 31"/>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7" name="Text 32"/>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8" name="Text 33"/>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9" name="Text 34"/>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40" name="Shape 35"/>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41" name="Shape 36"/>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2" name="Text 37"/>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3" name="Text 38"/>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4" name="Text 39"/>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5" name="Shape 40"/>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6" name="Shape 41"/>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7" name="Text 42"/>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8" name="Text 43"/>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9" name="Text 44"/>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pic>
        <p:nvPicPr>
          <p:cNvPr id="4" name="photo img57.jpg" descr="Đội thi công BLT tại trạm xử lý nước – Thành phố Huế (17/09/2026)">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 Thành phố Huế (17/09/2026)</a:t>
            </a:r>
            <a:endParaRPr lang="en-US" sz="800" dirty="0"/>
          </a:p>
        </p:txBody>
      </p:sp>
      <p:sp>
        <p:nvSpPr>
          <p:cNvPr id="6" name="Shape 3"/>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7" name="Text 4"/>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8" name="Text 5"/>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9" name="Shape 6"/>
          <p:cNvSpPr/>
          <p:nvPr/>
        </p:nvSpPr>
        <p:spPr>
          <a:xfrm>
            <a:off x="3781044" y="5486400"/>
            <a:ext cx="0" cy="274320"/>
          </a:xfrm>
          <a:prstGeom prst="line">
            <a:avLst/>
          </a:prstGeom>
          <a:noFill/>
          <a:ln w="12700">
            <a:solidFill>
              <a:schemeClr val="accent3"/>
            </a:solidFill>
            <a:prstDash val="solid"/>
          </a:ln>
        </p:spPr>
      </p:sp>
      <p:sp>
        <p:nvSpPr>
          <p:cNvPr id="10" name="Shape 7"/>
          <p:cNvSpPr/>
          <p:nvPr/>
        </p:nvSpPr>
        <p:spPr>
          <a:xfrm>
            <a:off x="1271016" y="5760720"/>
            <a:ext cx="5020056" cy="0"/>
          </a:xfrm>
          <a:prstGeom prst="line">
            <a:avLst/>
          </a:prstGeom>
          <a:noFill/>
          <a:ln w="12700">
            <a:solidFill>
              <a:schemeClr val="accent3"/>
            </a:solidFill>
            <a:prstDash val="solid"/>
          </a:ln>
        </p:spPr>
      </p:sp>
      <p:sp>
        <p:nvSpPr>
          <p:cNvPr id="11" name="Shape 8"/>
          <p:cNvSpPr/>
          <p:nvPr/>
        </p:nvSpPr>
        <p:spPr>
          <a:xfrm>
            <a:off x="1271016" y="5760720"/>
            <a:ext cx="0" cy="228600"/>
          </a:xfrm>
          <a:prstGeom prst="line">
            <a:avLst/>
          </a:prstGeom>
          <a:noFill/>
          <a:ln w="12700">
            <a:solidFill>
              <a:schemeClr val="accent3"/>
            </a:solidFill>
            <a:prstDash val="solid"/>
          </a:ln>
        </p:spPr>
      </p:sp>
      <p:sp>
        <p:nvSpPr>
          <p:cNvPr id="12" name="Shape 9"/>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13" name="Text 10"/>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14" name="Text 11"/>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15" name="Shape 12"/>
          <p:cNvSpPr/>
          <p:nvPr/>
        </p:nvSpPr>
        <p:spPr>
          <a:xfrm>
            <a:off x="2944368" y="5760720"/>
            <a:ext cx="0" cy="228600"/>
          </a:xfrm>
          <a:prstGeom prst="line">
            <a:avLst/>
          </a:prstGeom>
          <a:noFill/>
          <a:ln w="12700">
            <a:solidFill>
              <a:schemeClr val="accent3"/>
            </a:solidFill>
            <a:prstDash val="solid"/>
          </a:ln>
        </p:spPr>
      </p:sp>
      <p:sp>
        <p:nvSpPr>
          <p:cNvPr id="16" name="Shape 13"/>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17" name="Text 14"/>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18" name="Text 15"/>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19" name="Shape 16"/>
          <p:cNvSpPr/>
          <p:nvPr/>
        </p:nvSpPr>
        <p:spPr>
          <a:xfrm>
            <a:off x="4617720" y="5760720"/>
            <a:ext cx="0" cy="228600"/>
          </a:xfrm>
          <a:prstGeom prst="line">
            <a:avLst/>
          </a:prstGeom>
          <a:noFill/>
          <a:ln w="12700">
            <a:solidFill>
              <a:schemeClr val="accent3"/>
            </a:solidFill>
            <a:prstDash val="solid"/>
          </a:ln>
        </p:spPr>
      </p:sp>
      <p:sp>
        <p:nvSpPr>
          <p:cNvPr id="20" name="Shape 17"/>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21" name="Text 18"/>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22" name="Text 19"/>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23" name="Shape 20"/>
          <p:cNvSpPr/>
          <p:nvPr/>
        </p:nvSpPr>
        <p:spPr>
          <a:xfrm>
            <a:off x="6291072" y="5760720"/>
            <a:ext cx="0" cy="228600"/>
          </a:xfrm>
          <a:prstGeom prst="line">
            <a:avLst/>
          </a:prstGeom>
          <a:noFill/>
          <a:ln w="12700">
            <a:solidFill>
              <a:schemeClr val="accent3"/>
            </a:solidFill>
            <a:prstDash val="solid"/>
          </a:ln>
        </p:spPr>
      </p:sp>
      <p:sp>
        <p:nvSpPr>
          <p:cNvPr id="24" name="Shape 21"/>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25" name="Text 22"/>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26" name="Text 23"/>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27" name="Shape 24"/>
          <p:cNvSpPr/>
          <p:nvPr/>
        </p:nvSpPr>
        <p:spPr>
          <a:xfrm>
            <a:off x="3781044" y="6766560"/>
            <a:ext cx="0" cy="274320"/>
          </a:xfrm>
          <a:prstGeom prst="line">
            <a:avLst/>
          </a:prstGeom>
          <a:noFill/>
          <a:ln w="12700">
            <a:solidFill>
              <a:schemeClr val="accent3"/>
            </a:solidFill>
            <a:prstDash val="solid"/>
          </a:ln>
        </p:spPr>
      </p:sp>
      <p:sp>
        <p:nvSpPr>
          <p:cNvPr id="28" name="Shape 25"/>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29" name="Text 26"/>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30" name="Text 27"/>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31" name="Shape 28"/>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32" name="Text 29"/>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33" name="Text 30"/>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34" name="Shape 31"/>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35" name="Text 32"/>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36" name="Text 33"/>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37" name="Shape 34"/>
          <p:cNvSpPr/>
          <p:nvPr/>
        </p:nvSpPr>
        <p:spPr>
          <a:xfrm>
            <a:off x="1549908" y="7040880"/>
            <a:ext cx="4462272" cy="0"/>
          </a:xfrm>
          <a:prstGeom prst="line">
            <a:avLst/>
          </a:prstGeom>
          <a:noFill/>
          <a:ln w="12700">
            <a:solidFill>
              <a:schemeClr val="accent3"/>
            </a:solidFill>
            <a:prstDash val="solid"/>
          </a:ln>
        </p:spPr>
      </p:sp>
      <p:sp>
        <p:nvSpPr>
          <p:cNvPr id="38" name="Shape 35"/>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39" name="Text 36"/>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40" name="Text 37"/>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p:cNvPr>
          <p:cNvPicPr>
            <a:picLocks noChangeAspect="1"/>
          </p:cNvPicPr>
          <p:nvPr/>
        </p:nvPicPr>
        <p:blipFill>
          <a:blip r:embed="rId1"/>
          <a:stretch>
            <a:fillRect/>
          </a:stretch>
        </p:blipFill>
        <p:spPr>
          <a:xfrm>
            <a:off x="502920" y="1463040"/>
            <a:ext cx="2063496" cy="2377440"/>
          </a:xfrm>
          <a:prstGeom prst="rect">
            <a:avLst/>
          </a:prstGeom>
        </p:spPr>
      </p:pic>
      <p:sp>
        <p:nvSpPr>
          <p:cNvPr id="5" name="Text 2"/>
          <p:cNvSpPr txBox="1"/>
          <p:nvPr/>
        </p:nvSpPr>
        <p:spPr>
          <a:xfrm>
            <a:off x="502920"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a:t>
            </a:r>
            <a:endParaRPr lang="en-US" sz="800" dirty="0"/>
          </a:p>
        </p:txBody>
      </p:sp>
      <p:pic>
        <p:nvPicPr>
          <p:cNvPr id="6" name="photo img13.jpg" descr="Giàn giáo di động">    </p:cNvPr>
          <p:cNvPicPr>
            <a:picLocks noChangeAspect="1"/>
          </p:cNvPicPr>
          <p:nvPr/>
        </p:nvPicPr>
        <p:blipFill>
          <a:blip r:embed="rId2"/>
          <a:stretch>
            <a:fillRect/>
          </a:stretch>
        </p:blipFill>
        <p:spPr>
          <a:xfrm>
            <a:off x="2749296" y="1463040"/>
            <a:ext cx="2063496" cy="2377440"/>
          </a:xfrm>
          <a:prstGeom prst="rect">
            <a:avLst/>
          </a:prstGeom>
        </p:spPr>
      </p:pic>
      <p:sp>
        <p:nvSpPr>
          <p:cNvPr id="7" name="Text 3"/>
          <p:cNvSpPr txBox="1"/>
          <p:nvPr/>
        </p:nvSpPr>
        <p:spPr>
          <a:xfrm>
            <a:off x="2749296"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Giàn giáo di động</a:t>
            </a:r>
            <a:endParaRPr lang="en-US" sz="800" dirty="0"/>
          </a:p>
        </p:txBody>
      </p:sp>
      <p:pic>
        <p:nvPicPr>
          <p:cNvPr id="8" name="photo img10.jpg" descr="Máy cắt, dụng cụ cầm tay">    </p:cNvPr>
          <p:cNvPicPr>
            <a:picLocks noChangeAspect="1"/>
          </p:cNvPicPr>
          <p:nvPr/>
        </p:nvPicPr>
        <p:blipFill>
          <a:blip r:embed="rId3"/>
          <a:stretch>
            <a:fillRect/>
          </a:stretch>
        </p:blipFill>
        <p:spPr>
          <a:xfrm>
            <a:off x="4995672" y="1463040"/>
            <a:ext cx="2063496" cy="2377440"/>
          </a:xfrm>
          <a:prstGeom prst="rect">
            <a:avLst/>
          </a:prstGeom>
        </p:spPr>
      </p:pic>
      <p:sp>
        <p:nvSpPr>
          <p:cNvPr id="9" name="Text 4"/>
          <p:cNvSpPr txBox="1"/>
          <p:nvPr/>
        </p:nvSpPr>
        <p:spPr>
          <a:xfrm>
            <a:off x="4995672"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cắt, dụng cụ cầm tay</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1" name="Text 5"/>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34.jpg" descr="Lắp máy lọc sương dầu trên đầu máy">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trên đầu máy</a:t>
            </a:r>
            <a:endParaRPr lang="en-US" sz="800" dirty="0"/>
          </a:p>
        </p:txBody>
      </p:sp>
      <p:pic>
        <p:nvPicPr>
          <p:cNvPr id="9" name="photo img40.jpg" descr="Thi công tuyến ống trên cao">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cao</a:t>
            </a:r>
            <a:endParaRPr lang="en-US" sz="800" dirty="0"/>
          </a:p>
        </p:txBody>
      </p:sp>
      <p:pic>
        <p:nvPicPr>
          <p:cNvPr id="11" name="photo img25.jpg" descr="Máy lọc lắp trên giá đỡ cột">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13" name="photo img39.jpg" descr="Đấu nối ống mềm xuống máy CNC">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pic>
        <p:nvPicPr>
          <p:cNvPr id="13" name="photo img41.jpg" descr="Kéo ống trên xe nâng người">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Kéo ống trên xe nâng người</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5.jpg" descr="Đội BLT tiếp nhận, mở kiện thiết bị">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tiếp nhận, mở kiện thiết bị</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2063496" cy="329184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48.jpg" descr="Lắp bơm định lượng hóa chất">    </p:cNvPr>
          <p:cNvPicPr>
            <a:picLocks noChangeAspect="1"/>
          </p:cNvPicPr>
          <p:nvPr/>
        </p:nvPicPr>
        <p:blipFill>
          <a:blip r:embed="rId4"/>
          <a:stretch>
            <a:fillRect/>
          </a:stretch>
        </p:blipFill>
        <p:spPr>
          <a:xfrm>
            <a:off x="2749296" y="6309360"/>
            <a:ext cx="2063496" cy="329184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13" name="photo img56.jpg" descr="Chỉ huy và đội thi công tại trạm (19/09/2026)">    </p:cNvPr>
          <p:cNvPicPr>
            <a:picLocks noChangeAspect="1"/>
          </p:cNvPicPr>
          <p:nvPr/>
        </p:nvPicPr>
        <p:blipFill>
          <a:blip r:embed="rId5"/>
          <a:stretch>
            <a:fillRect/>
          </a:stretch>
        </p:blipFill>
        <p:spPr>
          <a:xfrm>
            <a:off x="4995672" y="6309360"/>
            <a:ext cx="2063496" cy="329184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Chỉ huy và đội thi công tại trạm (19/09/2026)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1148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77724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77724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77724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pic>
        <p:nvPicPr>
          <p:cNvPr id="5" name="photo img19.jpg" descr="Nghệ An – hút sương dầu">    </p:cNvPr>
          <p:cNvPicPr>
            <a:picLocks noChangeAspect="1"/>
          </p:cNvPicPr>
          <p:nvPr/>
        </p:nvPicPr>
        <p:blipFill>
          <a:blip r:embed="rId1"/>
          <a:stretch>
            <a:fillRect/>
          </a:stretch>
        </p:blipFill>
        <p:spPr>
          <a:xfrm>
            <a:off x="502920" y="4892040"/>
            <a:ext cx="2063496" cy="2926080"/>
          </a:xfrm>
          <a:prstGeom prst="rect">
            <a:avLst/>
          </a:prstGeom>
        </p:spPr>
      </p:pic>
      <p:sp>
        <p:nvSpPr>
          <p:cNvPr id="6" name="Text 2"/>
          <p:cNvSpPr txBox="1"/>
          <p:nvPr/>
        </p:nvSpPr>
        <p:spPr>
          <a:xfrm>
            <a:off x="502920"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Nghệ An – hút sương dầu</a:t>
            </a:r>
            <a:endParaRPr lang="en-US" sz="800" dirty="0"/>
          </a:p>
        </p:txBody>
      </p:sp>
      <p:pic>
        <p:nvPicPr>
          <p:cNvPr id="7" name="photo img07.jpg" descr="Ninh Bình – điện nước">    </p:cNvPr>
          <p:cNvPicPr>
            <a:picLocks noChangeAspect="1"/>
          </p:cNvPicPr>
          <p:nvPr/>
        </p:nvPicPr>
        <p:blipFill>
          <a:blip r:embed="rId2"/>
          <a:stretch>
            <a:fillRect/>
          </a:stretch>
        </p:blipFill>
        <p:spPr>
          <a:xfrm>
            <a:off x="2749296" y="4892040"/>
            <a:ext cx="2063496" cy="2926080"/>
          </a:xfrm>
          <a:prstGeom prst="rect">
            <a:avLst/>
          </a:prstGeom>
        </p:spPr>
      </p:pic>
      <p:sp>
        <p:nvSpPr>
          <p:cNvPr id="8" name="Text 3"/>
          <p:cNvSpPr txBox="1"/>
          <p:nvPr/>
        </p:nvSpPr>
        <p:spPr>
          <a:xfrm>
            <a:off x="2749296"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Ninh Bình – điện nước</a:t>
            </a:r>
            <a:endParaRPr lang="en-US" sz="800" dirty="0"/>
          </a:p>
        </p:txBody>
      </p:sp>
      <p:pic>
        <p:nvPicPr>
          <p:cNvPr id="9" name="photo img61.jpg" descr="Huế – xử lý nước UF/RO">    </p:cNvPr>
          <p:cNvPicPr>
            <a:picLocks noChangeAspect="1"/>
          </p:cNvPicPr>
          <p:nvPr/>
        </p:nvPicPr>
        <p:blipFill>
          <a:blip r:embed="rId3"/>
          <a:stretch>
            <a:fillRect/>
          </a:stretch>
        </p:blipFill>
        <p:spPr>
          <a:xfrm>
            <a:off x="4995672" y="4892040"/>
            <a:ext cx="2063496" cy="2926080"/>
          </a:xfrm>
          <a:prstGeom prst="rect">
            <a:avLst/>
          </a:prstGeom>
        </p:spPr>
      </p:pic>
      <p:sp>
        <p:nvSpPr>
          <p:cNvPr id="10" name="Text 4"/>
          <p:cNvSpPr txBox="1"/>
          <p:nvPr/>
        </p:nvSpPr>
        <p:spPr>
          <a:xfrm>
            <a:off x="4995672"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Huế – xử lý nước UF/RO</a:t>
            </a:r>
            <a:endParaRPr lang="en-US" sz="800" dirty="0"/>
          </a:p>
        </p:txBody>
      </p:sp>
      <p:sp>
        <p:nvSpPr>
          <p:cNvPr id="11" name="Shape 5"/>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12" name="Text 6"/>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13" name="Text 7"/>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pic>
        <p:nvPicPr>
          <p:cNvPr id="4" name="photo img36.jpg" descr="Ảnh hiện trường BLT">    </p:cNvPr>
          <p:cNvPicPr>
            <a:picLocks noChangeAspect="1"/>
          </p:cNvPicPr>
          <p:nvPr/>
        </p:nvPicPr>
        <p:blipFill>
          <a:blip r:embed="rId1"/>
          <a:stretch>
            <a:fillRect/>
          </a:stretch>
        </p:blipFill>
        <p:spPr>
          <a:xfrm>
            <a:off x="502920" y="1463040"/>
            <a:ext cx="6556248" cy="3291840"/>
          </a:xfrm>
          <a:prstGeom prst="rect">
            <a:avLst/>
          </a:prstGeom>
        </p:spPr>
      </p:pic>
      <p:sp>
        <p:nvSpPr>
          <p:cNvPr id="5" name="Shape 2"/>
          <p:cNvSpPr/>
          <p:nvPr/>
        </p:nvSpPr>
        <p:spPr>
          <a:xfrm>
            <a:off x="502920" y="5074920"/>
            <a:ext cx="3186684" cy="1417320"/>
          </a:xfrm>
          <a:prstGeom prst="roundRect">
            <a:avLst>
              <a:gd name="adj" fmla="val 5161"/>
            </a:avLst>
          </a:prstGeom>
          <a:solidFill>
            <a:schemeClr val="bg2"/>
          </a:solidFill>
          <a:ln w="12700">
            <a:solidFill>
              <a:schemeClr val="bg2"/>
            </a:solidFill>
            <a:prstDash val="solid"/>
          </a:ln>
        </p:spPr>
      </p:sp>
      <p:sp>
        <p:nvSpPr>
          <p:cNvPr id="6" name="Shape 3"/>
          <p:cNvSpPr/>
          <p:nvPr/>
        </p:nvSpPr>
        <p:spPr>
          <a:xfrm>
            <a:off x="640080" y="5212080"/>
            <a:ext cx="365760" cy="365760"/>
          </a:xfrm>
          <a:prstGeom prst="ellipse">
            <a:avLst/>
          </a:prstGeom>
          <a:solidFill>
            <a:schemeClr val="accent1"/>
          </a:solidFill>
          <a:ln w="12700">
            <a:solidFill>
              <a:schemeClr val="accent1"/>
            </a:solidFill>
            <a:prstDash val="solid"/>
          </a:ln>
        </p:spPr>
      </p:sp>
      <p:sp>
        <p:nvSpPr>
          <p:cNvPr id="7" name="Text 4"/>
          <p:cNvSpPr txBox="1"/>
          <p:nvPr/>
        </p:nvSpPr>
        <p:spPr>
          <a:xfrm>
            <a:off x="640080"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1097280"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9" name="Text 6"/>
          <p:cNvSpPr txBox="1"/>
          <p:nvPr/>
        </p:nvSpPr>
        <p:spPr>
          <a:xfrm>
            <a:off x="1097280"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0" name="Shape 7"/>
          <p:cNvSpPr/>
          <p:nvPr/>
        </p:nvSpPr>
        <p:spPr>
          <a:xfrm>
            <a:off x="3872484" y="5074920"/>
            <a:ext cx="3186684" cy="1417320"/>
          </a:xfrm>
          <a:prstGeom prst="roundRect">
            <a:avLst>
              <a:gd name="adj" fmla="val 5161"/>
            </a:avLst>
          </a:prstGeom>
          <a:solidFill>
            <a:schemeClr val="bg2"/>
          </a:solidFill>
          <a:ln w="12700">
            <a:solidFill>
              <a:schemeClr val="bg2"/>
            </a:solidFill>
            <a:prstDash val="solid"/>
          </a:ln>
        </p:spPr>
      </p:sp>
      <p:sp>
        <p:nvSpPr>
          <p:cNvPr id="11" name="Shape 8"/>
          <p:cNvSpPr/>
          <p:nvPr/>
        </p:nvSpPr>
        <p:spPr>
          <a:xfrm>
            <a:off x="4009644" y="52120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4009644"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3" name="Text 10"/>
          <p:cNvSpPr txBox="1"/>
          <p:nvPr/>
        </p:nvSpPr>
        <p:spPr>
          <a:xfrm>
            <a:off x="4466844"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4" name="Text 11"/>
          <p:cNvSpPr txBox="1"/>
          <p:nvPr/>
        </p:nvSpPr>
        <p:spPr>
          <a:xfrm>
            <a:off x="4466844"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5" name="Shape 12"/>
          <p:cNvSpPr/>
          <p:nvPr/>
        </p:nvSpPr>
        <p:spPr>
          <a:xfrm>
            <a:off x="502920" y="6656832"/>
            <a:ext cx="3186684" cy="1417320"/>
          </a:xfrm>
          <a:prstGeom prst="roundRect">
            <a:avLst>
              <a:gd name="adj" fmla="val 5161"/>
            </a:avLst>
          </a:prstGeom>
          <a:solidFill>
            <a:schemeClr val="bg2"/>
          </a:solidFill>
          <a:ln w="12700">
            <a:solidFill>
              <a:schemeClr val="bg2"/>
            </a:solidFill>
            <a:prstDash val="solid"/>
          </a:ln>
        </p:spPr>
      </p:sp>
      <p:sp>
        <p:nvSpPr>
          <p:cNvPr id="16" name="Shape 13"/>
          <p:cNvSpPr/>
          <p:nvPr/>
        </p:nvSpPr>
        <p:spPr>
          <a:xfrm>
            <a:off x="640080" y="6793992"/>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640080"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8" name="Text 15"/>
          <p:cNvSpPr txBox="1"/>
          <p:nvPr/>
        </p:nvSpPr>
        <p:spPr>
          <a:xfrm>
            <a:off x="1097280"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19" name="Text 16"/>
          <p:cNvSpPr txBox="1"/>
          <p:nvPr/>
        </p:nvSpPr>
        <p:spPr>
          <a:xfrm>
            <a:off x="1097280"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0" name="Shape 17"/>
          <p:cNvSpPr/>
          <p:nvPr/>
        </p:nvSpPr>
        <p:spPr>
          <a:xfrm>
            <a:off x="3872484" y="6656832"/>
            <a:ext cx="3186684" cy="1417320"/>
          </a:xfrm>
          <a:prstGeom prst="roundRect">
            <a:avLst>
              <a:gd name="adj" fmla="val 5161"/>
            </a:avLst>
          </a:prstGeom>
          <a:solidFill>
            <a:schemeClr val="bg2"/>
          </a:solidFill>
          <a:ln w="12700">
            <a:solidFill>
              <a:schemeClr val="bg2"/>
            </a:solidFill>
            <a:prstDash val="solid"/>
          </a:ln>
        </p:spPr>
      </p:sp>
      <p:sp>
        <p:nvSpPr>
          <p:cNvPr id="21" name="Shape 18"/>
          <p:cNvSpPr/>
          <p:nvPr/>
        </p:nvSpPr>
        <p:spPr>
          <a:xfrm>
            <a:off x="4009644" y="6793992"/>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4009644"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3" name="Text 20"/>
          <p:cNvSpPr txBox="1"/>
          <p:nvPr/>
        </p:nvSpPr>
        <p:spPr>
          <a:xfrm>
            <a:off x="4466844"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4" name="Text 21"/>
          <p:cNvSpPr txBox="1"/>
          <p:nvPr/>
        </p:nvSpPr>
        <p:spPr>
          <a:xfrm>
            <a:off x="4466844"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5" name="Shape 22"/>
          <p:cNvSpPr/>
          <p:nvPr/>
        </p:nvSpPr>
        <p:spPr>
          <a:xfrm>
            <a:off x="502920" y="8238744"/>
            <a:ext cx="3186684" cy="1417320"/>
          </a:xfrm>
          <a:prstGeom prst="roundRect">
            <a:avLst>
              <a:gd name="adj" fmla="val 5161"/>
            </a:avLst>
          </a:prstGeom>
          <a:solidFill>
            <a:schemeClr val="bg2"/>
          </a:solidFill>
          <a:ln w="12700">
            <a:solidFill>
              <a:schemeClr val="bg2"/>
            </a:solidFill>
            <a:prstDash val="solid"/>
          </a:ln>
        </p:spPr>
      </p:sp>
      <p:sp>
        <p:nvSpPr>
          <p:cNvPr id="26" name="Shape 23"/>
          <p:cNvSpPr/>
          <p:nvPr/>
        </p:nvSpPr>
        <p:spPr>
          <a:xfrm>
            <a:off x="640080" y="8375904"/>
            <a:ext cx="365760" cy="365760"/>
          </a:xfrm>
          <a:prstGeom prst="ellipse">
            <a:avLst/>
          </a:prstGeom>
          <a:solidFill>
            <a:schemeClr val="accent1"/>
          </a:solidFill>
          <a:ln w="12700">
            <a:solidFill>
              <a:schemeClr val="accent1"/>
            </a:solidFill>
            <a:prstDash val="solid"/>
          </a:ln>
        </p:spPr>
      </p:sp>
      <p:sp>
        <p:nvSpPr>
          <p:cNvPr id="27" name="Text 24"/>
          <p:cNvSpPr txBox="1"/>
          <p:nvPr/>
        </p:nvSpPr>
        <p:spPr>
          <a:xfrm>
            <a:off x="640080"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8" name="Text 25"/>
          <p:cNvSpPr txBox="1"/>
          <p:nvPr/>
        </p:nvSpPr>
        <p:spPr>
          <a:xfrm>
            <a:off x="1097280"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29" name="Text 26"/>
          <p:cNvSpPr txBox="1"/>
          <p:nvPr/>
        </p:nvSpPr>
        <p:spPr>
          <a:xfrm>
            <a:off x="1097280"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0" name="Shape 27"/>
          <p:cNvSpPr/>
          <p:nvPr/>
        </p:nvSpPr>
        <p:spPr>
          <a:xfrm>
            <a:off x="3872484" y="8238744"/>
            <a:ext cx="3186684" cy="1417320"/>
          </a:xfrm>
          <a:prstGeom prst="roundRect">
            <a:avLst>
              <a:gd name="adj" fmla="val 5161"/>
            </a:avLst>
          </a:prstGeom>
          <a:solidFill>
            <a:schemeClr val="bg2"/>
          </a:solidFill>
          <a:ln w="12700">
            <a:solidFill>
              <a:schemeClr val="bg2"/>
            </a:solidFill>
            <a:prstDash val="solid"/>
          </a:ln>
        </p:spPr>
      </p:sp>
      <p:sp>
        <p:nvSpPr>
          <p:cNvPr id="31" name="Shape 28"/>
          <p:cNvSpPr/>
          <p:nvPr/>
        </p:nvSpPr>
        <p:spPr>
          <a:xfrm>
            <a:off x="4009644" y="8375904"/>
            <a:ext cx="365760" cy="365760"/>
          </a:xfrm>
          <a:prstGeom prst="ellipse">
            <a:avLst/>
          </a:prstGeom>
          <a:solidFill>
            <a:schemeClr val="accent1"/>
          </a:solidFill>
          <a:ln w="12700">
            <a:solidFill>
              <a:schemeClr val="accent1"/>
            </a:solidFill>
            <a:prstDash val="solid"/>
          </a:ln>
        </p:spPr>
      </p:sp>
      <p:sp>
        <p:nvSpPr>
          <p:cNvPr id="32" name="Text 29"/>
          <p:cNvSpPr txBox="1"/>
          <p:nvPr/>
        </p:nvSpPr>
        <p:spPr>
          <a:xfrm>
            <a:off x="4009644"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3" name="Text 30"/>
          <p:cNvSpPr txBox="1"/>
          <p:nvPr/>
        </p:nvSpPr>
        <p:spPr>
          <a:xfrm>
            <a:off x="4466844"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4" name="Text 31"/>
          <p:cNvSpPr txBox="1"/>
          <p:nvPr/>
        </p:nvSpPr>
        <p:spPr>
          <a:xfrm>
            <a:off x="4466844"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27.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55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958084" y="1280160"/>
            <a:ext cx="1645920" cy="164592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2026-10-10T09:50:18Z</dcterms:created>
  <dcterms:modified xsi:type="dcterms:W3CDTF">2026-10-10T09:50:18Z</dcterms:modified>
</cp:coreProperties>
</file>