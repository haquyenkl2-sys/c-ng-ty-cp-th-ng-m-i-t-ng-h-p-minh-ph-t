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2e8ac25b-04ae-7a4a-465d-5a9aee80bbab}">
          <p14:sldIdLst>
            <p14:sldId id="256"/>
            <p14:sldId id="257"/>
            <p14:sldId id="258"/>
          </p14:sldIdLst>
        </p14:section>
        <p14:section name="01 Tổng quan" id="{1a5fdbac-4f18-999f-c492-7de02233f7b4}">
          <p14:sldIdLst>
            <p14:sldId id="259"/>
            <p14:sldId id="260"/>
            <p14:sldId id="261"/>
            <p14:sldId id="262"/>
            <p14:sldId id="263"/>
          </p14:sldIdLst>
        </p14:section>
        <p14:section name="02 Điện nước công trình" id="{aade84d3-c1f4-50e8-2a3e-0386d078c779}">
          <p14:sldIdLst>
            <p14:sldId id="264"/>
            <p14:sldId id="265"/>
            <p14:sldId id="266"/>
          </p14:sldIdLst>
        </p14:section>
        <p14:section name="03 Hút sương dầu nhà xưởng" id="{8d0d0a72-32d7-9386-264c-966fa6c5a677}">
          <p14:sldIdLst>
            <p14:sldId id="267"/>
            <p14:sldId id="268"/>
            <p14:sldId id="269"/>
          </p14:sldIdLst>
        </p14:section>
        <p14:section name="04 Bơm &amp; xử lý nước" id="{191684f8-1231-5318-b79d-90e12b5ace0e}">
          <p14:sldIdLst>
            <p14:sldId id="270"/>
          </p14:sldIdLst>
        </p14:section>
        <p14:section name="05 Quản trị dự án" id="{e97ce6ce-550a-c6b4-cbea-146b30dffdba}">
          <p14:sldIdLst>
            <p14:sldId id="271"/>
            <p14:sldId id="272"/>
            <p14:sldId id="273"/>
          </p14:sldIdLst>
        </p14:section>
        <p14:section name="06 Nguồn lực" id="{abe803dd-9157-b66f-10d3-2f9d33b0c325}">
          <p14:sldIdLst>
            <p14:sldId id="274"/>
            <p14:sldId id="275"/>
          </p14:sldIdLst>
        </p14:section>
        <p14:section name="07 Công trình tiêu biểu" id="{14b75113-42e2-9d27-99de-ae994a78eca1}">
          <p14:sldIdLst>
            <p14:sldId id="276"/>
            <p14:sldId id="277"/>
            <p14:sldId id="278"/>
            <p14:sldId id="279"/>
          </p14:sldIdLst>
        </p14:section>
        <p14:section name="08 Cam kết &amp; liên hệ" id="{749a0013-182c-e872-96b9-64660d5a57ab}">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image" Target="../media/image-23-4.jpe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img56_cov.jpg" descr="Đội ngũ công nhân BLT">    </p:cNvPr>
          <p:cNvPicPr>
            <a:picLocks noChangeAspect="1"/>
          </p:cNvPicPr>
          <p:nvPr/>
        </p:nvPicPr>
        <p:blipFill>
          <a:blip r:embed="rId1"/>
          <a:stretch>
            <a:fillRect/>
          </a:stretch>
        </p:blipFill>
        <p:spPr>
          <a:xfrm>
            <a:off x="0" y="0"/>
            <a:ext cx="3749040" cy="6583680"/>
          </a:xfrm>
          <a:prstGeom prst="rect">
            <a:avLst/>
          </a:prstGeom>
        </p:spPr>
      </p:pic>
      <p:pic>
        <p:nvPicPr>
          <p:cNvPr id="3" name="cover team img45.jpg" descr="Đội ngũ công nhân BLT">    </p:cNvPr>
          <p:cNvPicPr>
            <a:picLocks noChangeAspect="1"/>
          </p:cNvPicPr>
          <p:nvPr/>
        </p:nvPicPr>
        <p:blipFill>
          <a:blip r:embed="rId2"/>
          <a:stretch>
            <a:fillRect/>
          </a:stretch>
        </p:blipFill>
        <p:spPr>
          <a:xfrm>
            <a:off x="3822192" y="0"/>
            <a:ext cx="3739896" cy="3255264"/>
          </a:xfrm>
          <a:prstGeom prst="rect">
            <a:avLst/>
          </a:prstGeom>
        </p:spPr>
      </p:pic>
      <p:pic>
        <p:nvPicPr>
          <p:cNvPr id="4" name="cover team qt_team.jpg" descr="Đội ngũ công nhân BLT">    </p:cNvPr>
          <p:cNvPicPr>
            <a:picLocks noChangeAspect="1"/>
          </p:cNvPicPr>
          <p:nvPr/>
        </p:nvPicPr>
        <p:blipFill>
          <a:blip r:embed="rId3"/>
          <a:stretch>
            <a:fillRect/>
          </a:stretch>
        </p:blipFill>
        <p:spPr>
          <a:xfrm>
            <a:off x="3822192" y="3328416"/>
            <a:ext cx="3739896" cy="3255264"/>
          </a:xfrm>
          <a:prstGeom prst="rect">
            <a:avLst/>
          </a:prstGeom>
        </p:spPr>
      </p:pic>
      <p:sp>
        <p:nvSpPr>
          <p:cNvPr id="5" name="Shape 0"/>
          <p:cNvSpPr/>
          <p:nvPr/>
        </p:nvSpPr>
        <p:spPr>
          <a:xfrm>
            <a:off x="0" y="6583680"/>
            <a:ext cx="7562088" cy="4105656"/>
          </a:xfrm>
          <a:prstGeom prst="rect">
            <a:avLst/>
          </a:prstGeom>
          <a:solidFill>
            <a:schemeClr val="tx2"/>
          </a:solidFill>
          <a:ln w="12700">
            <a:solidFill>
              <a:schemeClr val="tx2"/>
            </a:solidFill>
            <a:prstDash val="solid"/>
          </a:ln>
        </p:spPr>
      </p:sp>
      <p:pic>
        <p:nvPicPr>
          <p:cNvPr id="6" name="logo" descr="preencoded.png">    </p:cNvPr>
          <p:cNvPicPr>
            <a:picLocks noChangeAspect="1"/>
          </p:cNvPicPr>
          <p:nvPr/>
        </p:nvPicPr>
        <p:blipFill>
          <a:blip r:embed="rId4"/>
          <a:stretch>
            <a:fillRect/>
          </a:stretch>
        </p:blipFill>
        <p:spPr>
          <a:xfrm>
            <a:off x="6007608" y="7040880"/>
            <a:ext cx="1051560" cy="1051560"/>
          </a:xfrm>
          <a:prstGeom prst="rect">
            <a:avLst/>
          </a:prstGeom>
        </p:spPr>
      </p:pic>
      <p:sp>
        <p:nvSpPr>
          <p:cNvPr id="7"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8"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50 NHÂN SỰ</a:t>
            </a:r>
            <a:endParaRPr lang="en-US" sz="1400" dirty="0"/>
          </a:p>
        </p:txBody>
      </p:sp>
      <p:sp>
        <p:nvSpPr>
          <p:cNvPr id="9"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0"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1"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2"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3"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4"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5"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13.jpg" descr="Ảnh hiện trường BLT">    </p:cNvPr>
          <p:cNvPicPr>
            <a:picLocks noChangeAspect="1"/>
          </p:cNvPicPr>
          <p:nvPr/>
        </p:nvPicPr>
        <p:blipFill>
          <a:blip r:embed="rId1"/>
          <a:stretch>
            <a:fillRect/>
          </a:stretch>
        </p:blipFill>
        <p:spPr>
          <a:xfrm>
            <a:off x="0" y="0"/>
            <a:ext cx="7562088" cy="4937760"/>
          </a:xfrm>
          <a:prstGeom prst="rect">
            <a:avLst/>
          </a:prstGeom>
        </p:spPr>
      </p:pic>
      <p:sp>
        <p:nvSpPr>
          <p:cNvPr id="3" name="Text 0"/>
          <p:cNvSpPr txBox="1"/>
          <p:nvPr/>
        </p:nvSpPr>
        <p:spPr>
          <a:xfrm>
            <a:off x="502920" y="53492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5623560"/>
            <a:ext cx="6556248" cy="118872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6903720"/>
            <a:ext cx="6556248" cy="73152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786384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786384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786384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79.jpg" descr="Đội thi công BLT tại nhà xưởng gia công CNC – Hưng Nguyên, Nghệ An">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nhà xưởng gia công CNC – Hưng Nguyên, Nghệ An</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36.jpg" descr="Lắp máy lọc sương dầu – Hưng Nguyên, Nghệ An">    </p:cNvPr>
          <p:cNvPicPr>
            <a:picLocks noChangeAspect="1"/>
          </p:cNvPicPr>
          <p:nvPr/>
        </p:nvPicPr>
        <p:blipFill>
          <a:blip r:embed="rId1"/>
          <a:stretch>
            <a:fillRect/>
          </a:stretch>
        </p:blipFill>
        <p:spPr>
          <a:xfrm>
            <a:off x="502920" y="4526280"/>
            <a:ext cx="3200400" cy="2377440"/>
          </a:xfrm>
          <a:prstGeom prst="rect">
            <a:avLst/>
          </a:prstGeom>
        </p:spPr>
      </p:pic>
      <p:sp>
        <p:nvSpPr>
          <p:cNvPr id="23" name="Text 20"/>
          <p:cNvSpPr txBox="1"/>
          <p:nvPr/>
        </p:nvSpPr>
        <p:spPr>
          <a:xfrm>
            <a:off x="502920"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 Hưng Nguyên, Nghệ An</a:t>
            </a:r>
            <a:endParaRPr lang="en-US" sz="800" dirty="0"/>
          </a:p>
        </p:txBody>
      </p:sp>
      <p:pic>
        <p:nvPicPr>
          <p:cNvPr id="24" name="photo img74.jpg" descr="Lắp giá đỡ thép trên xe nâng người – Hưng Nguyên, Nghệ An">    </p:cNvPr>
          <p:cNvPicPr>
            <a:picLocks noChangeAspect="1"/>
          </p:cNvPicPr>
          <p:nvPr/>
        </p:nvPicPr>
        <p:blipFill>
          <a:blip r:embed="rId2"/>
          <a:stretch>
            <a:fillRect/>
          </a:stretch>
        </p:blipFill>
        <p:spPr>
          <a:xfrm>
            <a:off x="3858768" y="4526280"/>
            <a:ext cx="3200400" cy="2377440"/>
          </a:xfrm>
          <a:prstGeom prst="rect">
            <a:avLst/>
          </a:prstGeom>
        </p:spPr>
      </p:pic>
      <p:sp>
        <p:nvSpPr>
          <p:cNvPr id="25" name="Text 21"/>
          <p:cNvSpPr txBox="1"/>
          <p:nvPr/>
        </p:nvSpPr>
        <p:spPr>
          <a:xfrm>
            <a:off x="3858768"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thép trên xe nâng người – Hưng Nguyên, Nghệ An</a:t>
            </a:r>
            <a:endParaRPr lang="en-US" sz="800" dirty="0"/>
          </a:p>
        </p:txBody>
      </p:sp>
      <p:sp>
        <p:nvSpPr>
          <p:cNvPr id="26" name="Text 22"/>
          <p:cNvSpPr txBox="1"/>
          <p:nvPr/>
        </p:nvSpPr>
        <p:spPr>
          <a:xfrm>
            <a:off x="502920"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7" name="Text 23"/>
          <p:cNvSpPr txBox="1"/>
          <p:nvPr/>
        </p:nvSpPr>
        <p:spPr>
          <a:xfrm>
            <a:off x="502920"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8" name="Text 24"/>
          <p:cNvSpPr txBox="1"/>
          <p:nvPr/>
        </p:nvSpPr>
        <p:spPr>
          <a:xfrm>
            <a:off x="3858768"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9" name="Text 25"/>
          <p:cNvSpPr txBox="1"/>
          <p:nvPr/>
        </p:nvSpPr>
        <p:spPr>
          <a:xfrm>
            <a:off x="3858768"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2.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15.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render_nha.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img08.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2926080"/>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2926080"/>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4.jpg" descr="Thi công trên trần bằng xe nâng người">    </p:cNvPr>
          <p:cNvPicPr>
            <a:picLocks noChangeAspect="1"/>
          </p:cNvPicPr>
          <p:nvPr/>
        </p:nvPicPr>
        <p:blipFill>
          <a:blip r:embed="rId1"/>
          <a:stretch>
            <a:fillRect/>
          </a:stretch>
        </p:blipFill>
        <p:spPr>
          <a:xfrm>
            <a:off x="502920" y="1463040"/>
            <a:ext cx="3186684" cy="2514600"/>
          </a:xfrm>
          <a:prstGeom prst="rect">
            <a:avLst/>
          </a:prstGeom>
        </p:spPr>
      </p:pic>
      <p:sp>
        <p:nvSpPr>
          <p:cNvPr id="5" name="Text 2"/>
          <p:cNvSpPr txBox="1"/>
          <p:nvPr/>
        </p:nvSpPr>
        <p:spPr>
          <a:xfrm>
            <a:off x="502920" y="401421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6" name="photo img10.jpg" descr="Gia công ống luồn dây tại hiện trường">    </p:cNvPr>
          <p:cNvPicPr>
            <a:picLocks noChangeAspect="1"/>
          </p:cNvPicPr>
          <p:nvPr/>
        </p:nvPicPr>
        <p:blipFill>
          <a:blip r:embed="rId2"/>
          <a:stretch>
            <a:fillRect/>
          </a:stretch>
        </p:blipFill>
        <p:spPr>
          <a:xfrm>
            <a:off x="3872484" y="1463040"/>
            <a:ext cx="3186684" cy="2514600"/>
          </a:xfrm>
          <a:prstGeom prst="rect">
            <a:avLst/>
          </a:prstGeom>
        </p:spPr>
      </p:pic>
      <p:sp>
        <p:nvSpPr>
          <p:cNvPr id="7" name="Text 3"/>
          <p:cNvSpPr txBox="1"/>
          <p:nvPr/>
        </p:nvSpPr>
        <p:spPr>
          <a:xfrm>
            <a:off x="3872484" y="401421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a:t>
            </a:r>
            <a:endParaRPr lang="en-US" sz="800" dirty="0"/>
          </a:p>
        </p:txBody>
      </p:sp>
      <p:pic>
        <p:nvPicPr>
          <p:cNvPr id="8" name="photo img03.jpg" descr="Đi ống luồn dây dưới sàn – Hà Nam, Ninh Bình">    </p:cNvPr>
          <p:cNvPicPr>
            <a:picLocks noChangeAspect="1"/>
          </p:cNvPicPr>
          <p:nvPr/>
        </p:nvPicPr>
        <p:blipFill>
          <a:blip r:embed="rId3"/>
          <a:stretch>
            <a:fillRect/>
          </a:stretch>
        </p:blipFill>
        <p:spPr>
          <a:xfrm>
            <a:off x="502920" y="4297680"/>
            <a:ext cx="3186684" cy="2514600"/>
          </a:xfrm>
          <a:prstGeom prst="rect">
            <a:avLst/>
          </a:prstGeom>
        </p:spPr>
      </p:pic>
      <p:sp>
        <p:nvSpPr>
          <p:cNvPr id="9" name="Text 4"/>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 – Hà Nam, Ninh Bình</a:t>
            </a:r>
            <a:endParaRPr lang="en-US" sz="800" dirty="0"/>
          </a:p>
        </p:txBody>
      </p:sp>
      <p:pic>
        <p:nvPicPr>
          <p:cNvPr id="10" name="photo img20.jpg" descr="Lắp giá đỡ, tuyến ống trên cao – Hà Nam, Ninh Bình">    </p:cNvPr>
          <p:cNvPicPr>
            <a:picLocks noChangeAspect="1"/>
          </p:cNvPicPr>
          <p:nvPr/>
        </p:nvPicPr>
        <p:blipFill>
          <a:blip r:embed="rId4"/>
          <a:stretch>
            <a:fillRect/>
          </a:stretch>
        </p:blipFill>
        <p:spPr>
          <a:xfrm>
            <a:off x="3872484" y="4297680"/>
            <a:ext cx="3186684" cy="2514600"/>
          </a:xfrm>
          <a:prstGeom prst="rect">
            <a:avLst/>
          </a:prstGeom>
        </p:spPr>
      </p:pic>
      <p:sp>
        <p:nvSpPr>
          <p:cNvPr id="11" name="Text 5"/>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 – Hà Nam, Ninh Bình</a:t>
            </a:r>
            <a:endParaRPr lang="en-US" sz="800" dirty="0"/>
          </a:p>
        </p:txBody>
      </p:sp>
      <p:sp>
        <p:nvSpPr>
          <p:cNvPr id="12" name="Text 6"/>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3" name="Shape 7"/>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4" name="Text 8"/>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5" name="Text 9"/>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6" name="Shape 10"/>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7" name="Text 11"/>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38.jpg" descr="Khung đỡ và tuyến ống công nghệ trạm xử lý nước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Khung đỡ và tuyến ống công nghệ trạm xử lý nước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50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48.jpg" descr="Lắp bơm định lượng hóa chất">    </p:cNvPr>
          <p:cNvPicPr>
            <a:picLocks noChangeAspect="1"/>
          </p:cNvPicPr>
          <p:nvPr/>
        </p:nvPicPr>
        <p:blipFill>
          <a:blip r:embed="rId1"/>
          <a:stretch>
            <a:fillRect/>
          </a:stretch>
        </p:blipFill>
        <p:spPr>
          <a:xfrm>
            <a:off x="502920" y="3200400"/>
            <a:ext cx="3186684" cy="2743200"/>
          </a:xfrm>
          <a:prstGeom prst="rect">
            <a:avLst/>
          </a:prstGeom>
        </p:spPr>
      </p:pic>
      <p:sp>
        <p:nvSpPr>
          <p:cNvPr id="6" name="Text 2"/>
          <p:cNvSpPr txBox="1"/>
          <p:nvPr/>
        </p:nvSpPr>
        <p:spPr>
          <a:xfrm>
            <a:off x="502920"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7" name="photo img16.jpg" descr="Lắp đặt cụm bơm, van và đồng hồ áp">    </p:cNvPr>
          <p:cNvPicPr>
            <a:picLocks noChangeAspect="1"/>
          </p:cNvPicPr>
          <p:nvPr/>
        </p:nvPicPr>
        <p:blipFill>
          <a:blip r:embed="rId2"/>
          <a:stretch>
            <a:fillRect/>
          </a:stretch>
        </p:blipFill>
        <p:spPr>
          <a:xfrm>
            <a:off x="3872484" y="3200400"/>
            <a:ext cx="3186684" cy="2743200"/>
          </a:xfrm>
          <a:prstGeom prst="rect">
            <a:avLst/>
          </a:prstGeom>
        </p:spPr>
      </p:pic>
      <p:sp>
        <p:nvSpPr>
          <p:cNvPr id="8" name="Text 3"/>
          <p:cNvSpPr txBox="1"/>
          <p:nvPr/>
        </p:nvSpPr>
        <p:spPr>
          <a:xfrm>
            <a:off x="3872484"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502920" y="6309360"/>
            <a:ext cx="3186684" cy="329184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pic>
        <p:nvPicPr>
          <p:cNvPr id="11" name="photo img60.jpg" descr="Bồn hóa chất, máy khuấy và hệ màng UF/RO">    </p:cNvPr>
          <p:cNvPicPr>
            <a:picLocks noChangeAspect="1"/>
          </p:cNvPicPr>
          <p:nvPr/>
        </p:nvPicPr>
        <p:blipFill>
          <a:blip r:embed="rId4"/>
          <a:stretch>
            <a:fillRect/>
          </a:stretch>
        </p:blipFill>
        <p:spPr>
          <a:xfrm>
            <a:off x="3872484" y="6309360"/>
            <a:ext cx="3186684" cy="329184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và hệ màng UF/RO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45720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91440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91440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91440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1206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5394960"/>
            <a:ext cx="2063496" cy="2377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685800" y="5559552"/>
            <a:ext cx="411480" cy="411480"/>
          </a:xfrm>
          <a:prstGeom prst="ellipse">
            <a:avLst/>
          </a:prstGeom>
          <a:solidFill>
            <a:schemeClr val="accent1"/>
          </a:solidFill>
          <a:ln w="12700">
            <a:solidFill>
              <a:schemeClr val="accent1"/>
            </a:solidFill>
            <a:prstDash val="solid"/>
          </a:ln>
        </p:spPr>
      </p:sp>
      <p:sp>
        <p:nvSpPr>
          <p:cNvPr id="8" name="Text 5"/>
          <p:cNvSpPr txBox="1"/>
          <p:nvPr/>
        </p:nvSpPr>
        <p:spPr>
          <a:xfrm>
            <a:off x="685800" y="5559552"/>
            <a:ext cx="411480" cy="41148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6"/>
          <p:cNvSpPr txBox="1"/>
          <p:nvPr/>
        </p:nvSpPr>
        <p:spPr>
          <a:xfrm>
            <a:off x="685800" y="6080760"/>
            <a:ext cx="1697736"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NGHỆ AN</a:t>
            </a:r>
            <a:endParaRPr lang="en-US" sz="1600" dirty="0"/>
          </a:p>
        </p:txBody>
      </p:sp>
      <p:sp>
        <p:nvSpPr>
          <p:cNvPr id="10" name="Text 7"/>
          <p:cNvSpPr txBox="1"/>
          <p:nvPr/>
        </p:nvSpPr>
        <p:spPr>
          <a:xfrm>
            <a:off x="685800" y="6492240"/>
            <a:ext cx="1697736" cy="457200"/>
          </a:xfrm>
          <a:prstGeom prst="rect">
            <a:avLst/>
          </a:prstGeom>
          <a:noFill/>
          <a:ln/>
        </p:spPr>
        <p:txBody>
          <a:bodyPr wrap="square" lIns="0" tIns="0" rIns="0" bIns="0" rtlCol="0" anchor="t"/>
          <a:lstStyle/>
          <a:p>
            <a:pPr indent="0" marL="0">
              <a:buNone/>
            </a:pPr>
            <a:r>
              <a:rPr lang="en-US" sz="1050" b="1" dirty="0">
                <a:solidFill>
                  <a:schemeClr val="bg1"/>
                </a:solidFill>
              </a:rPr>
              <a:t>Nhà xưởng gia công CNC</a:t>
            </a:r>
            <a:endParaRPr lang="en-US" sz="1050" dirty="0"/>
          </a:p>
        </p:txBody>
      </p:sp>
      <p:sp>
        <p:nvSpPr>
          <p:cNvPr id="11" name="Text 8"/>
          <p:cNvSpPr txBox="1"/>
          <p:nvPr/>
        </p:nvSpPr>
        <p:spPr>
          <a:xfrm>
            <a:off x="685800" y="6949440"/>
            <a:ext cx="1697736" cy="411480"/>
          </a:xfrm>
          <a:prstGeom prst="rect">
            <a:avLst/>
          </a:prstGeom>
          <a:noFill/>
          <a:ln/>
        </p:spPr>
        <p:txBody>
          <a:bodyPr wrap="square" lIns="0" tIns="0" rIns="0" bIns="0" rtlCol="0" anchor="t"/>
          <a:lstStyle/>
          <a:p>
            <a:pPr indent="0" marL="0">
              <a:buNone/>
            </a:pPr>
            <a:r>
              <a:rPr lang="en-US" sz="900" dirty="0">
                <a:solidFill>
                  <a:schemeClr val="accent4"/>
                </a:solidFill>
              </a:rPr>
              <a:t>Hút sương dầu, máy lọc, điện</a:t>
            </a:r>
            <a:endParaRPr lang="en-US" sz="900" dirty="0"/>
          </a:p>
        </p:txBody>
      </p:sp>
      <p:sp>
        <p:nvSpPr>
          <p:cNvPr id="12" name="Text 9"/>
          <p:cNvSpPr txBox="1"/>
          <p:nvPr/>
        </p:nvSpPr>
        <p:spPr>
          <a:xfrm>
            <a:off x="685800" y="7388352"/>
            <a:ext cx="1697736" cy="256032"/>
          </a:xfrm>
          <a:prstGeom prst="rect">
            <a:avLst/>
          </a:prstGeom>
          <a:noFill/>
          <a:ln/>
        </p:spPr>
        <p:txBody>
          <a:bodyPr wrap="square" lIns="0" tIns="0" rIns="0" bIns="0" rtlCol="0" anchor="ctr"/>
          <a:lstStyle/>
          <a:p>
            <a:pPr indent="0" marL="0">
              <a:buNone/>
            </a:pPr>
            <a:r>
              <a:rPr lang="en-US" sz="900" b="1" dirty="0">
                <a:solidFill>
                  <a:schemeClr val="accent6"/>
                </a:solidFill>
              </a:rPr>
              <a:t>09–10/2026</a:t>
            </a:r>
            <a:endParaRPr lang="en-US" sz="900" dirty="0"/>
          </a:p>
        </p:txBody>
      </p:sp>
      <p:sp>
        <p:nvSpPr>
          <p:cNvPr id="13" name="Shape 10"/>
          <p:cNvSpPr/>
          <p:nvPr/>
        </p:nvSpPr>
        <p:spPr>
          <a:xfrm>
            <a:off x="2749296" y="5394960"/>
            <a:ext cx="2063496" cy="2377440"/>
          </a:xfrm>
          <a:prstGeom prst="roundRect">
            <a:avLst>
              <a:gd name="adj" fmla="val 3545"/>
            </a:avLst>
          </a:prstGeom>
          <a:solidFill>
            <a:schemeClr val="tx2"/>
          </a:solidFill>
          <a:ln w="12700">
            <a:solidFill>
              <a:schemeClr val="tx2"/>
            </a:solidFill>
            <a:prstDash val="solid"/>
          </a:ln>
        </p:spPr>
      </p:sp>
      <p:sp>
        <p:nvSpPr>
          <p:cNvPr id="14" name="Shape 11"/>
          <p:cNvSpPr/>
          <p:nvPr/>
        </p:nvSpPr>
        <p:spPr>
          <a:xfrm>
            <a:off x="2932176" y="5559552"/>
            <a:ext cx="411480" cy="411480"/>
          </a:xfrm>
          <a:prstGeom prst="ellipse">
            <a:avLst/>
          </a:prstGeom>
          <a:solidFill>
            <a:schemeClr val="accent1"/>
          </a:solidFill>
          <a:ln w="12700">
            <a:solidFill>
              <a:schemeClr val="accent1"/>
            </a:solidFill>
            <a:prstDash val="solid"/>
          </a:ln>
        </p:spPr>
      </p:sp>
      <p:sp>
        <p:nvSpPr>
          <p:cNvPr id="15" name="Text 12"/>
          <p:cNvSpPr txBox="1"/>
          <p:nvPr/>
        </p:nvSpPr>
        <p:spPr>
          <a:xfrm>
            <a:off x="2932176" y="5559552"/>
            <a:ext cx="411480" cy="41148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3"/>
          <p:cNvSpPr txBox="1"/>
          <p:nvPr/>
        </p:nvSpPr>
        <p:spPr>
          <a:xfrm>
            <a:off x="2932176" y="6080760"/>
            <a:ext cx="1697736"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NINH BÌNH</a:t>
            </a:r>
            <a:endParaRPr lang="en-US" sz="1600" dirty="0"/>
          </a:p>
        </p:txBody>
      </p:sp>
      <p:sp>
        <p:nvSpPr>
          <p:cNvPr id="17" name="Text 14"/>
          <p:cNvSpPr txBox="1"/>
          <p:nvPr/>
        </p:nvSpPr>
        <p:spPr>
          <a:xfrm>
            <a:off x="2932176" y="6492240"/>
            <a:ext cx="1697736" cy="457200"/>
          </a:xfrm>
          <a:prstGeom prst="rect">
            <a:avLst/>
          </a:prstGeom>
          <a:noFill/>
          <a:ln/>
        </p:spPr>
        <p:txBody>
          <a:bodyPr wrap="square" lIns="0" tIns="0" rIns="0" bIns="0" rtlCol="0" anchor="t"/>
          <a:lstStyle/>
          <a:p>
            <a:pPr indent="0" marL="0">
              <a:buNone/>
            </a:pPr>
            <a:r>
              <a:rPr lang="en-US" sz="1050" b="1" dirty="0">
                <a:solidFill>
                  <a:schemeClr val="bg1"/>
                </a:solidFill>
              </a:rPr>
              <a:t>Công trình nhiều tầng</a:t>
            </a:r>
            <a:endParaRPr lang="en-US" sz="1050" dirty="0"/>
          </a:p>
        </p:txBody>
      </p:sp>
      <p:sp>
        <p:nvSpPr>
          <p:cNvPr id="18" name="Text 15"/>
          <p:cNvSpPr txBox="1"/>
          <p:nvPr/>
        </p:nvSpPr>
        <p:spPr>
          <a:xfrm>
            <a:off x="2932176" y="6949440"/>
            <a:ext cx="1697736" cy="411480"/>
          </a:xfrm>
          <a:prstGeom prst="rect">
            <a:avLst/>
          </a:prstGeom>
          <a:noFill/>
          <a:ln/>
        </p:spPr>
        <p:txBody>
          <a:bodyPr wrap="square" lIns="0" tIns="0" rIns="0" bIns="0" rtlCol="0" anchor="t"/>
          <a:lstStyle/>
          <a:p>
            <a:pPr indent="0" marL="0">
              <a:buNone/>
            </a:pPr>
            <a:r>
              <a:rPr lang="en-US" sz="900" dirty="0">
                <a:solidFill>
                  <a:schemeClr val="accent4"/>
                </a:solidFill>
              </a:rPr>
              <a:t>Điện, cấp thoát nước</a:t>
            </a:r>
            <a:endParaRPr lang="en-US" sz="900" dirty="0"/>
          </a:p>
        </p:txBody>
      </p:sp>
      <p:sp>
        <p:nvSpPr>
          <p:cNvPr id="19" name="Text 16"/>
          <p:cNvSpPr txBox="1"/>
          <p:nvPr/>
        </p:nvSpPr>
        <p:spPr>
          <a:xfrm>
            <a:off x="2932176" y="7388352"/>
            <a:ext cx="1697736" cy="256032"/>
          </a:xfrm>
          <a:prstGeom prst="rect">
            <a:avLst/>
          </a:prstGeom>
          <a:noFill/>
          <a:ln/>
        </p:spPr>
        <p:txBody>
          <a:bodyPr wrap="square" lIns="0" tIns="0" rIns="0" bIns="0" rtlCol="0" anchor="ctr"/>
          <a:lstStyle/>
          <a:p>
            <a:pPr indent="0" marL="0">
              <a:buNone/>
            </a:pPr>
            <a:r>
              <a:rPr lang="en-US" sz="900" b="1" dirty="0">
                <a:solidFill>
                  <a:schemeClr val="accent6"/>
                </a:solidFill>
              </a:rPr>
              <a:t>09/2026</a:t>
            </a:r>
            <a:endParaRPr lang="en-US" sz="900" dirty="0"/>
          </a:p>
        </p:txBody>
      </p:sp>
      <p:sp>
        <p:nvSpPr>
          <p:cNvPr id="20" name="Shape 17"/>
          <p:cNvSpPr/>
          <p:nvPr/>
        </p:nvSpPr>
        <p:spPr>
          <a:xfrm>
            <a:off x="4995672" y="5394960"/>
            <a:ext cx="2063496" cy="2377440"/>
          </a:xfrm>
          <a:prstGeom prst="roundRect">
            <a:avLst>
              <a:gd name="adj" fmla="val 3545"/>
            </a:avLst>
          </a:prstGeom>
          <a:solidFill>
            <a:schemeClr val="tx2"/>
          </a:solidFill>
          <a:ln w="12700">
            <a:solidFill>
              <a:schemeClr val="tx2"/>
            </a:solidFill>
            <a:prstDash val="solid"/>
          </a:ln>
        </p:spPr>
      </p:sp>
      <p:sp>
        <p:nvSpPr>
          <p:cNvPr id="21" name="Shape 18"/>
          <p:cNvSpPr/>
          <p:nvPr/>
        </p:nvSpPr>
        <p:spPr>
          <a:xfrm>
            <a:off x="5178552" y="5559552"/>
            <a:ext cx="411480" cy="411480"/>
          </a:xfrm>
          <a:prstGeom prst="ellipse">
            <a:avLst/>
          </a:prstGeom>
          <a:solidFill>
            <a:schemeClr val="accent1"/>
          </a:solidFill>
          <a:ln w="12700">
            <a:solidFill>
              <a:schemeClr val="accent1"/>
            </a:solidFill>
            <a:prstDash val="solid"/>
          </a:ln>
        </p:spPr>
      </p:sp>
      <p:sp>
        <p:nvSpPr>
          <p:cNvPr id="22" name="Text 19"/>
          <p:cNvSpPr txBox="1"/>
          <p:nvPr/>
        </p:nvSpPr>
        <p:spPr>
          <a:xfrm>
            <a:off x="5178552" y="5559552"/>
            <a:ext cx="411480" cy="41148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20"/>
          <p:cNvSpPr txBox="1"/>
          <p:nvPr/>
        </p:nvSpPr>
        <p:spPr>
          <a:xfrm>
            <a:off x="5178552" y="6080760"/>
            <a:ext cx="1697736"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TP. HUẾ</a:t>
            </a:r>
            <a:endParaRPr lang="en-US" sz="1600" dirty="0"/>
          </a:p>
        </p:txBody>
      </p:sp>
      <p:sp>
        <p:nvSpPr>
          <p:cNvPr id="24" name="Text 21"/>
          <p:cNvSpPr txBox="1"/>
          <p:nvPr/>
        </p:nvSpPr>
        <p:spPr>
          <a:xfrm>
            <a:off x="5178552" y="6492240"/>
            <a:ext cx="1697736" cy="457200"/>
          </a:xfrm>
          <a:prstGeom prst="rect">
            <a:avLst/>
          </a:prstGeom>
          <a:noFill/>
          <a:ln/>
        </p:spPr>
        <p:txBody>
          <a:bodyPr wrap="square" lIns="0" tIns="0" rIns="0" bIns="0" rtlCol="0" anchor="t"/>
          <a:lstStyle/>
          <a:p>
            <a:pPr indent="0" marL="0">
              <a:buNone/>
            </a:pPr>
            <a:r>
              <a:rPr lang="en-US" sz="1050" b="1" dirty="0">
                <a:solidFill>
                  <a:schemeClr val="bg1"/>
                </a:solidFill>
              </a:rPr>
              <a:t>Trạm xử lý nước UF/RO</a:t>
            </a:r>
            <a:endParaRPr lang="en-US" sz="1050" dirty="0"/>
          </a:p>
        </p:txBody>
      </p:sp>
      <p:sp>
        <p:nvSpPr>
          <p:cNvPr id="25" name="Text 22"/>
          <p:cNvSpPr txBox="1"/>
          <p:nvPr/>
        </p:nvSpPr>
        <p:spPr>
          <a:xfrm>
            <a:off x="5178552" y="6949440"/>
            <a:ext cx="1697736" cy="411480"/>
          </a:xfrm>
          <a:prstGeom prst="rect">
            <a:avLst/>
          </a:prstGeom>
          <a:noFill/>
          <a:ln/>
        </p:spPr>
        <p:txBody>
          <a:bodyPr wrap="square" lIns="0" tIns="0" rIns="0" bIns="0" rtlCol="0" anchor="t"/>
          <a:lstStyle/>
          <a:p>
            <a:pPr indent="0" marL="0">
              <a:buNone/>
            </a:pPr>
            <a:r>
              <a:rPr lang="en-US" sz="900" dirty="0">
                <a:solidFill>
                  <a:schemeClr val="accent4"/>
                </a:solidFill>
              </a:rPr>
              <a:t>Bơm, bồn lọc, ống công nghệ</a:t>
            </a:r>
            <a:endParaRPr lang="en-US" sz="900" dirty="0"/>
          </a:p>
        </p:txBody>
      </p:sp>
      <p:sp>
        <p:nvSpPr>
          <p:cNvPr id="26" name="Text 23"/>
          <p:cNvSpPr txBox="1"/>
          <p:nvPr/>
        </p:nvSpPr>
        <p:spPr>
          <a:xfrm>
            <a:off x="5178552" y="7388352"/>
            <a:ext cx="1697736" cy="256032"/>
          </a:xfrm>
          <a:prstGeom prst="rect">
            <a:avLst/>
          </a:prstGeom>
          <a:noFill/>
          <a:ln/>
        </p:spPr>
        <p:txBody>
          <a:bodyPr wrap="square" lIns="0" tIns="0" rIns="0" bIns="0" rtlCol="0" anchor="ctr"/>
          <a:lstStyle/>
          <a:p>
            <a:pPr indent="0" marL="0">
              <a:buNone/>
            </a:pPr>
            <a:r>
              <a:rPr lang="en-US" sz="900" b="1" dirty="0">
                <a:solidFill>
                  <a:schemeClr val="accent6"/>
                </a:solidFill>
              </a:rPr>
              <a:t>09/2026</a:t>
            </a:r>
            <a:endParaRPr lang="en-US" sz="900" dirty="0"/>
          </a:p>
        </p:txBody>
      </p:sp>
      <p:sp>
        <p:nvSpPr>
          <p:cNvPr id="27" name="Shape 24"/>
          <p:cNvSpPr/>
          <p:nvPr/>
        </p:nvSpPr>
        <p:spPr>
          <a:xfrm>
            <a:off x="502920" y="8229600"/>
            <a:ext cx="6556248" cy="1508760"/>
          </a:xfrm>
          <a:prstGeom prst="roundRect">
            <a:avLst>
              <a:gd name="adj" fmla="val 4848"/>
            </a:avLst>
          </a:prstGeom>
          <a:solidFill>
            <a:schemeClr val="bg2"/>
          </a:solidFill>
          <a:ln w="12700">
            <a:solidFill>
              <a:schemeClr val="bg2"/>
            </a:solidFill>
            <a:prstDash val="solid"/>
          </a:ln>
        </p:spPr>
      </p:sp>
      <p:sp>
        <p:nvSpPr>
          <p:cNvPr id="28" name="Text 25"/>
          <p:cNvSpPr txBox="1"/>
          <p:nvPr/>
        </p:nvSpPr>
        <p:spPr>
          <a:xfrm>
            <a:off x="685800" y="8339328"/>
            <a:ext cx="619048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HỒ SƠ CUNG CẤP KHI CÓ YÊU CẦU</a:t>
            </a:r>
            <a:endParaRPr lang="en-US" sz="900" dirty="0"/>
          </a:p>
        </p:txBody>
      </p:sp>
      <p:sp>
        <p:nvSpPr>
          <p:cNvPr id="29" name="Text 26"/>
          <p:cNvSpPr txBox="1"/>
          <p:nvPr/>
        </p:nvSpPr>
        <p:spPr>
          <a:xfrm>
            <a:off x="685800" y="8613648"/>
            <a:ext cx="6190488" cy="10515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Hợp đồng, biên bản nghiệm thu, thanh lý hợp đồng của các công trình</a:t>
            </a:r>
            <a:endParaRPr lang="en-US" sz="950" dirty="0"/>
          </a:p>
          <a:p>
            <a:pPr marL="152400" indent="-152400">
              <a:spcAft>
                <a:spcPts val="400"/>
              </a:spcAft>
              <a:buSzPct val="100000"/>
              <a:buChar char="•"/>
            </a:pPr>
            <a:r>
              <a:rPr lang="en-US" sz="950" dirty="0">
                <a:solidFill>
                  <a:schemeClr val="tx1"/>
                </a:solidFill>
              </a:rPr>
              <a:t>Thông tin chủ đầu tư, tổng thầu để Quý khách tham khảo, xác minh</a:t>
            </a:r>
            <a:endParaRPr lang="en-US" sz="950" dirty="0"/>
          </a:p>
          <a:p>
            <a:pPr marL="152400" indent="-152400">
              <a:spcAft>
                <a:spcPts val="400"/>
              </a:spcAft>
              <a:buSzPct val="100000"/>
              <a:buChar char="•"/>
            </a:pPr>
            <a:r>
              <a:rPr lang="en-US" sz="950" dirty="0">
                <a:solidFill>
                  <a:schemeClr val="tx1"/>
                </a:solidFill>
              </a:rPr>
              <a:t>Giấy chứng nhận đăng ký doanh nghiệp, chứng chỉ an toàn lao động của nhân sự</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2775204" y="1371600"/>
            <a:ext cx="2011680" cy="2011680"/>
          </a:xfrm>
          <a:prstGeom prst="rect">
            <a:avLst/>
          </a:prstGeom>
        </p:spPr>
      </p:pic>
      <p:sp>
        <p:nvSpPr>
          <p:cNvPr id="3" name="Text 0"/>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4" name="Text 1"/>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5" name="Text 2"/>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6" name="Text 3"/>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7" name="Text 4"/>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8" name="Text 5"/>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9" name="Text 6"/>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0" name="Text 7"/>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1" name="Text 8"/>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2" name="Text 9"/>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3" name="Text 10"/>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4" name="Text 11"/>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5" name="Text 12"/>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6" name="Text 13"/>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7" name="Text 14"/>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18" name="Text 15"/>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2026-10-10T10:20:12Z</dcterms:created>
  <dcterms:modified xsi:type="dcterms:W3CDTF">2026-10-10T10:20:12Z</dcterms:modified>
</cp:coreProperties>
</file>